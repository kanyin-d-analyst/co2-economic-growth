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1.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3"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lgn="ctr" rtl="0">
              <a:defRPr lang="en-US" sz="1800" b="0" i="0" u="none" strike="noStrike" kern="1200" baseline="0">
                <a:solidFill>
                  <a:srgbClr val="FFC000"/>
                </a:solidFill>
                <a:latin typeface="Arial"/>
                <a:ea typeface="+mn-ea"/>
                <a:cs typeface="+mn-cs"/>
              </a:defRPr>
            </a:pPr>
            <a:r>
              <a:rPr lang="en-US" sz="1800" b="0" i="0" u="none" strike="noStrike" kern="1200" baseline="0" dirty="0">
                <a:solidFill>
                  <a:srgbClr val="FFC000"/>
                </a:solidFill>
                <a:latin typeface="Arial"/>
                <a:ea typeface="+mn-ea"/>
                <a:cs typeface="+mn-cs"/>
              </a:rPr>
              <a:t>Avg CO2 Emissions (Million Tonnes)</a:t>
            </a:r>
          </a:p>
        </c:rich>
      </c:tx>
      <c:overlay val="0"/>
    </c:title>
    <c:autoTitleDeleted val="0"/>
    <c:plotArea>
      <c:layout/>
      <c:lineChart>
        <c:grouping val="standard"/>
        <c:varyColors val="0"/>
        <c:ser>
          <c:idx val="0"/>
          <c:order val="0"/>
          <c:tx>
            <c:strRef>
              <c:f>Sheet1!$B$1</c:f>
              <c:strCache>
                <c:ptCount val="1"/>
                <c:pt idx="0">
                  <c:v>Avg CO2 (Mt)</c:v>
                </c:pt>
              </c:strCache>
            </c:strRef>
          </c:tx>
          <c:spPr>
            <a:ln w="38100" cap="flat">
              <a:solidFill>
                <a:srgbClr val="C1440E"/>
              </a:solidFill>
              <a:prstDash val="solid"/>
              <a:round/>
            </a:ln>
            <a:effectLst/>
          </c:spPr>
          <c:marker>
            <c:symbol val="circle"/>
            <c:size val="6"/>
            <c:spPr>
              <a:solidFill>
                <a:srgbClr val="C1440E"/>
              </a:solidFill>
              <a:ln w="9525" cap="flat">
                <a:solidFill>
                  <a:srgbClr val="C1440E"/>
                </a:solidFill>
                <a:prstDash val="solid"/>
                <a:round/>
              </a:ln>
              <a:effectLst/>
            </c:spPr>
          </c:marker>
          <c:cat>
            <c:strRef>
              <c:f>Sheet1!$A$2:$A$14</c:f>
              <c:strCache>
                <c:ptCount val="13"/>
                <c:pt idx="0">
                  <c:v>2000</c:v>
                </c:pt>
                <c:pt idx="1">
                  <c:v>2002</c:v>
                </c:pt>
                <c:pt idx="2">
                  <c:v>2004</c:v>
                </c:pt>
                <c:pt idx="3">
                  <c:v>2006</c:v>
                </c:pt>
                <c:pt idx="4">
                  <c:v>2008</c:v>
                </c:pt>
                <c:pt idx="5">
                  <c:v>2010</c:v>
                </c:pt>
                <c:pt idx="6">
                  <c:v>2012</c:v>
                </c:pt>
                <c:pt idx="7">
                  <c:v>2014</c:v>
                </c:pt>
                <c:pt idx="8">
                  <c:v>2016</c:v>
                </c:pt>
                <c:pt idx="9">
                  <c:v>2018</c:v>
                </c:pt>
                <c:pt idx="10">
                  <c:v>2020</c:v>
                </c:pt>
                <c:pt idx="11">
                  <c:v>2022</c:v>
                </c:pt>
                <c:pt idx="12">
                  <c:v>2023</c:v>
                </c:pt>
              </c:strCache>
            </c:strRef>
          </c:cat>
          <c:val>
            <c:numRef>
              <c:f>Sheet1!$B$2:$B$14</c:f>
              <c:numCache>
                <c:formatCode>General</c:formatCode>
                <c:ptCount val="13"/>
                <c:pt idx="0">
                  <c:v>17.75</c:v>
                </c:pt>
                <c:pt idx="1">
                  <c:v>17.14</c:v>
                </c:pt>
                <c:pt idx="2">
                  <c:v>19.95</c:v>
                </c:pt>
                <c:pt idx="3">
                  <c:v>20.83</c:v>
                </c:pt>
                <c:pt idx="4">
                  <c:v>22.44</c:v>
                </c:pt>
                <c:pt idx="5">
                  <c:v>14.64</c:v>
                </c:pt>
                <c:pt idx="6">
                  <c:v>24.22</c:v>
                </c:pt>
                <c:pt idx="7">
                  <c:v>25.9</c:v>
                </c:pt>
                <c:pt idx="8">
                  <c:v>26.19</c:v>
                </c:pt>
                <c:pt idx="9">
                  <c:v>26.45</c:v>
                </c:pt>
                <c:pt idx="10">
                  <c:v>25.84</c:v>
                </c:pt>
                <c:pt idx="11">
                  <c:v>27.26</c:v>
                </c:pt>
                <c:pt idx="12">
                  <c:v>27.01</c:v>
                </c:pt>
              </c:numCache>
            </c:numRef>
          </c:val>
          <c:smooth val="1"/>
          <c:extLst>
            <c:ext xmlns:c16="http://schemas.microsoft.com/office/drawing/2014/chart" uri="{C3380CC4-5D6E-409C-BE32-E72D297353CC}">
              <c16:uniqueId val="{00000000-2DAD-4379-A7BB-EC77D98F590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0998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3D302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0998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2D201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lgn="ctr" rtl="0">
              <a:defRPr lang="en-US" sz="1800" b="0" i="0" u="none" strike="noStrike" kern="1200" baseline="0">
                <a:solidFill>
                  <a:srgbClr val="FFC000"/>
                </a:solidFill>
                <a:latin typeface="Arial"/>
                <a:ea typeface="+mn-ea"/>
                <a:cs typeface="+mn-cs"/>
              </a:defRPr>
            </a:pPr>
            <a:r>
              <a:rPr lang="en-US" sz="1800" b="0" i="0" u="none" strike="noStrike" kern="1200" baseline="0">
                <a:solidFill>
                  <a:srgbClr val="FFC000"/>
                </a:solidFill>
                <a:latin typeface="Arial"/>
                <a:ea typeface="+mn-ea"/>
                <a:cs typeface="+mn-cs"/>
              </a:rPr>
              <a:t>Avg GDP (Billion USD)</a:t>
            </a:r>
          </a:p>
        </c:rich>
      </c:tx>
      <c:overlay val="0"/>
    </c:title>
    <c:autoTitleDeleted val="0"/>
    <c:plotArea>
      <c:layout/>
      <c:lineChart>
        <c:grouping val="standard"/>
        <c:varyColors val="0"/>
        <c:ser>
          <c:idx val="0"/>
          <c:order val="0"/>
          <c:tx>
            <c:strRef>
              <c:f>Sheet1!$B$1</c:f>
              <c:strCache>
                <c:ptCount val="1"/>
                <c:pt idx="0">
                  <c:v>Avg GDP (Billion USD)</c:v>
                </c:pt>
              </c:strCache>
            </c:strRef>
          </c:tx>
          <c:spPr>
            <a:ln w="38100" cap="flat">
              <a:solidFill>
                <a:srgbClr val="4A7C59"/>
              </a:solidFill>
              <a:prstDash val="solid"/>
              <a:round/>
            </a:ln>
            <a:effectLst/>
          </c:spPr>
          <c:marker>
            <c:symbol val="circle"/>
            <c:size val="6"/>
            <c:spPr>
              <a:solidFill>
                <a:srgbClr val="4A7C59"/>
              </a:solidFill>
              <a:ln w="9525" cap="flat">
                <a:solidFill>
                  <a:srgbClr val="4A7C59"/>
                </a:solidFill>
                <a:prstDash val="solid"/>
                <a:round/>
              </a:ln>
              <a:effectLst/>
            </c:spPr>
          </c:marker>
          <c:cat>
            <c:strRef>
              <c:f>Sheet1!$A$2:$A$13</c:f>
              <c:strCache>
                <c:ptCount val="12"/>
                <c:pt idx="0">
                  <c:v>2000</c:v>
                </c:pt>
                <c:pt idx="1">
                  <c:v>2002</c:v>
                </c:pt>
                <c:pt idx="2">
                  <c:v>2004</c:v>
                </c:pt>
                <c:pt idx="3">
                  <c:v>2006</c:v>
                </c:pt>
                <c:pt idx="4">
                  <c:v>2008</c:v>
                </c:pt>
                <c:pt idx="5">
                  <c:v>2010</c:v>
                </c:pt>
                <c:pt idx="6">
                  <c:v>2012</c:v>
                </c:pt>
                <c:pt idx="7">
                  <c:v>2014</c:v>
                </c:pt>
                <c:pt idx="8">
                  <c:v>2016</c:v>
                </c:pt>
                <c:pt idx="9">
                  <c:v>2018</c:v>
                </c:pt>
                <c:pt idx="10">
                  <c:v>2020</c:v>
                </c:pt>
                <c:pt idx="11">
                  <c:v>2022</c:v>
                </c:pt>
              </c:strCache>
            </c:strRef>
          </c:cat>
          <c:val>
            <c:numRef>
              <c:f>Sheet1!$B$2:$B$13</c:f>
              <c:numCache>
                <c:formatCode>General</c:formatCode>
                <c:ptCount val="12"/>
                <c:pt idx="0">
                  <c:v>44.2</c:v>
                </c:pt>
                <c:pt idx="1">
                  <c:v>50.6</c:v>
                </c:pt>
                <c:pt idx="2">
                  <c:v>58.3</c:v>
                </c:pt>
                <c:pt idx="3">
                  <c:v>68</c:v>
                </c:pt>
                <c:pt idx="4">
                  <c:v>79.900000000000006</c:v>
                </c:pt>
                <c:pt idx="5">
                  <c:v>92</c:v>
                </c:pt>
                <c:pt idx="6">
                  <c:v>100.4</c:v>
                </c:pt>
                <c:pt idx="7">
                  <c:v>68.2</c:v>
                </c:pt>
                <c:pt idx="8">
                  <c:v>71.900000000000006</c:v>
                </c:pt>
                <c:pt idx="9">
                  <c:v>77.2</c:v>
                </c:pt>
                <c:pt idx="10">
                  <c:v>75.7</c:v>
                </c:pt>
                <c:pt idx="11">
                  <c:v>82.3</c:v>
                </c:pt>
              </c:numCache>
            </c:numRef>
          </c:val>
          <c:smooth val="1"/>
          <c:extLst>
            <c:ext xmlns:c16="http://schemas.microsoft.com/office/drawing/2014/chart" uri="{C3380CC4-5D6E-409C-BE32-E72D297353CC}">
              <c16:uniqueId val="{00000000-7530-428F-BAD1-53EF619E8F3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0998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3D302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0998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2D2010"/>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dirty="0">
                <a:solidFill>
                  <a:srgbClr val="FFC000"/>
                </a:solidFill>
                <a:latin typeface="Arial"/>
              </a:rPr>
              <a:t>Top 10 Countries by Avg CO2 (Million Tonnes)</a:t>
            </a:r>
          </a:p>
        </c:rich>
      </c:tx>
      <c:overlay val="0"/>
    </c:title>
    <c:autoTitleDeleted val="0"/>
    <c:plotArea>
      <c:layout/>
      <c:barChart>
        <c:barDir val="bar"/>
        <c:grouping val="clustered"/>
        <c:varyColors val="0"/>
        <c:ser>
          <c:idx val="0"/>
          <c:order val="0"/>
          <c:tx>
            <c:strRef>
              <c:f>Sheet1!$B$1</c:f>
              <c:strCache>
                <c:ptCount val="1"/>
                <c:pt idx="0">
                  <c:v>Avg CO2 (Mt)</c:v>
                </c:pt>
              </c:strCache>
            </c:strRef>
          </c:tx>
          <c:spPr>
            <a:solidFill>
              <a:srgbClr val="D4A017"/>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Kenya</c:v>
                </c:pt>
                <c:pt idx="1">
                  <c:v>Sudan</c:v>
                </c:pt>
                <c:pt idx="2">
                  <c:v>Angola</c:v>
                </c:pt>
                <c:pt idx="3">
                  <c:v>Tunisia</c:v>
                </c:pt>
                <c:pt idx="4">
                  <c:v>Morocco</c:v>
                </c:pt>
                <c:pt idx="5">
                  <c:v>Libya</c:v>
                </c:pt>
                <c:pt idx="6">
                  <c:v>Nigeria</c:v>
                </c:pt>
                <c:pt idx="7">
                  <c:v>Algeria</c:v>
                </c:pt>
                <c:pt idx="8">
                  <c:v>Egypt</c:v>
                </c:pt>
                <c:pt idx="9">
                  <c:v>South Africa</c:v>
                </c:pt>
              </c:strCache>
            </c:strRef>
          </c:cat>
          <c:val>
            <c:numRef>
              <c:f>Sheet1!$B$2:$B$11</c:f>
              <c:numCache>
                <c:formatCode>General</c:formatCode>
                <c:ptCount val="10"/>
                <c:pt idx="0">
                  <c:v>14</c:v>
                </c:pt>
                <c:pt idx="1">
                  <c:v>15</c:v>
                </c:pt>
                <c:pt idx="2">
                  <c:v>20.6</c:v>
                </c:pt>
                <c:pt idx="3">
                  <c:v>26.9</c:v>
                </c:pt>
                <c:pt idx="4">
                  <c:v>53.8</c:v>
                </c:pt>
                <c:pt idx="5">
                  <c:v>56.8</c:v>
                </c:pt>
                <c:pt idx="6">
                  <c:v>111.3</c:v>
                </c:pt>
                <c:pt idx="7">
                  <c:v>134.30000000000001</c:v>
                </c:pt>
                <c:pt idx="8">
                  <c:v>207.7</c:v>
                </c:pt>
                <c:pt idx="9">
                  <c:v>435.7</c:v>
                </c:pt>
              </c:numCache>
            </c:numRef>
          </c:val>
          <c:extLst>
            <c:ext xmlns:c16="http://schemas.microsoft.com/office/drawing/2014/chart" uri="{C3380CC4-5D6E-409C-BE32-E72D297353CC}">
              <c16:uniqueId val="{00000000-26BA-45F9-BECC-8CB4FEADD2B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A0998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3D302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0998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2D2010"/>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lgn="ctr" rtl="0">
              <a:defRPr lang="en-US" sz="1800" b="0" i="0" u="none" strike="noStrike" kern="1200" baseline="0">
                <a:solidFill>
                  <a:srgbClr val="FFC000"/>
                </a:solidFill>
                <a:latin typeface="Arial"/>
                <a:ea typeface="+mn-ea"/>
                <a:cs typeface="+mn-cs"/>
              </a:defRPr>
            </a:pPr>
            <a:r>
              <a:rPr lang="en-US" sz="1800" b="0" i="0" u="none" strike="noStrike" kern="1200" baseline="0">
                <a:solidFill>
                  <a:srgbClr val="FFC000"/>
                </a:solidFill>
                <a:latin typeface="Arial"/>
                <a:ea typeface="+mn-ea"/>
                <a:cs typeface="+mn-cs"/>
              </a:rPr>
              <a:t>Avg CO2 by Region (Mt)</a:t>
            </a:r>
          </a:p>
        </c:rich>
      </c:tx>
      <c:overlay val="0"/>
    </c:title>
    <c:autoTitleDeleted val="0"/>
    <c:plotArea>
      <c:layout>
        <c:manualLayout>
          <c:layoutTarget val="inner"/>
          <c:xMode val="edge"/>
          <c:yMode val="edge"/>
          <c:x val="0.31818303962004751"/>
          <c:y val="0.3414757005306096"/>
          <c:w val="0.59049743782027253"/>
          <c:h val="0.46290781324629382"/>
        </c:manualLayout>
      </c:layout>
      <c:barChart>
        <c:barDir val="bar"/>
        <c:grouping val="clustered"/>
        <c:varyColors val="0"/>
        <c:ser>
          <c:idx val="0"/>
          <c:order val="0"/>
          <c:tx>
            <c:strRef>
              <c:f>Sheet1!$B$1</c:f>
              <c:strCache>
                <c:ptCount val="1"/>
                <c:pt idx="0">
                  <c:v>Avg CO2 (Mt)</c:v>
                </c:pt>
              </c:strCache>
            </c:strRef>
          </c:tx>
          <c:spPr>
            <a:solidFill>
              <a:srgbClr val="2E86AB"/>
            </a:solidFill>
            <a:effectLst/>
          </c:spPr>
          <c:invertIfNegative val="0"/>
          <c:dPt>
            <c:idx val="0"/>
            <c:invertIfNegative val="0"/>
            <c:bubble3D val="0"/>
            <c:extLst>
              <c:ext xmlns:c16="http://schemas.microsoft.com/office/drawing/2014/chart" uri="{C3380CC4-5D6E-409C-BE32-E72D297353CC}">
                <c16:uniqueId val="{00000001-1895-400D-8004-F88393F37DF3}"/>
              </c:ext>
            </c:extLst>
          </c:dPt>
          <c:dPt>
            <c:idx val="1"/>
            <c:invertIfNegative val="0"/>
            <c:bubble3D val="0"/>
            <c:spPr>
              <a:solidFill>
                <a:srgbClr val="8B4513"/>
              </a:solidFill>
              <a:effectLst/>
            </c:spPr>
            <c:extLst>
              <c:ext xmlns:c16="http://schemas.microsoft.com/office/drawing/2014/chart" uri="{C3380CC4-5D6E-409C-BE32-E72D297353CC}">
                <c16:uniqueId val="{00000003-1895-400D-8004-F88393F37DF3}"/>
              </c:ext>
            </c:extLst>
          </c:dPt>
          <c:dPt>
            <c:idx val="2"/>
            <c:invertIfNegative val="0"/>
            <c:bubble3D val="0"/>
            <c:spPr>
              <a:solidFill>
                <a:srgbClr val="4A7C59"/>
              </a:solidFill>
              <a:effectLst/>
            </c:spPr>
            <c:extLst>
              <c:ext xmlns:c16="http://schemas.microsoft.com/office/drawing/2014/chart" uri="{C3380CC4-5D6E-409C-BE32-E72D297353CC}">
                <c16:uniqueId val="{00000005-1895-400D-8004-F88393F37DF3}"/>
              </c:ext>
            </c:extLst>
          </c:dPt>
          <c:dPt>
            <c:idx val="3"/>
            <c:invertIfNegative val="0"/>
            <c:bubble3D val="0"/>
            <c:spPr>
              <a:solidFill>
                <a:srgbClr val="C1440E"/>
              </a:solidFill>
              <a:effectLst/>
            </c:spPr>
            <c:extLst>
              <c:ext xmlns:c16="http://schemas.microsoft.com/office/drawing/2014/chart" uri="{C3380CC4-5D6E-409C-BE32-E72D297353CC}">
                <c16:uniqueId val="{00000007-1895-400D-8004-F88393F37DF3}"/>
              </c:ext>
            </c:extLst>
          </c:dPt>
          <c:dPt>
            <c:idx val="4"/>
            <c:invertIfNegative val="0"/>
            <c:bubble3D val="0"/>
            <c:spPr>
              <a:solidFill>
                <a:srgbClr val="D4A017"/>
              </a:solidFill>
              <a:effectLst/>
            </c:spPr>
            <c:extLst>
              <c:ext xmlns:c16="http://schemas.microsoft.com/office/drawing/2014/chart" uri="{C3380CC4-5D6E-409C-BE32-E72D297353CC}">
                <c16:uniqueId val="{00000009-1895-400D-8004-F88393F37DF3}"/>
              </c:ext>
            </c:extLst>
          </c:dPt>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East Africa</c:v>
                </c:pt>
                <c:pt idx="1">
                  <c:v>Central Africa</c:v>
                </c:pt>
                <c:pt idx="2">
                  <c:v>West Africa</c:v>
                </c:pt>
                <c:pt idx="3">
                  <c:v>Southern Africa</c:v>
                </c:pt>
                <c:pt idx="4">
                  <c:v>North Africa</c:v>
                </c:pt>
              </c:strCache>
            </c:strRef>
          </c:cat>
          <c:val>
            <c:numRef>
              <c:f>Sheet1!$B$2:$B$6</c:f>
              <c:numCache>
                <c:formatCode>General</c:formatCode>
                <c:ptCount val="5"/>
                <c:pt idx="0">
                  <c:v>3.47</c:v>
                </c:pt>
                <c:pt idx="1">
                  <c:v>3.77</c:v>
                </c:pt>
                <c:pt idx="2">
                  <c:v>10.18</c:v>
                </c:pt>
                <c:pt idx="3">
                  <c:v>52.41</c:v>
                </c:pt>
                <c:pt idx="4">
                  <c:v>82.41</c:v>
                </c:pt>
              </c:numCache>
            </c:numRef>
          </c:val>
          <c:extLst>
            <c:ext xmlns:c16="http://schemas.microsoft.com/office/drawing/2014/chart" uri="{C3380CC4-5D6E-409C-BE32-E72D297353CC}">
              <c16:uniqueId val="{0000000A-1895-400D-8004-F88393F37DF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A0998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3D302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0998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2D2010"/>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2372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4A017"/>
          </a:solidFill>
          <a:ln w="12700">
            <a:solidFill>
              <a:srgbClr val="D4A017"/>
            </a:solidFill>
            <a:prstDash val="solid"/>
          </a:ln>
        </p:spPr>
      </p:sp>
      <p:sp>
        <p:nvSpPr>
          <p:cNvPr id="3" name="Text 1"/>
          <p:cNvSpPr/>
          <p:nvPr/>
        </p:nvSpPr>
        <p:spPr>
          <a:xfrm>
            <a:off x="5029200" y="201168"/>
            <a:ext cx="3931920" cy="274320"/>
          </a:xfrm>
          <a:prstGeom prst="rect">
            <a:avLst/>
          </a:prstGeom>
          <a:noFill/>
          <a:ln/>
        </p:spPr>
        <p:txBody>
          <a:bodyPr wrap="square" lIns="0" tIns="0" rIns="0" bIns="0" rtlCol="0" anchor="ctr"/>
          <a:lstStyle/>
          <a:p>
            <a:pPr marL="0" indent="0" algn="r">
              <a:buNone/>
            </a:pPr>
            <a:r>
              <a:rPr lang="en-US" sz="900" kern="0" spc="150" dirty="0">
                <a:solidFill>
                  <a:srgbClr val="A0998F"/>
                </a:solidFill>
                <a:latin typeface="Calibri" pitchFamily="34" charset="0"/>
                <a:ea typeface="Calibri" pitchFamily="34" charset="-122"/>
                <a:cs typeface="Calibri" pitchFamily="34" charset="-120"/>
              </a:rPr>
              <a:t>SEEDING AFRICA  |  DATA ANALYSIS TRACK</a:t>
            </a:r>
            <a:endParaRPr lang="en-US" sz="900" dirty="0"/>
          </a:p>
        </p:txBody>
      </p:sp>
      <p:sp>
        <p:nvSpPr>
          <p:cNvPr id="4" name="Text 2"/>
          <p:cNvSpPr/>
          <p:nvPr/>
        </p:nvSpPr>
        <p:spPr>
          <a:xfrm>
            <a:off x="457200" y="960120"/>
            <a:ext cx="8229600" cy="1417320"/>
          </a:xfrm>
          <a:prstGeom prst="rect">
            <a:avLst/>
          </a:prstGeom>
          <a:noFill/>
          <a:ln/>
        </p:spPr>
        <p:txBody>
          <a:bodyPr wrap="square" lIns="0" tIns="0" rIns="0" bIns="0" rtlCol="0" anchor="ctr"/>
          <a:lstStyle/>
          <a:p>
            <a:pPr marL="0" indent="0" algn="l">
              <a:buNone/>
            </a:pPr>
            <a:r>
              <a:rPr lang="en-US" sz="4000" b="1" dirty="0">
                <a:solidFill>
                  <a:srgbClr val="D4A017"/>
                </a:solidFill>
                <a:latin typeface="Trebuchet MS" pitchFamily="34" charset="0"/>
                <a:ea typeface="Trebuchet MS" pitchFamily="34" charset="-122"/>
                <a:cs typeface="Trebuchet MS" pitchFamily="34" charset="-120"/>
              </a:rPr>
              <a:t>CARBON DIOXIDE EMISSIONS</a:t>
            </a:r>
            <a:endParaRPr lang="en-US" sz="4000" dirty="0"/>
          </a:p>
          <a:p>
            <a:pPr marL="0" indent="0" algn="l">
              <a:buNone/>
            </a:pPr>
            <a:r>
              <a:rPr lang="en-US" sz="4000" b="1" dirty="0">
                <a:solidFill>
                  <a:srgbClr val="D4A017"/>
                </a:solidFill>
                <a:latin typeface="Trebuchet MS" pitchFamily="34" charset="0"/>
                <a:ea typeface="Trebuchet MS" pitchFamily="34" charset="-122"/>
                <a:cs typeface="Trebuchet MS" pitchFamily="34" charset="-120"/>
              </a:rPr>
              <a:t>AND ECONOMIC GROWTH</a:t>
            </a:r>
            <a:endParaRPr lang="en-US" sz="4000" dirty="0"/>
          </a:p>
        </p:txBody>
      </p:sp>
      <p:sp>
        <p:nvSpPr>
          <p:cNvPr id="5" name="Text 3"/>
          <p:cNvSpPr/>
          <p:nvPr/>
        </p:nvSpPr>
        <p:spPr>
          <a:xfrm>
            <a:off x="457200" y="2423160"/>
            <a:ext cx="8229600" cy="411480"/>
          </a:xfrm>
          <a:prstGeom prst="rect">
            <a:avLst/>
          </a:prstGeom>
          <a:noFill/>
          <a:ln/>
        </p:spPr>
        <p:txBody>
          <a:bodyPr wrap="square" lIns="0" tIns="0" rIns="0" bIns="0" rtlCol="0" anchor="ctr"/>
          <a:lstStyle/>
          <a:p>
            <a:pPr marL="0" indent="0" algn="l">
              <a:buNone/>
            </a:pPr>
            <a:r>
              <a:rPr lang="en-US" sz="2000" i="1" dirty="0">
                <a:solidFill>
                  <a:srgbClr val="F5F0E8"/>
                </a:solidFill>
                <a:latin typeface="Calibri" pitchFamily="34" charset="0"/>
                <a:ea typeface="Calibri" pitchFamily="34" charset="-122"/>
                <a:cs typeface="Calibri" pitchFamily="34" charset="-120"/>
              </a:rPr>
              <a:t>Across African Nations (2000 to 2023)</a:t>
            </a:r>
            <a:endParaRPr lang="en-US" sz="2000" dirty="0"/>
          </a:p>
        </p:txBody>
      </p:sp>
      <p:sp>
        <p:nvSpPr>
          <p:cNvPr id="6" name="Shape 4"/>
          <p:cNvSpPr/>
          <p:nvPr/>
        </p:nvSpPr>
        <p:spPr>
          <a:xfrm>
            <a:off x="457200" y="2926080"/>
            <a:ext cx="4114800" cy="41148"/>
          </a:xfrm>
          <a:prstGeom prst="rect">
            <a:avLst/>
          </a:prstGeom>
          <a:solidFill>
            <a:srgbClr val="D4A017"/>
          </a:solidFill>
          <a:ln w="12700">
            <a:solidFill>
              <a:srgbClr val="D4A017"/>
            </a:solidFill>
            <a:prstDash val="solid"/>
          </a:ln>
        </p:spPr>
      </p:sp>
      <p:sp>
        <p:nvSpPr>
          <p:cNvPr id="7" name="Text 5"/>
          <p:cNvSpPr/>
          <p:nvPr/>
        </p:nvSpPr>
        <p:spPr>
          <a:xfrm>
            <a:off x="457200" y="3090672"/>
            <a:ext cx="6400800" cy="292608"/>
          </a:xfrm>
          <a:prstGeom prst="rect">
            <a:avLst/>
          </a:prstGeom>
          <a:noFill/>
          <a:ln/>
        </p:spPr>
        <p:txBody>
          <a:bodyPr wrap="square" lIns="0" tIns="0" rIns="0" bIns="0" rtlCol="0" anchor="ctr"/>
          <a:lstStyle/>
          <a:p>
            <a:pPr marL="0" indent="0">
              <a:buNone/>
            </a:pPr>
            <a:r>
              <a:rPr lang="en-US" sz="1400" b="1" dirty="0">
                <a:solidFill>
                  <a:srgbClr val="F5F0E8"/>
                </a:solidFill>
                <a:latin typeface="Calibri" pitchFamily="34" charset="0"/>
                <a:ea typeface="Calibri" pitchFamily="34" charset="-122"/>
                <a:cs typeface="Calibri" pitchFamily="34" charset="-120"/>
              </a:rPr>
              <a:t>GBADEGESIN MARIAM OMOWUMI</a:t>
            </a:r>
            <a:endParaRPr lang="en-US" sz="1400" dirty="0"/>
          </a:p>
        </p:txBody>
      </p:sp>
      <p:sp>
        <p:nvSpPr>
          <p:cNvPr id="8" name="Text 6"/>
          <p:cNvSpPr/>
          <p:nvPr/>
        </p:nvSpPr>
        <p:spPr>
          <a:xfrm>
            <a:off x="457200" y="3401568"/>
            <a:ext cx="6400800" cy="256032"/>
          </a:xfrm>
          <a:prstGeom prst="rect">
            <a:avLst/>
          </a:prstGeom>
          <a:noFill/>
          <a:ln/>
        </p:spPr>
        <p:txBody>
          <a:bodyPr wrap="square" lIns="0" tIns="0" rIns="0" bIns="0" rtlCol="0" anchor="ctr"/>
          <a:lstStyle/>
          <a:p>
            <a:pPr marL="0" indent="0">
              <a:buNone/>
            </a:pPr>
            <a:r>
              <a:rPr lang="en-US" sz="1100" dirty="0">
                <a:solidFill>
                  <a:srgbClr val="A0998F"/>
                </a:solidFill>
                <a:latin typeface="Calibri" pitchFamily="34" charset="0"/>
                <a:ea typeface="Calibri" pitchFamily="34" charset="-122"/>
                <a:cs typeface="Calibri" pitchFamily="34" charset="-120"/>
              </a:rPr>
              <a:t>FemTech Information Technology Institute  |  May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D4A017"/>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1A1208"/>
                </a:solidFill>
              </a:rPr>
              <a:t>OVERVIEW</a:t>
            </a:r>
            <a:endParaRPr lang="en-US" sz="900" dirty="0"/>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D4A017"/>
                </a:solidFill>
                <a:latin typeface="Trebuchet MS" pitchFamily="34" charset="0"/>
                <a:ea typeface="Trebuchet MS" pitchFamily="34" charset="-122"/>
                <a:cs typeface="Trebuchet MS" pitchFamily="34" charset="-120"/>
              </a:rPr>
              <a:t>Presentation Outline</a:t>
            </a:r>
            <a:endParaRPr lang="en-US" sz="2600" dirty="0"/>
          </a:p>
        </p:txBody>
      </p:sp>
      <p:sp>
        <p:nvSpPr>
          <p:cNvPr id="5" name="Shape 3"/>
          <p:cNvSpPr/>
          <p:nvPr/>
        </p:nvSpPr>
        <p:spPr>
          <a:xfrm>
            <a:off x="365760" y="1170432"/>
            <a:ext cx="475488" cy="292608"/>
          </a:xfrm>
          <a:prstGeom prst="rect">
            <a:avLst/>
          </a:prstGeom>
          <a:solidFill>
            <a:srgbClr val="D4A017"/>
          </a:solidFill>
          <a:ln w="12700">
            <a:solidFill>
              <a:srgbClr val="D4A017"/>
            </a:solidFill>
            <a:prstDash val="solid"/>
          </a:ln>
        </p:spPr>
      </p:sp>
      <p:sp>
        <p:nvSpPr>
          <p:cNvPr id="6" name="Text 4"/>
          <p:cNvSpPr/>
          <p:nvPr/>
        </p:nvSpPr>
        <p:spPr>
          <a:xfrm>
            <a:off x="365760" y="1170432"/>
            <a:ext cx="475488"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01</a:t>
            </a:r>
            <a:endParaRPr lang="en-US" sz="1200" dirty="0"/>
          </a:p>
        </p:txBody>
      </p:sp>
      <p:sp>
        <p:nvSpPr>
          <p:cNvPr id="7" name="Text 5"/>
          <p:cNvSpPr/>
          <p:nvPr/>
        </p:nvSpPr>
        <p:spPr>
          <a:xfrm>
            <a:off x="987552" y="1179576"/>
            <a:ext cx="4572000" cy="173736"/>
          </a:xfrm>
          <a:prstGeom prst="rect">
            <a:avLst/>
          </a:prstGeom>
          <a:noFill/>
          <a:ln/>
        </p:spPr>
        <p:txBody>
          <a:bodyPr wrap="square" lIns="0" tIns="0" rIns="0" bIns="0" rtlCol="0" anchor="ctr"/>
          <a:lstStyle/>
          <a:p>
            <a:pPr marL="0" indent="0">
              <a:buNone/>
            </a:pPr>
            <a:r>
              <a:rPr lang="en-US" sz="1150" b="1" dirty="0">
                <a:solidFill>
                  <a:srgbClr val="F5F0E8"/>
                </a:solidFill>
                <a:latin typeface="Trebuchet MS" pitchFamily="34" charset="0"/>
                <a:ea typeface="Trebuchet MS" pitchFamily="34" charset="-122"/>
                <a:cs typeface="Trebuchet MS" pitchFamily="34" charset="-120"/>
              </a:rPr>
              <a:t>Introduction, Aim and Background</a:t>
            </a:r>
            <a:endParaRPr lang="en-US" sz="1150" dirty="0"/>
          </a:p>
        </p:txBody>
      </p:sp>
      <p:sp>
        <p:nvSpPr>
          <p:cNvPr id="8" name="Text 6"/>
          <p:cNvSpPr/>
          <p:nvPr/>
        </p:nvSpPr>
        <p:spPr>
          <a:xfrm>
            <a:off x="987552" y="1353312"/>
            <a:ext cx="7772400" cy="128016"/>
          </a:xfrm>
          <a:prstGeom prst="rect">
            <a:avLst/>
          </a:prstGeom>
          <a:noFill/>
          <a:ln/>
        </p:spPr>
        <p:txBody>
          <a:bodyPr wrap="square" lIns="0" tIns="0" rIns="0" bIns="0" rtlCol="0" anchor="ctr"/>
          <a:lstStyle/>
          <a:p>
            <a:pPr marL="0" indent="0">
              <a:buNone/>
            </a:pPr>
            <a:r>
              <a:rPr lang="en-US" sz="850" i="1" dirty="0">
                <a:solidFill>
                  <a:srgbClr val="A0998F"/>
                </a:solidFill>
                <a:latin typeface="Calibri" pitchFamily="34" charset="0"/>
                <a:ea typeface="Calibri" pitchFamily="34" charset="-122"/>
                <a:cs typeface="Calibri" pitchFamily="34" charset="-120"/>
              </a:rPr>
              <a:t>The problem, aim, objectives and research questions</a:t>
            </a:r>
            <a:endParaRPr lang="en-US" sz="850" dirty="0"/>
          </a:p>
        </p:txBody>
      </p:sp>
      <p:sp>
        <p:nvSpPr>
          <p:cNvPr id="9" name="Shape 7"/>
          <p:cNvSpPr/>
          <p:nvPr/>
        </p:nvSpPr>
        <p:spPr>
          <a:xfrm>
            <a:off x="365760" y="1549908"/>
            <a:ext cx="475488" cy="292608"/>
          </a:xfrm>
          <a:prstGeom prst="rect">
            <a:avLst/>
          </a:prstGeom>
          <a:solidFill>
            <a:srgbClr val="D4A017"/>
          </a:solidFill>
          <a:ln w="12700">
            <a:solidFill>
              <a:srgbClr val="D4A017"/>
            </a:solidFill>
            <a:prstDash val="solid"/>
          </a:ln>
        </p:spPr>
      </p:sp>
      <p:sp>
        <p:nvSpPr>
          <p:cNvPr id="10" name="Text 8"/>
          <p:cNvSpPr/>
          <p:nvPr/>
        </p:nvSpPr>
        <p:spPr>
          <a:xfrm>
            <a:off x="365760" y="1549908"/>
            <a:ext cx="475488"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02</a:t>
            </a:r>
            <a:endParaRPr lang="en-US" sz="1200" dirty="0"/>
          </a:p>
        </p:txBody>
      </p:sp>
      <p:sp>
        <p:nvSpPr>
          <p:cNvPr id="11" name="Text 9"/>
          <p:cNvSpPr/>
          <p:nvPr/>
        </p:nvSpPr>
        <p:spPr>
          <a:xfrm>
            <a:off x="987552" y="1559052"/>
            <a:ext cx="4572000" cy="173736"/>
          </a:xfrm>
          <a:prstGeom prst="rect">
            <a:avLst/>
          </a:prstGeom>
          <a:noFill/>
          <a:ln/>
        </p:spPr>
        <p:txBody>
          <a:bodyPr wrap="square" lIns="0" tIns="0" rIns="0" bIns="0" rtlCol="0" anchor="ctr"/>
          <a:lstStyle/>
          <a:p>
            <a:pPr marL="0" indent="0">
              <a:buNone/>
            </a:pPr>
            <a:r>
              <a:rPr lang="en-US" sz="1150" b="1" dirty="0">
                <a:solidFill>
                  <a:srgbClr val="F5F0E8"/>
                </a:solidFill>
                <a:latin typeface="Trebuchet MS" pitchFamily="34" charset="0"/>
                <a:ea typeface="Trebuchet MS" pitchFamily="34" charset="-122"/>
                <a:cs typeface="Trebuchet MS" pitchFamily="34" charset="-120"/>
              </a:rPr>
              <a:t>Methodology and Data Sources</a:t>
            </a:r>
            <a:endParaRPr lang="en-US" sz="1150" dirty="0"/>
          </a:p>
        </p:txBody>
      </p:sp>
      <p:sp>
        <p:nvSpPr>
          <p:cNvPr id="12" name="Text 10"/>
          <p:cNvSpPr/>
          <p:nvPr/>
        </p:nvSpPr>
        <p:spPr>
          <a:xfrm>
            <a:off x="987552" y="1732788"/>
            <a:ext cx="7772400" cy="128016"/>
          </a:xfrm>
          <a:prstGeom prst="rect">
            <a:avLst/>
          </a:prstGeom>
          <a:noFill/>
          <a:ln/>
        </p:spPr>
        <p:txBody>
          <a:bodyPr wrap="square" lIns="0" tIns="0" rIns="0" bIns="0" rtlCol="0" anchor="ctr"/>
          <a:lstStyle/>
          <a:p>
            <a:pPr marL="0" indent="0">
              <a:buNone/>
            </a:pPr>
            <a:r>
              <a:rPr lang="en-US" sz="850" i="1" dirty="0">
                <a:solidFill>
                  <a:srgbClr val="A0998F"/>
                </a:solidFill>
                <a:latin typeface="Calibri" pitchFamily="34" charset="0"/>
                <a:ea typeface="Calibri" pitchFamily="34" charset="-122"/>
                <a:cs typeface="Calibri" pitchFamily="34" charset="-120"/>
              </a:rPr>
              <a:t>Tools used, data collection and cleaning process</a:t>
            </a:r>
            <a:endParaRPr lang="en-US" sz="850" dirty="0"/>
          </a:p>
        </p:txBody>
      </p:sp>
      <p:sp>
        <p:nvSpPr>
          <p:cNvPr id="13" name="Shape 11"/>
          <p:cNvSpPr/>
          <p:nvPr/>
        </p:nvSpPr>
        <p:spPr>
          <a:xfrm>
            <a:off x="365760" y="1929384"/>
            <a:ext cx="475488" cy="292608"/>
          </a:xfrm>
          <a:prstGeom prst="rect">
            <a:avLst/>
          </a:prstGeom>
          <a:solidFill>
            <a:srgbClr val="D4A017"/>
          </a:solidFill>
          <a:ln w="12700">
            <a:solidFill>
              <a:srgbClr val="D4A017"/>
            </a:solidFill>
            <a:prstDash val="solid"/>
          </a:ln>
        </p:spPr>
      </p:sp>
      <p:sp>
        <p:nvSpPr>
          <p:cNvPr id="14" name="Text 12"/>
          <p:cNvSpPr/>
          <p:nvPr/>
        </p:nvSpPr>
        <p:spPr>
          <a:xfrm>
            <a:off x="365760" y="1929384"/>
            <a:ext cx="475488"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03</a:t>
            </a:r>
            <a:endParaRPr lang="en-US" sz="1200" dirty="0"/>
          </a:p>
        </p:txBody>
      </p:sp>
      <p:sp>
        <p:nvSpPr>
          <p:cNvPr id="15" name="Text 13"/>
          <p:cNvSpPr/>
          <p:nvPr/>
        </p:nvSpPr>
        <p:spPr>
          <a:xfrm>
            <a:off x="987552" y="1938528"/>
            <a:ext cx="4572000" cy="173736"/>
          </a:xfrm>
          <a:prstGeom prst="rect">
            <a:avLst/>
          </a:prstGeom>
          <a:noFill/>
          <a:ln/>
        </p:spPr>
        <p:txBody>
          <a:bodyPr wrap="square" lIns="0" tIns="0" rIns="0" bIns="0" rtlCol="0" anchor="ctr"/>
          <a:lstStyle/>
          <a:p>
            <a:pPr marL="0" indent="0">
              <a:buNone/>
            </a:pPr>
            <a:r>
              <a:rPr lang="en-US" sz="1150" b="1" dirty="0">
                <a:solidFill>
                  <a:srgbClr val="F5F0E8"/>
                </a:solidFill>
                <a:latin typeface="Trebuchet MS" pitchFamily="34" charset="0"/>
                <a:ea typeface="Trebuchet MS" pitchFamily="34" charset="-122"/>
                <a:cs typeface="Trebuchet MS" pitchFamily="34" charset="-120"/>
              </a:rPr>
              <a:t>Key Findings from Excel and SQL</a:t>
            </a:r>
            <a:endParaRPr lang="en-US" sz="1150" dirty="0"/>
          </a:p>
        </p:txBody>
      </p:sp>
      <p:sp>
        <p:nvSpPr>
          <p:cNvPr id="16" name="Text 14"/>
          <p:cNvSpPr/>
          <p:nvPr/>
        </p:nvSpPr>
        <p:spPr>
          <a:xfrm>
            <a:off x="987552" y="2112264"/>
            <a:ext cx="7772400" cy="128016"/>
          </a:xfrm>
          <a:prstGeom prst="rect">
            <a:avLst/>
          </a:prstGeom>
          <a:noFill/>
          <a:ln/>
        </p:spPr>
        <p:txBody>
          <a:bodyPr wrap="square" lIns="0" tIns="0" rIns="0" bIns="0" rtlCol="0" anchor="ctr"/>
          <a:lstStyle/>
          <a:p>
            <a:pPr marL="0" indent="0">
              <a:buNone/>
            </a:pPr>
            <a:r>
              <a:rPr lang="en-US" sz="850" i="1" dirty="0">
                <a:solidFill>
                  <a:srgbClr val="A0998F"/>
                </a:solidFill>
                <a:latin typeface="Calibri" pitchFamily="34" charset="0"/>
                <a:ea typeface="Calibri" pitchFamily="34" charset="-122"/>
                <a:cs typeface="Calibri" pitchFamily="34" charset="-120"/>
              </a:rPr>
              <a:t>Descriptive statistics, trends and comparative analysis</a:t>
            </a:r>
            <a:endParaRPr lang="en-US" sz="850" dirty="0"/>
          </a:p>
        </p:txBody>
      </p:sp>
      <p:sp>
        <p:nvSpPr>
          <p:cNvPr id="17" name="Shape 15"/>
          <p:cNvSpPr/>
          <p:nvPr/>
        </p:nvSpPr>
        <p:spPr>
          <a:xfrm>
            <a:off x="365760" y="2308860"/>
            <a:ext cx="475488" cy="292608"/>
          </a:xfrm>
          <a:prstGeom prst="rect">
            <a:avLst/>
          </a:prstGeom>
          <a:solidFill>
            <a:srgbClr val="D4A017"/>
          </a:solidFill>
          <a:ln w="12700">
            <a:solidFill>
              <a:srgbClr val="D4A017"/>
            </a:solidFill>
            <a:prstDash val="solid"/>
          </a:ln>
        </p:spPr>
      </p:sp>
      <p:sp>
        <p:nvSpPr>
          <p:cNvPr id="18" name="Text 16"/>
          <p:cNvSpPr/>
          <p:nvPr/>
        </p:nvSpPr>
        <p:spPr>
          <a:xfrm>
            <a:off x="365760" y="2308860"/>
            <a:ext cx="475488"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04</a:t>
            </a:r>
            <a:endParaRPr lang="en-US" sz="1200" dirty="0"/>
          </a:p>
        </p:txBody>
      </p:sp>
      <p:sp>
        <p:nvSpPr>
          <p:cNvPr id="19" name="Text 17"/>
          <p:cNvSpPr/>
          <p:nvPr/>
        </p:nvSpPr>
        <p:spPr>
          <a:xfrm>
            <a:off x="987552" y="2318004"/>
            <a:ext cx="4572000" cy="173736"/>
          </a:xfrm>
          <a:prstGeom prst="rect">
            <a:avLst/>
          </a:prstGeom>
          <a:noFill/>
          <a:ln/>
        </p:spPr>
        <p:txBody>
          <a:bodyPr wrap="square" lIns="0" tIns="0" rIns="0" bIns="0" rtlCol="0" anchor="ctr"/>
          <a:lstStyle/>
          <a:p>
            <a:pPr marL="0" indent="0">
              <a:buNone/>
            </a:pPr>
            <a:r>
              <a:rPr lang="en-US" sz="1150" b="1" dirty="0">
                <a:solidFill>
                  <a:srgbClr val="F5F0E8"/>
                </a:solidFill>
                <a:latin typeface="Trebuchet MS" pitchFamily="34" charset="0"/>
                <a:ea typeface="Trebuchet MS" pitchFamily="34" charset="-122"/>
                <a:cs typeface="Trebuchet MS" pitchFamily="34" charset="-120"/>
              </a:rPr>
              <a:t>Python Statistical Analysis</a:t>
            </a:r>
            <a:endParaRPr lang="en-US" sz="1150" dirty="0"/>
          </a:p>
        </p:txBody>
      </p:sp>
      <p:sp>
        <p:nvSpPr>
          <p:cNvPr id="20" name="Text 18"/>
          <p:cNvSpPr/>
          <p:nvPr/>
        </p:nvSpPr>
        <p:spPr>
          <a:xfrm>
            <a:off x="987552" y="2491740"/>
            <a:ext cx="7772400" cy="128016"/>
          </a:xfrm>
          <a:prstGeom prst="rect">
            <a:avLst/>
          </a:prstGeom>
          <a:noFill/>
          <a:ln/>
        </p:spPr>
        <p:txBody>
          <a:bodyPr wrap="square" lIns="0" tIns="0" rIns="0" bIns="0" rtlCol="0" anchor="ctr"/>
          <a:lstStyle/>
          <a:p>
            <a:pPr marL="0" indent="0">
              <a:buNone/>
            </a:pPr>
            <a:r>
              <a:rPr lang="en-US" sz="850" i="1" dirty="0">
                <a:solidFill>
                  <a:srgbClr val="A0998F"/>
                </a:solidFill>
                <a:latin typeface="Calibri" pitchFamily="34" charset="0"/>
                <a:ea typeface="Calibri" pitchFamily="34" charset="-122"/>
                <a:cs typeface="Calibri" pitchFamily="34" charset="-120"/>
              </a:rPr>
              <a:t>Correlation, outliers and decoupling evidence</a:t>
            </a:r>
            <a:endParaRPr lang="en-US" sz="850" dirty="0"/>
          </a:p>
        </p:txBody>
      </p:sp>
      <p:sp>
        <p:nvSpPr>
          <p:cNvPr id="21" name="Shape 19"/>
          <p:cNvSpPr/>
          <p:nvPr/>
        </p:nvSpPr>
        <p:spPr>
          <a:xfrm>
            <a:off x="365760" y="2688336"/>
            <a:ext cx="475488" cy="292608"/>
          </a:xfrm>
          <a:prstGeom prst="rect">
            <a:avLst/>
          </a:prstGeom>
          <a:solidFill>
            <a:srgbClr val="D4A017"/>
          </a:solidFill>
          <a:ln w="12700">
            <a:solidFill>
              <a:srgbClr val="D4A017"/>
            </a:solidFill>
            <a:prstDash val="solid"/>
          </a:ln>
        </p:spPr>
      </p:sp>
      <p:sp>
        <p:nvSpPr>
          <p:cNvPr id="22" name="Text 20"/>
          <p:cNvSpPr/>
          <p:nvPr/>
        </p:nvSpPr>
        <p:spPr>
          <a:xfrm>
            <a:off x="365760" y="2688336"/>
            <a:ext cx="475488"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05</a:t>
            </a:r>
            <a:endParaRPr lang="en-US" sz="1200" dirty="0"/>
          </a:p>
        </p:txBody>
      </p:sp>
      <p:sp>
        <p:nvSpPr>
          <p:cNvPr id="23" name="Text 21"/>
          <p:cNvSpPr/>
          <p:nvPr/>
        </p:nvSpPr>
        <p:spPr>
          <a:xfrm>
            <a:off x="987552" y="2697480"/>
            <a:ext cx="4572000" cy="173736"/>
          </a:xfrm>
          <a:prstGeom prst="rect">
            <a:avLst/>
          </a:prstGeom>
          <a:noFill/>
          <a:ln/>
        </p:spPr>
        <p:txBody>
          <a:bodyPr wrap="square" lIns="0" tIns="0" rIns="0" bIns="0" rtlCol="0" anchor="ctr"/>
          <a:lstStyle/>
          <a:p>
            <a:pPr marL="0" indent="0">
              <a:buNone/>
            </a:pPr>
            <a:r>
              <a:rPr lang="en-US" sz="1150" b="1" dirty="0">
                <a:solidFill>
                  <a:srgbClr val="F5F0E8"/>
                </a:solidFill>
                <a:latin typeface="Trebuchet MS" pitchFamily="34" charset="0"/>
                <a:ea typeface="Trebuchet MS" pitchFamily="34" charset="-122"/>
                <a:cs typeface="Trebuchet MS" pitchFamily="34" charset="-120"/>
              </a:rPr>
              <a:t>Power BI Dashboard</a:t>
            </a:r>
            <a:endParaRPr lang="en-US" sz="1150" dirty="0"/>
          </a:p>
        </p:txBody>
      </p:sp>
      <p:sp>
        <p:nvSpPr>
          <p:cNvPr id="24" name="Text 22"/>
          <p:cNvSpPr/>
          <p:nvPr/>
        </p:nvSpPr>
        <p:spPr>
          <a:xfrm>
            <a:off x="987552" y="2871216"/>
            <a:ext cx="7772400" cy="128016"/>
          </a:xfrm>
          <a:prstGeom prst="rect">
            <a:avLst/>
          </a:prstGeom>
          <a:noFill/>
          <a:ln/>
        </p:spPr>
        <p:txBody>
          <a:bodyPr wrap="square" lIns="0" tIns="0" rIns="0" bIns="0" rtlCol="0" anchor="ctr"/>
          <a:lstStyle/>
          <a:p>
            <a:pPr marL="0" indent="0">
              <a:buNone/>
            </a:pPr>
            <a:r>
              <a:rPr lang="en-US" sz="850" i="1" dirty="0">
                <a:solidFill>
                  <a:srgbClr val="A0998F"/>
                </a:solidFill>
                <a:latin typeface="Calibri" pitchFamily="34" charset="0"/>
                <a:ea typeface="Calibri" pitchFamily="34" charset="-122"/>
                <a:cs typeface="Calibri" pitchFamily="34" charset="-120"/>
              </a:rPr>
              <a:t>Interactive visualizations across 6 dashboard pages</a:t>
            </a:r>
            <a:endParaRPr lang="en-US" sz="850" dirty="0"/>
          </a:p>
        </p:txBody>
      </p:sp>
      <p:sp>
        <p:nvSpPr>
          <p:cNvPr id="25" name="Shape 23"/>
          <p:cNvSpPr/>
          <p:nvPr/>
        </p:nvSpPr>
        <p:spPr>
          <a:xfrm>
            <a:off x="365760" y="3067812"/>
            <a:ext cx="475488" cy="292608"/>
          </a:xfrm>
          <a:prstGeom prst="rect">
            <a:avLst/>
          </a:prstGeom>
          <a:solidFill>
            <a:srgbClr val="D4A017"/>
          </a:solidFill>
          <a:ln w="12700">
            <a:solidFill>
              <a:srgbClr val="D4A017"/>
            </a:solidFill>
            <a:prstDash val="solid"/>
          </a:ln>
        </p:spPr>
      </p:sp>
      <p:sp>
        <p:nvSpPr>
          <p:cNvPr id="26" name="Text 24"/>
          <p:cNvSpPr/>
          <p:nvPr/>
        </p:nvSpPr>
        <p:spPr>
          <a:xfrm>
            <a:off x="365760" y="3067812"/>
            <a:ext cx="475488"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06</a:t>
            </a:r>
            <a:endParaRPr lang="en-US" sz="1200" dirty="0"/>
          </a:p>
        </p:txBody>
      </p:sp>
      <p:sp>
        <p:nvSpPr>
          <p:cNvPr id="27" name="Text 25"/>
          <p:cNvSpPr/>
          <p:nvPr/>
        </p:nvSpPr>
        <p:spPr>
          <a:xfrm>
            <a:off x="987552" y="3076956"/>
            <a:ext cx="4572000" cy="173736"/>
          </a:xfrm>
          <a:prstGeom prst="rect">
            <a:avLst/>
          </a:prstGeom>
          <a:noFill/>
          <a:ln/>
        </p:spPr>
        <p:txBody>
          <a:bodyPr wrap="square" lIns="0" tIns="0" rIns="0" bIns="0" rtlCol="0" anchor="ctr"/>
          <a:lstStyle/>
          <a:p>
            <a:pPr marL="0" indent="0">
              <a:buNone/>
            </a:pPr>
            <a:r>
              <a:rPr lang="en-US" sz="1150" b="1" dirty="0">
                <a:solidFill>
                  <a:srgbClr val="F5F0E8"/>
                </a:solidFill>
                <a:latin typeface="Trebuchet MS" pitchFamily="34" charset="0"/>
                <a:ea typeface="Trebuchet MS" pitchFamily="34" charset="-122"/>
                <a:cs typeface="Trebuchet MS" pitchFamily="34" charset="-120"/>
              </a:rPr>
              <a:t>Key Findings</a:t>
            </a:r>
            <a:endParaRPr lang="en-US" sz="1150" dirty="0"/>
          </a:p>
        </p:txBody>
      </p:sp>
      <p:sp>
        <p:nvSpPr>
          <p:cNvPr id="28" name="Text 26"/>
          <p:cNvSpPr/>
          <p:nvPr/>
        </p:nvSpPr>
        <p:spPr>
          <a:xfrm>
            <a:off x="987552" y="3250692"/>
            <a:ext cx="7772400" cy="128016"/>
          </a:xfrm>
          <a:prstGeom prst="rect">
            <a:avLst/>
          </a:prstGeom>
          <a:noFill/>
          <a:ln/>
        </p:spPr>
        <p:txBody>
          <a:bodyPr wrap="square" lIns="0" tIns="0" rIns="0" bIns="0" rtlCol="0" anchor="ctr"/>
          <a:lstStyle/>
          <a:p>
            <a:pPr marL="0" indent="0">
              <a:buNone/>
            </a:pPr>
            <a:r>
              <a:rPr lang="en-US" sz="850" i="1" dirty="0">
                <a:solidFill>
                  <a:srgbClr val="A0998F"/>
                </a:solidFill>
                <a:latin typeface="Calibri" pitchFamily="34" charset="0"/>
                <a:ea typeface="Calibri" pitchFamily="34" charset="-122"/>
                <a:cs typeface="Calibri" pitchFamily="34" charset="-120"/>
              </a:rPr>
              <a:t>Core discoveries from the analysis</a:t>
            </a:r>
            <a:endParaRPr lang="en-US" sz="850" dirty="0"/>
          </a:p>
        </p:txBody>
      </p:sp>
      <p:sp>
        <p:nvSpPr>
          <p:cNvPr id="29" name="Shape 27"/>
          <p:cNvSpPr/>
          <p:nvPr/>
        </p:nvSpPr>
        <p:spPr>
          <a:xfrm>
            <a:off x="365760" y="3447288"/>
            <a:ext cx="475488" cy="292608"/>
          </a:xfrm>
          <a:prstGeom prst="rect">
            <a:avLst/>
          </a:prstGeom>
          <a:solidFill>
            <a:srgbClr val="D4A017"/>
          </a:solidFill>
          <a:ln w="12700">
            <a:solidFill>
              <a:srgbClr val="D4A017"/>
            </a:solidFill>
            <a:prstDash val="solid"/>
          </a:ln>
        </p:spPr>
      </p:sp>
      <p:sp>
        <p:nvSpPr>
          <p:cNvPr id="30" name="Text 28"/>
          <p:cNvSpPr/>
          <p:nvPr/>
        </p:nvSpPr>
        <p:spPr>
          <a:xfrm>
            <a:off x="365760" y="3447288"/>
            <a:ext cx="475488"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07</a:t>
            </a:r>
            <a:endParaRPr lang="en-US" sz="1200" dirty="0"/>
          </a:p>
        </p:txBody>
      </p:sp>
      <p:sp>
        <p:nvSpPr>
          <p:cNvPr id="31" name="Text 29"/>
          <p:cNvSpPr/>
          <p:nvPr/>
        </p:nvSpPr>
        <p:spPr>
          <a:xfrm>
            <a:off x="987552" y="3456432"/>
            <a:ext cx="4572000" cy="173736"/>
          </a:xfrm>
          <a:prstGeom prst="rect">
            <a:avLst/>
          </a:prstGeom>
          <a:noFill/>
          <a:ln/>
        </p:spPr>
        <p:txBody>
          <a:bodyPr wrap="square" lIns="0" tIns="0" rIns="0" bIns="0" rtlCol="0" anchor="ctr"/>
          <a:lstStyle/>
          <a:p>
            <a:pPr marL="0" indent="0">
              <a:buNone/>
            </a:pPr>
            <a:r>
              <a:rPr lang="en-US" sz="1150" b="1" dirty="0">
                <a:solidFill>
                  <a:srgbClr val="F5F0E8"/>
                </a:solidFill>
                <a:latin typeface="Trebuchet MS" pitchFamily="34" charset="0"/>
                <a:ea typeface="Trebuchet MS" pitchFamily="34" charset="-122"/>
                <a:cs typeface="Trebuchet MS" pitchFamily="34" charset="-120"/>
              </a:rPr>
              <a:t>Limitations</a:t>
            </a:r>
            <a:endParaRPr lang="en-US" sz="1150" dirty="0"/>
          </a:p>
        </p:txBody>
      </p:sp>
      <p:sp>
        <p:nvSpPr>
          <p:cNvPr id="32" name="Text 30"/>
          <p:cNvSpPr/>
          <p:nvPr/>
        </p:nvSpPr>
        <p:spPr>
          <a:xfrm>
            <a:off x="987552" y="3630168"/>
            <a:ext cx="7772400" cy="128016"/>
          </a:xfrm>
          <a:prstGeom prst="rect">
            <a:avLst/>
          </a:prstGeom>
          <a:noFill/>
          <a:ln/>
        </p:spPr>
        <p:txBody>
          <a:bodyPr wrap="square" lIns="0" tIns="0" rIns="0" bIns="0" rtlCol="0" anchor="ctr"/>
          <a:lstStyle/>
          <a:p>
            <a:pPr marL="0" indent="0">
              <a:buNone/>
            </a:pPr>
            <a:r>
              <a:rPr lang="en-US" sz="850" i="1" dirty="0">
                <a:solidFill>
                  <a:srgbClr val="A0998F"/>
                </a:solidFill>
                <a:latin typeface="Calibri" pitchFamily="34" charset="0"/>
                <a:ea typeface="Calibri" pitchFamily="34" charset="-122"/>
                <a:cs typeface="Calibri" pitchFamily="34" charset="-120"/>
              </a:rPr>
              <a:t>Data constraints and study boundaries</a:t>
            </a:r>
            <a:endParaRPr lang="en-US" sz="850" dirty="0"/>
          </a:p>
        </p:txBody>
      </p:sp>
      <p:sp>
        <p:nvSpPr>
          <p:cNvPr id="33" name="Shape 31"/>
          <p:cNvSpPr/>
          <p:nvPr/>
        </p:nvSpPr>
        <p:spPr>
          <a:xfrm>
            <a:off x="365760" y="3826764"/>
            <a:ext cx="475488" cy="292608"/>
          </a:xfrm>
          <a:prstGeom prst="rect">
            <a:avLst/>
          </a:prstGeom>
          <a:solidFill>
            <a:srgbClr val="D4A017"/>
          </a:solidFill>
          <a:ln w="12700">
            <a:solidFill>
              <a:srgbClr val="D4A017"/>
            </a:solidFill>
            <a:prstDash val="solid"/>
          </a:ln>
        </p:spPr>
      </p:sp>
      <p:sp>
        <p:nvSpPr>
          <p:cNvPr id="34" name="Text 32"/>
          <p:cNvSpPr/>
          <p:nvPr/>
        </p:nvSpPr>
        <p:spPr>
          <a:xfrm>
            <a:off x="365760" y="3826764"/>
            <a:ext cx="475488"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08</a:t>
            </a:r>
            <a:endParaRPr lang="en-US" sz="1200" dirty="0"/>
          </a:p>
        </p:txBody>
      </p:sp>
      <p:sp>
        <p:nvSpPr>
          <p:cNvPr id="35" name="Text 33"/>
          <p:cNvSpPr/>
          <p:nvPr/>
        </p:nvSpPr>
        <p:spPr>
          <a:xfrm>
            <a:off x="987552" y="3835908"/>
            <a:ext cx="4572000" cy="173736"/>
          </a:xfrm>
          <a:prstGeom prst="rect">
            <a:avLst/>
          </a:prstGeom>
          <a:noFill/>
          <a:ln/>
        </p:spPr>
        <p:txBody>
          <a:bodyPr wrap="square" lIns="0" tIns="0" rIns="0" bIns="0" rtlCol="0" anchor="ctr"/>
          <a:lstStyle/>
          <a:p>
            <a:pPr marL="0" indent="0">
              <a:buNone/>
            </a:pPr>
            <a:r>
              <a:rPr lang="en-US" sz="1150" b="1" dirty="0">
                <a:solidFill>
                  <a:srgbClr val="F5F0E8"/>
                </a:solidFill>
                <a:latin typeface="Trebuchet MS" pitchFamily="34" charset="0"/>
                <a:ea typeface="Trebuchet MS" pitchFamily="34" charset="-122"/>
                <a:cs typeface="Trebuchet MS" pitchFamily="34" charset="-120"/>
              </a:rPr>
              <a:t>Summary</a:t>
            </a:r>
            <a:endParaRPr lang="en-US" sz="1150" dirty="0"/>
          </a:p>
        </p:txBody>
      </p:sp>
      <p:sp>
        <p:nvSpPr>
          <p:cNvPr id="36" name="Text 34"/>
          <p:cNvSpPr/>
          <p:nvPr/>
        </p:nvSpPr>
        <p:spPr>
          <a:xfrm>
            <a:off x="987552" y="4009644"/>
            <a:ext cx="7772400" cy="128016"/>
          </a:xfrm>
          <a:prstGeom prst="rect">
            <a:avLst/>
          </a:prstGeom>
          <a:noFill/>
          <a:ln/>
        </p:spPr>
        <p:txBody>
          <a:bodyPr wrap="square" lIns="0" tIns="0" rIns="0" bIns="0" rtlCol="0" anchor="ctr"/>
          <a:lstStyle/>
          <a:p>
            <a:pPr marL="0" indent="0">
              <a:buNone/>
            </a:pPr>
            <a:r>
              <a:rPr lang="en-US" sz="850" i="1" dirty="0">
                <a:solidFill>
                  <a:srgbClr val="A0998F"/>
                </a:solidFill>
                <a:latin typeface="Calibri" pitchFamily="34" charset="0"/>
                <a:ea typeface="Calibri" pitchFamily="34" charset="-122"/>
                <a:cs typeface="Calibri" pitchFamily="34" charset="-120"/>
              </a:rPr>
              <a:t>What the data revealed</a:t>
            </a:r>
            <a:endParaRPr lang="en-US" sz="850" dirty="0"/>
          </a:p>
        </p:txBody>
      </p:sp>
      <p:sp>
        <p:nvSpPr>
          <p:cNvPr id="37" name="Shape 35"/>
          <p:cNvSpPr/>
          <p:nvPr/>
        </p:nvSpPr>
        <p:spPr>
          <a:xfrm>
            <a:off x="365760" y="4206240"/>
            <a:ext cx="475488" cy="292608"/>
          </a:xfrm>
          <a:prstGeom prst="rect">
            <a:avLst/>
          </a:prstGeom>
          <a:solidFill>
            <a:srgbClr val="D4A017"/>
          </a:solidFill>
          <a:ln w="12700">
            <a:solidFill>
              <a:srgbClr val="D4A017"/>
            </a:solidFill>
            <a:prstDash val="solid"/>
          </a:ln>
        </p:spPr>
      </p:sp>
      <p:sp>
        <p:nvSpPr>
          <p:cNvPr id="38" name="Text 36"/>
          <p:cNvSpPr/>
          <p:nvPr/>
        </p:nvSpPr>
        <p:spPr>
          <a:xfrm>
            <a:off x="365760" y="4206240"/>
            <a:ext cx="475488"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09</a:t>
            </a:r>
            <a:endParaRPr lang="en-US" sz="1200" dirty="0"/>
          </a:p>
        </p:txBody>
      </p:sp>
      <p:sp>
        <p:nvSpPr>
          <p:cNvPr id="39" name="Text 37"/>
          <p:cNvSpPr/>
          <p:nvPr/>
        </p:nvSpPr>
        <p:spPr>
          <a:xfrm>
            <a:off x="987552" y="4215384"/>
            <a:ext cx="4572000" cy="173736"/>
          </a:xfrm>
          <a:prstGeom prst="rect">
            <a:avLst/>
          </a:prstGeom>
          <a:noFill/>
          <a:ln/>
        </p:spPr>
        <p:txBody>
          <a:bodyPr wrap="square" lIns="0" tIns="0" rIns="0" bIns="0" rtlCol="0" anchor="ctr"/>
          <a:lstStyle/>
          <a:p>
            <a:pPr marL="0" indent="0">
              <a:buNone/>
            </a:pPr>
            <a:r>
              <a:rPr lang="en-US" sz="1150" b="1" dirty="0">
                <a:solidFill>
                  <a:srgbClr val="F5F0E8"/>
                </a:solidFill>
                <a:latin typeface="Trebuchet MS" pitchFamily="34" charset="0"/>
                <a:ea typeface="Trebuchet MS" pitchFamily="34" charset="-122"/>
                <a:cs typeface="Trebuchet MS" pitchFamily="34" charset="-120"/>
              </a:rPr>
              <a:t>Conclusion</a:t>
            </a:r>
            <a:endParaRPr lang="en-US" sz="1150" dirty="0"/>
          </a:p>
        </p:txBody>
      </p:sp>
      <p:sp>
        <p:nvSpPr>
          <p:cNvPr id="40" name="Text 38"/>
          <p:cNvSpPr/>
          <p:nvPr/>
        </p:nvSpPr>
        <p:spPr>
          <a:xfrm>
            <a:off x="987552" y="4389120"/>
            <a:ext cx="7772400" cy="128016"/>
          </a:xfrm>
          <a:prstGeom prst="rect">
            <a:avLst/>
          </a:prstGeom>
          <a:noFill/>
          <a:ln/>
        </p:spPr>
        <p:txBody>
          <a:bodyPr wrap="square" lIns="0" tIns="0" rIns="0" bIns="0" rtlCol="0" anchor="ctr"/>
          <a:lstStyle/>
          <a:p>
            <a:pPr marL="0" indent="0">
              <a:buNone/>
            </a:pPr>
            <a:r>
              <a:rPr lang="en-US" sz="850" i="1" dirty="0">
                <a:solidFill>
                  <a:srgbClr val="A0998F"/>
                </a:solidFill>
                <a:latin typeface="Calibri" pitchFamily="34" charset="0"/>
                <a:ea typeface="Calibri" pitchFamily="34" charset="-122"/>
                <a:cs typeface="Calibri" pitchFamily="34" charset="-120"/>
              </a:rPr>
              <a:t>Final reflection on the study</a:t>
            </a:r>
            <a:endParaRPr lang="en-US" sz="850" dirty="0"/>
          </a:p>
        </p:txBody>
      </p:sp>
      <p:sp>
        <p:nvSpPr>
          <p:cNvPr id="41" name="Shape 39"/>
          <p:cNvSpPr/>
          <p:nvPr/>
        </p:nvSpPr>
        <p:spPr>
          <a:xfrm>
            <a:off x="365760" y="4585716"/>
            <a:ext cx="475488" cy="292608"/>
          </a:xfrm>
          <a:prstGeom prst="rect">
            <a:avLst/>
          </a:prstGeom>
          <a:solidFill>
            <a:srgbClr val="D4A017"/>
          </a:solidFill>
          <a:ln w="12700">
            <a:solidFill>
              <a:srgbClr val="D4A017"/>
            </a:solidFill>
            <a:prstDash val="solid"/>
          </a:ln>
        </p:spPr>
      </p:sp>
      <p:sp>
        <p:nvSpPr>
          <p:cNvPr id="42" name="Text 40"/>
          <p:cNvSpPr/>
          <p:nvPr/>
        </p:nvSpPr>
        <p:spPr>
          <a:xfrm>
            <a:off x="365760" y="4585716"/>
            <a:ext cx="475488"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10</a:t>
            </a:r>
            <a:endParaRPr lang="en-US" sz="1200" dirty="0"/>
          </a:p>
        </p:txBody>
      </p:sp>
      <p:sp>
        <p:nvSpPr>
          <p:cNvPr id="43" name="Text 41"/>
          <p:cNvSpPr/>
          <p:nvPr/>
        </p:nvSpPr>
        <p:spPr>
          <a:xfrm>
            <a:off x="987552" y="4594860"/>
            <a:ext cx="4572000" cy="173736"/>
          </a:xfrm>
          <a:prstGeom prst="rect">
            <a:avLst/>
          </a:prstGeom>
          <a:noFill/>
          <a:ln/>
        </p:spPr>
        <p:txBody>
          <a:bodyPr wrap="square" lIns="0" tIns="0" rIns="0" bIns="0" rtlCol="0" anchor="ctr"/>
          <a:lstStyle/>
          <a:p>
            <a:pPr marL="0" indent="0">
              <a:buNone/>
            </a:pPr>
            <a:r>
              <a:rPr lang="en-US" sz="1150" b="1" dirty="0">
                <a:solidFill>
                  <a:srgbClr val="F5F0E8"/>
                </a:solidFill>
                <a:latin typeface="Trebuchet MS" pitchFamily="34" charset="0"/>
                <a:ea typeface="Trebuchet MS" pitchFamily="34" charset="-122"/>
                <a:cs typeface="Trebuchet MS" pitchFamily="34" charset="-120"/>
              </a:rPr>
              <a:t>Recommendations</a:t>
            </a:r>
            <a:endParaRPr lang="en-US" sz="1150" dirty="0"/>
          </a:p>
        </p:txBody>
      </p:sp>
      <p:sp>
        <p:nvSpPr>
          <p:cNvPr id="44" name="Text 42"/>
          <p:cNvSpPr/>
          <p:nvPr/>
        </p:nvSpPr>
        <p:spPr>
          <a:xfrm>
            <a:off x="987552" y="4768596"/>
            <a:ext cx="7772400" cy="128016"/>
          </a:xfrm>
          <a:prstGeom prst="rect">
            <a:avLst/>
          </a:prstGeom>
          <a:noFill/>
          <a:ln/>
        </p:spPr>
        <p:txBody>
          <a:bodyPr wrap="square" lIns="0" tIns="0" rIns="0" bIns="0" rtlCol="0" anchor="ctr"/>
          <a:lstStyle/>
          <a:p>
            <a:pPr marL="0" indent="0">
              <a:buNone/>
            </a:pPr>
            <a:r>
              <a:rPr lang="en-US" sz="850" i="1" dirty="0">
                <a:solidFill>
                  <a:srgbClr val="A0998F"/>
                </a:solidFill>
                <a:latin typeface="Calibri" pitchFamily="34" charset="0"/>
                <a:ea typeface="Calibri" pitchFamily="34" charset="-122"/>
                <a:cs typeface="Calibri" pitchFamily="34" charset="-120"/>
              </a:rPr>
              <a:t>Policy directions for sustainable development</a:t>
            </a:r>
            <a:endParaRPr lang="en-US" sz="850" dirty="0"/>
          </a:p>
        </p:txBody>
      </p:sp>
      <p:sp>
        <p:nvSpPr>
          <p:cNvPr id="45" name="Text 43"/>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D4A017"/>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1A1208"/>
                </a:solidFill>
              </a:rPr>
              <a:t>01  INTRODUCTION</a:t>
            </a:r>
            <a:endParaRPr lang="en-US" sz="900" dirty="0"/>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D4A017"/>
                </a:solidFill>
                <a:latin typeface="Trebuchet MS" pitchFamily="34" charset="0"/>
                <a:ea typeface="Trebuchet MS" pitchFamily="34" charset="-122"/>
                <a:cs typeface="Trebuchet MS" pitchFamily="34" charset="-120"/>
              </a:rPr>
              <a:t>Background, Problem Statement and Aim</a:t>
            </a:r>
            <a:endParaRPr lang="en-US" sz="2600" dirty="0"/>
          </a:p>
        </p:txBody>
      </p:sp>
      <p:sp>
        <p:nvSpPr>
          <p:cNvPr id="5" name="Shape 3"/>
          <p:cNvSpPr/>
          <p:nvPr/>
        </p:nvSpPr>
        <p:spPr>
          <a:xfrm>
            <a:off x="347472" y="1353312"/>
            <a:ext cx="2788920" cy="3429000"/>
          </a:xfrm>
          <a:prstGeom prst="rect">
            <a:avLst/>
          </a:prstGeom>
          <a:solidFill>
            <a:srgbClr val="2D2010"/>
          </a:solidFill>
          <a:ln w="15240">
            <a:solidFill>
              <a:srgbClr val="D4A017"/>
            </a:solidFill>
            <a:prstDash val="solid"/>
          </a:ln>
        </p:spPr>
      </p:sp>
      <p:sp>
        <p:nvSpPr>
          <p:cNvPr id="6" name="Text 4"/>
          <p:cNvSpPr/>
          <p:nvPr/>
        </p:nvSpPr>
        <p:spPr>
          <a:xfrm>
            <a:off x="475488" y="1481328"/>
            <a:ext cx="2560320" cy="237744"/>
          </a:xfrm>
          <a:prstGeom prst="rect">
            <a:avLst/>
          </a:prstGeom>
          <a:noFill/>
          <a:ln/>
        </p:spPr>
        <p:txBody>
          <a:bodyPr wrap="square" lIns="0" tIns="0" rIns="0" bIns="0" rtlCol="0" anchor="ctr"/>
          <a:lstStyle/>
          <a:p>
            <a:pPr marL="0" indent="0">
              <a:buNone/>
            </a:pPr>
            <a:r>
              <a:rPr lang="en-US" sz="1050" b="1" dirty="0">
                <a:solidFill>
                  <a:srgbClr val="D4A017"/>
                </a:solidFill>
                <a:latin typeface="Trebuchet MS" pitchFamily="34" charset="0"/>
                <a:ea typeface="Trebuchet MS" pitchFamily="34" charset="-122"/>
                <a:cs typeface="Trebuchet MS" pitchFamily="34" charset="-120"/>
              </a:rPr>
              <a:t>BACKGROUND</a:t>
            </a:r>
            <a:endParaRPr lang="en-US" sz="1050" dirty="0"/>
          </a:p>
        </p:txBody>
      </p:sp>
      <p:sp>
        <p:nvSpPr>
          <p:cNvPr id="7" name="Text 5"/>
          <p:cNvSpPr/>
          <p:nvPr/>
        </p:nvSpPr>
        <p:spPr>
          <a:xfrm>
            <a:off x="475488" y="1755648"/>
            <a:ext cx="2560320" cy="2926080"/>
          </a:xfrm>
          <a:prstGeom prst="rect">
            <a:avLst/>
          </a:prstGeom>
          <a:noFill/>
          <a:ln/>
        </p:spPr>
        <p:txBody>
          <a:bodyPr wrap="square" rtlCol="0" anchor="ctr"/>
          <a:lstStyle/>
          <a:p>
            <a:pPr marL="342900" indent="-342900">
              <a:lnSpc>
                <a:spcPct val="115000"/>
              </a:lnSpc>
              <a:spcAft>
                <a:spcPts val="600"/>
              </a:spcAft>
              <a:buSzPct val="100000"/>
              <a:buChar char="•"/>
            </a:pPr>
            <a:r>
              <a:rPr lang="en-US" sz="1050" dirty="0">
                <a:solidFill>
                  <a:srgbClr val="F5F0E8"/>
                </a:solidFill>
                <a:latin typeface="Calibri" pitchFamily="34" charset="0"/>
                <a:ea typeface="Calibri" pitchFamily="34" charset="-122"/>
                <a:cs typeface="Calibri" pitchFamily="34" charset="-120"/>
              </a:rPr>
              <a:t>Africa has 1.4 billion people across 54 nations</a:t>
            </a:r>
            <a:endParaRPr lang="en-US" sz="1050" dirty="0"/>
          </a:p>
          <a:p>
            <a:pPr marL="342900" indent="-342900">
              <a:lnSpc>
                <a:spcPct val="115000"/>
              </a:lnSpc>
              <a:spcAft>
                <a:spcPts val="600"/>
              </a:spcAft>
              <a:buSzPct val="100000"/>
              <a:buChar char="•"/>
            </a:pPr>
            <a:r>
              <a:rPr lang="en-US" sz="1050" dirty="0">
                <a:solidFill>
                  <a:srgbClr val="F5F0E8"/>
                </a:solidFill>
                <a:latin typeface="Calibri" pitchFamily="34" charset="0"/>
                <a:ea typeface="Calibri" pitchFamily="34" charset="-122"/>
                <a:cs typeface="Calibri" pitchFamily="34" charset="-120"/>
              </a:rPr>
              <a:t>Since 2000, many African economies recorded the fastest GDP growth rates globally</a:t>
            </a:r>
            <a:endParaRPr lang="en-US" sz="1050" dirty="0"/>
          </a:p>
          <a:p>
            <a:pPr marL="342900" indent="-342900">
              <a:lnSpc>
                <a:spcPct val="115000"/>
              </a:lnSpc>
              <a:spcAft>
                <a:spcPts val="600"/>
              </a:spcAft>
              <a:buSzPct val="100000"/>
              <a:buChar char="•"/>
            </a:pPr>
            <a:r>
              <a:rPr lang="en-US" sz="1050" dirty="0">
                <a:solidFill>
                  <a:srgbClr val="F5F0E8"/>
                </a:solidFill>
                <a:latin typeface="Calibri" pitchFamily="34" charset="0"/>
                <a:ea typeface="Calibri" pitchFamily="34" charset="-122"/>
                <a:cs typeface="Calibri" pitchFamily="34" charset="-120"/>
              </a:rPr>
              <a:t>Africa contributes less than 4% of global CO2 despite 17% of world population</a:t>
            </a:r>
            <a:endParaRPr lang="en-US" sz="1050" dirty="0"/>
          </a:p>
          <a:p>
            <a:pPr marL="342900" indent="-342900">
              <a:lnSpc>
                <a:spcPct val="115000"/>
              </a:lnSpc>
              <a:spcAft>
                <a:spcPts val="600"/>
              </a:spcAft>
              <a:buSzPct val="100000"/>
              <a:buChar char="•"/>
            </a:pPr>
            <a:r>
              <a:rPr lang="en-US" sz="1050" dirty="0">
                <a:solidFill>
                  <a:srgbClr val="F5F0E8"/>
                </a:solidFill>
                <a:latin typeface="Calibri" pitchFamily="34" charset="0"/>
                <a:ea typeface="Calibri" pitchFamily="34" charset="-122"/>
                <a:cs typeface="Calibri" pitchFamily="34" charset="-120"/>
              </a:rPr>
              <a:t>The continent is highly vulnerable to climate impacts it did not cause</a:t>
            </a:r>
            <a:endParaRPr lang="en-US" sz="1050" dirty="0"/>
          </a:p>
        </p:txBody>
      </p:sp>
      <p:sp>
        <p:nvSpPr>
          <p:cNvPr id="8" name="Shape 6"/>
          <p:cNvSpPr/>
          <p:nvPr/>
        </p:nvSpPr>
        <p:spPr>
          <a:xfrm>
            <a:off x="3273552" y="1353312"/>
            <a:ext cx="2788920" cy="1600200"/>
          </a:xfrm>
          <a:prstGeom prst="rect">
            <a:avLst/>
          </a:prstGeom>
          <a:solidFill>
            <a:srgbClr val="2D2010"/>
          </a:solidFill>
          <a:ln w="15240">
            <a:solidFill>
              <a:srgbClr val="D4A017"/>
            </a:solidFill>
            <a:prstDash val="solid"/>
          </a:ln>
        </p:spPr>
      </p:sp>
      <p:sp>
        <p:nvSpPr>
          <p:cNvPr id="9" name="Text 7"/>
          <p:cNvSpPr/>
          <p:nvPr/>
        </p:nvSpPr>
        <p:spPr>
          <a:xfrm>
            <a:off x="3401568" y="1481328"/>
            <a:ext cx="2542032" cy="237744"/>
          </a:xfrm>
          <a:prstGeom prst="rect">
            <a:avLst/>
          </a:prstGeom>
          <a:noFill/>
          <a:ln/>
        </p:spPr>
        <p:txBody>
          <a:bodyPr wrap="square" lIns="0" tIns="0" rIns="0" bIns="0" rtlCol="0" anchor="ctr"/>
          <a:lstStyle/>
          <a:p>
            <a:pPr marL="0" indent="0">
              <a:buNone/>
            </a:pPr>
            <a:r>
              <a:rPr lang="en-US" sz="1050" b="1" dirty="0">
                <a:solidFill>
                  <a:srgbClr val="C1440E"/>
                </a:solidFill>
                <a:latin typeface="Trebuchet MS" pitchFamily="34" charset="0"/>
                <a:ea typeface="Trebuchet MS" pitchFamily="34" charset="-122"/>
                <a:cs typeface="Trebuchet MS" pitchFamily="34" charset="-120"/>
              </a:rPr>
              <a:t>PROBLEM STATEMENT</a:t>
            </a:r>
            <a:endParaRPr lang="en-US" sz="1050" dirty="0"/>
          </a:p>
        </p:txBody>
      </p:sp>
      <p:sp>
        <p:nvSpPr>
          <p:cNvPr id="10" name="Text 8"/>
          <p:cNvSpPr/>
          <p:nvPr/>
        </p:nvSpPr>
        <p:spPr>
          <a:xfrm>
            <a:off x="3401568" y="1755648"/>
            <a:ext cx="2542032" cy="1133856"/>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As African economies expand, CO2 emissions are rising. It is not clearly understood whether GDP growth is the primary driver, which countries are most at risk, and which nations are successfully decoupling.</a:t>
            </a:r>
            <a:endParaRPr lang="en-US" sz="1000" dirty="0"/>
          </a:p>
        </p:txBody>
      </p:sp>
      <p:sp>
        <p:nvSpPr>
          <p:cNvPr id="11" name="Shape 9"/>
          <p:cNvSpPr/>
          <p:nvPr/>
        </p:nvSpPr>
        <p:spPr>
          <a:xfrm>
            <a:off x="3273552" y="3090672"/>
            <a:ext cx="2788920" cy="1691640"/>
          </a:xfrm>
          <a:prstGeom prst="rect">
            <a:avLst/>
          </a:prstGeom>
          <a:solidFill>
            <a:srgbClr val="2D2010"/>
          </a:solidFill>
          <a:ln w="15240">
            <a:solidFill>
              <a:srgbClr val="D4A017"/>
            </a:solidFill>
            <a:prstDash val="solid"/>
          </a:ln>
        </p:spPr>
      </p:sp>
      <p:sp>
        <p:nvSpPr>
          <p:cNvPr id="12" name="Text 10"/>
          <p:cNvSpPr/>
          <p:nvPr/>
        </p:nvSpPr>
        <p:spPr>
          <a:xfrm>
            <a:off x="3401568" y="3218688"/>
            <a:ext cx="2542032" cy="237744"/>
          </a:xfrm>
          <a:prstGeom prst="rect">
            <a:avLst/>
          </a:prstGeom>
          <a:noFill/>
          <a:ln/>
        </p:spPr>
        <p:txBody>
          <a:bodyPr wrap="square" lIns="0" tIns="0" rIns="0" bIns="0" rtlCol="0" anchor="ctr"/>
          <a:lstStyle/>
          <a:p>
            <a:pPr marL="0" indent="0">
              <a:buNone/>
            </a:pPr>
            <a:r>
              <a:rPr lang="en-US" sz="1050" b="1" dirty="0">
                <a:solidFill>
                  <a:srgbClr val="4A7C59"/>
                </a:solidFill>
                <a:latin typeface="Trebuchet MS" pitchFamily="34" charset="0"/>
                <a:ea typeface="Trebuchet MS" pitchFamily="34" charset="-122"/>
                <a:cs typeface="Trebuchet MS" pitchFamily="34" charset="-120"/>
              </a:rPr>
              <a:t>AIM OF THE STUDY</a:t>
            </a:r>
            <a:endParaRPr lang="en-US" sz="1050" dirty="0"/>
          </a:p>
        </p:txBody>
      </p:sp>
      <p:sp>
        <p:nvSpPr>
          <p:cNvPr id="13" name="Text 11"/>
          <p:cNvSpPr/>
          <p:nvPr/>
        </p:nvSpPr>
        <p:spPr>
          <a:xfrm>
            <a:off x="3401568" y="3493008"/>
            <a:ext cx="2542032" cy="1207008"/>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To conduct a data-driven investigation into the relationship between carbon dioxide emissions and economic growth across 52 African nations from 2000 to 2023, and generate actionable insights to inform sustainable development policy.</a:t>
            </a:r>
            <a:endParaRPr lang="en-US" sz="1000" dirty="0"/>
          </a:p>
        </p:txBody>
      </p:sp>
      <p:sp>
        <p:nvSpPr>
          <p:cNvPr id="14" name="Shape 12"/>
          <p:cNvSpPr/>
          <p:nvPr/>
        </p:nvSpPr>
        <p:spPr>
          <a:xfrm>
            <a:off x="6199632" y="1353312"/>
            <a:ext cx="2606040" cy="3429000"/>
          </a:xfrm>
          <a:prstGeom prst="rect">
            <a:avLst/>
          </a:prstGeom>
          <a:solidFill>
            <a:srgbClr val="2D2010"/>
          </a:solidFill>
          <a:ln w="15240">
            <a:solidFill>
              <a:srgbClr val="D4A017"/>
            </a:solidFill>
            <a:prstDash val="solid"/>
          </a:ln>
        </p:spPr>
      </p:sp>
      <p:sp>
        <p:nvSpPr>
          <p:cNvPr id="15" name="Text 13"/>
          <p:cNvSpPr/>
          <p:nvPr/>
        </p:nvSpPr>
        <p:spPr>
          <a:xfrm>
            <a:off x="6327648" y="1481328"/>
            <a:ext cx="2359152" cy="237744"/>
          </a:xfrm>
          <a:prstGeom prst="rect">
            <a:avLst/>
          </a:prstGeom>
          <a:noFill/>
          <a:ln/>
        </p:spPr>
        <p:txBody>
          <a:bodyPr wrap="square" lIns="0" tIns="0" rIns="0" bIns="0" rtlCol="0" anchor="ctr"/>
          <a:lstStyle/>
          <a:p>
            <a:pPr marL="0" indent="0">
              <a:buNone/>
            </a:pPr>
            <a:r>
              <a:rPr lang="en-US" sz="1050" b="1" dirty="0">
                <a:solidFill>
                  <a:srgbClr val="D4A017"/>
                </a:solidFill>
                <a:latin typeface="Trebuchet MS" pitchFamily="34" charset="0"/>
                <a:ea typeface="Trebuchet MS" pitchFamily="34" charset="-122"/>
                <a:cs typeface="Trebuchet MS" pitchFamily="34" charset="-120"/>
              </a:rPr>
              <a:t>RESEARCH QUESTIONS</a:t>
            </a:r>
            <a:endParaRPr lang="en-US" sz="1050" dirty="0"/>
          </a:p>
        </p:txBody>
      </p:sp>
      <p:sp>
        <p:nvSpPr>
          <p:cNvPr id="16" name="Text 14"/>
          <p:cNvSpPr/>
          <p:nvPr/>
        </p:nvSpPr>
        <p:spPr>
          <a:xfrm>
            <a:off x="6327648" y="1755648"/>
            <a:ext cx="2359152" cy="2926080"/>
          </a:xfrm>
          <a:prstGeom prst="rect">
            <a:avLst/>
          </a:prstGeom>
          <a:noFill/>
          <a:ln/>
        </p:spPr>
        <p:txBody>
          <a:bodyPr wrap="square" rtlCol="0" anchor="ctr"/>
          <a:lstStyle/>
          <a:p>
            <a:pPr marL="342900" indent="-342900">
              <a:lnSpc>
                <a:spcPct val="115000"/>
              </a:lnSpc>
              <a:spcAft>
                <a:spcPts val="600"/>
              </a:spcAft>
              <a:buSzPct val="100000"/>
              <a:buChar char="•"/>
            </a:pPr>
            <a:r>
              <a:rPr lang="en-US" sz="1050" dirty="0">
                <a:solidFill>
                  <a:srgbClr val="F5F0E8"/>
                </a:solidFill>
                <a:latin typeface="Calibri" pitchFamily="34" charset="0"/>
                <a:ea typeface="Calibri" pitchFamily="34" charset="-122"/>
                <a:cs typeface="Calibri" pitchFamily="34" charset="-120"/>
              </a:rPr>
              <a:t>Are African CO2 emissions increasing over time?</a:t>
            </a:r>
            <a:endParaRPr lang="en-US" sz="1050" dirty="0"/>
          </a:p>
          <a:p>
            <a:pPr marL="342900" indent="-342900">
              <a:lnSpc>
                <a:spcPct val="115000"/>
              </a:lnSpc>
              <a:spcAft>
                <a:spcPts val="600"/>
              </a:spcAft>
              <a:buSzPct val="100000"/>
              <a:buChar char="•"/>
            </a:pPr>
            <a:r>
              <a:rPr lang="en-US" sz="1050" dirty="0">
                <a:solidFill>
                  <a:srgbClr val="F5F0E8"/>
                </a:solidFill>
                <a:latin typeface="Calibri" pitchFamily="34" charset="0"/>
                <a:ea typeface="Calibri" pitchFamily="34" charset="-122"/>
                <a:cs typeface="Calibri" pitchFamily="34" charset="-120"/>
              </a:rPr>
              <a:t>Is GDP growth the primary emission driver?</a:t>
            </a:r>
            <a:endParaRPr lang="en-US" sz="1050" dirty="0"/>
          </a:p>
          <a:p>
            <a:pPr marL="342900" indent="-342900">
              <a:lnSpc>
                <a:spcPct val="115000"/>
              </a:lnSpc>
              <a:spcAft>
                <a:spcPts val="600"/>
              </a:spcAft>
              <a:buSzPct val="100000"/>
              <a:buChar char="•"/>
            </a:pPr>
            <a:r>
              <a:rPr lang="en-US" sz="1050" dirty="0">
                <a:solidFill>
                  <a:srgbClr val="F5F0E8"/>
                </a:solidFill>
                <a:latin typeface="Calibri" pitchFamily="34" charset="0"/>
                <a:ea typeface="Calibri" pitchFamily="34" charset="-122"/>
                <a:cs typeface="Calibri" pitchFamily="34" charset="-120"/>
              </a:rPr>
              <a:t>Which countries and regions are most at risk?</a:t>
            </a:r>
            <a:endParaRPr lang="en-US" sz="1050" dirty="0"/>
          </a:p>
          <a:p>
            <a:pPr marL="342900" indent="-342900">
              <a:lnSpc>
                <a:spcPct val="115000"/>
              </a:lnSpc>
              <a:spcAft>
                <a:spcPts val="600"/>
              </a:spcAft>
              <a:buSzPct val="100000"/>
              <a:buChar char="•"/>
            </a:pPr>
            <a:r>
              <a:rPr lang="en-US" sz="1050" dirty="0">
                <a:solidFill>
                  <a:srgbClr val="F5F0E8"/>
                </a:solidFill>
                <a:latin typeface="Calibri" pitchFamily="34" charset="0"/>
                <a:ea typeface="Calibri" pitchFamily="34" charset="-122"/>
                <a:cs typeface="Calibri" pitchFamily="34" charset="-120"/>
              </a:rPr>
              <a:t>Which countries are successfully decoupling growth from emissions?</a:t>
            </a:r>
            <a:endParaRPr lang="en-US" sz="1050" dirty="0"/>
          </a:p>
        </p:txBody>
      </p:sp>
      <p:sp>
        <p:nvSpPr>
          <p:cNvPr id="17" name="Text 15"/>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D4A017"/>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1A1208"/>
                </a:solidFill>
              </a:rPr>
              <a:t>01  INTRODUCTION</a:t>
            </a:r>
            <a:endParaRPr lang="en-US" sz="900" dirty="0"/>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D4A017"/>
                </a:solidFill>
                <a:latin typeface="Trebuchet MS" pitchFamily="34" charset="0"/>
                <a:ea typeface="Trebuchet MS" pitchFamily="34" charset="-122"/>
                <a:cs typeface="Trebuchet MS" pitchFamily="34" charset="-120"/>
              </a:rPr>
              <a:t>Project Objectives</a:t>
            </a:r>
            <a:endParaRPr lang="en-US" sz="2600" dirty="0"/>
          </a:p>
        </p:txBody>
      </p:sp>
      <p:sp>
        <p:nvSpPr>
          <p:cNvPr id="5" name="Text 3"/>
          <p:cNvSpPr/>
          <p:nvPr/>
        </p:nvSpPr>
        <p:spPr>
          <a:xfrm>
            <a:off x="365760" y="1078992"/>
            <a:ext cx="8412480" cy="274320"/>
          </a:xfrm>
          <a:prstGeom prst="rect">
            <a:avLst/>
          </a:prstGeom>
          <a:noFill/>
          <a:ln/>
        </p:spPr>
        <p:txBody>
          <a:bodyPr wrap="square" lIns="0" tIns="0" rIns="0" bIns="0" rtlCol="0" anchor="ctr"/>
          <a:lstStyle/>
          <a:p>
            <a:pPr marL="0" indent="0">
              <a:buNone/>
            </a:pPr>
            <a:r>
              <a:rPr lang="en-US" sz="1200" i="1" dirty="0">
                <a:solidFill>
                  <a:srgbClr val="A0998F"/>
                </a:solidFill>
                <a:latin typeface="Calibri" pitchFamily="34" charset="0"/>
                <a:ea typeface="Calibri" pitchFamily="34" charset="-122"/>
                <a:cs typeface="Calibri" pitchFamily="34" charset="-120"/>
              </a:rPr>
              <a:t>Five measurable objectives guiding the entire analysis</a:t>
            </a:r>
            <a:endParaRPr lang="en-US" sz="1200" dirty="0"/>
          </a:p>
        </p:txBody>
      </p:sp>
      <p:sp>
        <p:nvSpPr>
          <p:cNvPr id="6" name="Shape 4"/>
          <p:cNvSpPr/>
          <p:nvPr/>
        </p:nvSpPr>
        <p:spPr>
          <a:xfrm>
            <a:off x="347472" y="1353312"/>
            <a:ext cx="2788920" cy="1627632"/>
          </a:xfrm>
          <a:prstGeom prst="rect">
            <a:avLst/>
          </a:prstGeom>
          <a:solidFill>
            <a:srgbClr val="2D2010"/>
          </a:solidFill>
          <a:ln w="15240">
            <a:solidFill>
              <a:srgbClr val="D4A017"/>
            </a:solidFill>
            <a:prstDash val="solid"/>
          </a:ln>
        </p:spPr>
      </p:sp>
      <p:sp>
        <p:nvSpPr>
          <p:cNvPr id="7" name="Shape 5"/>
          <p:cNvSpPr/>
          <p:nvPr/>
        </p:nvSpPr>
        <p:spPr>
          <a:xfrm>
            <a:off x="347472" y="1353312"/>
            <a:ext cx="566928" cy="347472"/>
          </a:xfrm>
          <a:prstGeom prst="rect">
            <a:avLst/>
          </a:prstGeom>
          <a:solidFill>
            <a:srgbClr val="D4A017"/>
          </a:solidFill>
          <a:ln w="12700">
            <a:solidFill>
              <a:srgbClr val="D4A017"/>
            </a:solidFill>
            <a:prstDash val="solid"/>
          </a:ln>
        </p:spPr>
      </p:sp>
      <p:sp>
        <p:nvSpPr>
          <p:cNvPr id="8" name="Text 6"/>
          <p:cNvSpPr/>
          <p:nvPr/>
        </p:nvSpPr>
        <p:spPr>
          <a:xfrm>
            <a:off x="347472" y="1353312"/>
            <a:ext cx="566928" cy="347472"/>
          </a:xfrm>
          <a:prstGeom prst="rect">
            <a:avLst/>
          </a:prstGeom>
          <a:noFill/>
          <a:ln/>
        </p:spPr>
        <p:txBody>
          <a:bodyPr wrap="square" lIns="0" tIns="0" rIns="0" bIns="0" rtlCol="0" anchor="ctr"/>
          <a:lstStyle/>
          <a:p>
            <a:pPr marL="0" indent="0" algn="ctr">
              <a:buNone/>
            </a:pPr>
            <a:r>
              <a:rPr lang="en-US" sz="1600" b="1" dirty="0">
                <a:solidFill>
                  <a:srgbClr val="1A1208"/>
                </a:solidFill>
                <a:latin typeface="Trebuchet MS" pitchFamily="34" charset="0"/>
                <a:ea typeface="Trebuchet MS" pitchFamily="34" charset="-122"/>
                <a:cs typeface="Trebuchet MS" pitchFamily="34" charset="-120"/>
              </a:rPr>
              <a:t>01</a:t>
            </a:r>
            <a:endParaRPr lang="en-US" sz="1600" dirty="0"/>
          </a:p>
        </p:txBody>
      </p:sp>
      <p:sp>
        <p:nvSpPr>
          <p:cNvPr id="9" name="Text 7"/>
          <p:cNvSpPr/>
          <p:nvPr/>
        </p:nvSpPr>
        <p:spPr>
          <a:xfrm>
            <a:off x="438912" y="1755648"/>
            <a:ext cx="2606040" cy="292608"/>
          </a:xfrm>
          <a:prstGeom prst="rect">
            <a:avLst/>
          </a:prstGeom>
          <a:noFill/>
          <a:ln/>
        </p:spPr>
        <p:txBody>
          <a:bodyPr wrap="square" lIns="0" tIns="0" rIns="0" bIns="0" rtlCol="0" anchor="ctr"/>
          <a:lstStyle/>
          <a:p>
            <a:pPr marL="0" indent="0">
              <a:buNone/>
            </a:pPr>
            <a:r>
              <a:rPr lang="en-US" sz="1200" b="1" dirty="0">
                <a:solidFill>
                  <a:srgbClr val="D4A017"/>
                </a:solidFill>
                <a:latin typeface="Trebuchet MS" pitchFamily="34" charset="0"/>
                <a:ea typeface="Trebuchet MS" pitchFamily="34" charset="-122"/>
                <a:cs typeface="Trebuchet MS" pitchFamily="34" charset="-120"/>
              </a:rPr>
              <a:t>Map CO2 Trends</a:t>
            </a:r>
            <a:endParaRPr lang="en-US" sz="1200" dirty="0"/>
          </a:p>
        </p:txBody>
      </p:sp>
      <p:sp>
        <p:nvSpPr>
          <p:cNvPr id="10" name="Text 8"/>
          <p:cNvSpPr/>
          <p:nvPr/>
        </p:nvSpPr>
        <p:spPr>
          <a:xfrm>
            <a:off x="438912" y="2066544"/>
            <a:ext cx="2606040" cy="841248"/>
          </a:xfrm>
          <a:prstGeom prst="rect">
            <a:avLst/>
          </a:prstGeom>
          <a:noFill/>
          <a:ln/>
        </p:spPr>
        <p:txBody>
          <a:bodyPr wrap="square" lIns="0" tIns="0" rIns="0" bIns="0" rtlCol="0" anchor="ctr"/>
          <a:lstStyle/>
          <a:p>
            <a:pPr marL="0" indent="0">
              <a:buNone/>
            </a:pPr>
            <a:r>
              <a:rPr lang="en-US" sz="1050" dirty="0">
                <a:solidFill>
                  <a:srgbClr val="F5F0E8"/>
                </a:solidFill>
                <a:latin typeface="Calibri" pitchFamily="34" charset="0"/>
                <a:ea typeface="Calibri" pitchFamily="34" charset="-122"/>
                <a:cs typeface="Calibri" pitchFamily="34" charset="-120"/>
              </a:rPr>
              <a:t>Analyze carbon dioxide emission trends across 52 African countries from 2000 to 2023</a:t>
            </a:r>
            <a:endParaRPr lang="en-US" sz="1050" dirty="0"/>
          </a:p>
        </p:txBody>
      </p:sp>
      <p:sp>
        <p:nvSpPr>
          <p:cNvPr id="11" name="Shape 9"/>
          <p:cNvSpPr/>
          <p:nvPr/>
        </p:nvSpPr>
        <p:spPr>
          <a:xfrm>
            <a:off x="3291840" y="1353312"/>
            <a:ext cx="2788920" cy="1627632"/>
          </a:xfrm>
          <a:prstGeom prst="rect">
            <a:avLst/>
          </a:prstGeom>
          <a:solidFill>
            <a:srgbClr val="2D2010"/>
          </a:solidFill>
          <a:ln w="15240">
            <a:solidFill>
              <a:srgbClr val="D4A017"/>
            </a:solidFill>
            <a:prstDash val="solid"/>
          </a:ln>
        </p:spPr>
      </p:sp>
      <p:sp>
        <p:nvSpPr>
          <p:cNvPr id="12" name="Shape 10"/>
          <p:cNvSpPr/>
          <p:nvPr/>
        </p:nvSpPr>
        <p:spPr>
          <a:xfrm>
            <a:off x="3291840" y="1353312"/>
            <a:ext cx="566928" cy="347472"/>
          </a:xfrm>
          <a:prstGeom prst="rect">
            <a:avLst/>
          </a:prstGeom>
          <a:solidFill>
            <a:srgbClr val="D4A017"/>
          </a:solidFill>
          <a:ln w="12700">
            <a:solidFill>
              <a:srgbClr val="D4A017"/>
            </a:solidFill>
            <a:prstDash val="solid"/>
          </a:ln>
        </p:spPr>
      </p:sp>
      <p:sp>
        <p:nvSpPr>
          <p:cNvPr id="13" name="Text 11"/>
          <p:cNvSpPr/>
          <p:nvPr/>
        </p:nvSpPr>
        <p:spPr>
          <a:xfrm>
            <a:off x="3291840" y="1353312"/>
            <a:ext cx="566928" cy="347472"/>
          </a:xfrm>
          <a:prstGeom prst="rect">
            <a:avLst/>
          </a:prstGeom>
          <a:noFill/>
          <a:ln/>
        </p:spPr>
        <p:txBody>
          <a:bodyPr wrap="square" lIns="0" tIns="0" rIns="0" bIns="0" rtlCol="0" anchor="ctr"/>
          <a:lstStyle/>
          <a:p>
            <a:pPr marL="0" indent="0" algn="ctr">
              <a:buNone/>
            </a:pPr>
            <a:r>
              <a:rPr lang="en-US" sz="1600" b="1" dirty="0">
                <a:solidFill>
                  <a:srgbClr val="1A1208"/>
                </a:solidFill>
                <a:latin typeface="Trebuchet MS" pitchFamily="34" charset="0"/>
                <a:ea typeface="Trebuchet MS" pitchFamily="34" charset="-122"/>
                <a:cs typeface="Trebuchet MS" pitchFamily="34" charset="-120"/>
              </a:rPr>
              <a:t>02</a:t>
            </a:r>
            <a:endParaRPr lang="en-US" sz="1600" dirty="0"/>
          </a:p>
        </p:txBody>
      </p:sp>
      <p:sp>
        <p:nvSpPr>
          <p:cNvPr id="14" name="Text 12"/>
          <p:cNvSpPr/>
          <p:nvPr/>
        </p:nvSpPr>
        <p:spPr>
          <a:xfrm>
            <a:off x="3383280" y="1755648"/>
            <a:ext cx="2606040" cy="292608"/>
          </a:xfrm>
          <a:prstGeom prst="rect">
            <a:avLst/>
          </a:prstGeom>
          <a:noFill/>
          <a:ln/>
        </p:spPr>
        <p:txBody>
          <a:bodyPr wrap="square" lIns="0" tIns="0" rIns="0" bIns="0" rtlCol="0" anchor="ctr"/>
          <a:lstStyle/>
          <a:p>
            <a:pPr marL="0" indent="0">
              <a:buNone/>
            </a:pPr>
            <a:r>
              <a:rPr lang="en-US" sz="1200" b="1" dirty="0">
                <a:solidFill>
                  <a:srgbClr val="D4A017"/>
                </a:solidFill>
                <a:latin typeface="Trebuchet MS" pitchFamily="34" charset="0"/>
                <a:ea typeface="Trebuchet MS" pitchFamily="34" charset="-122"/>
                <a:cs typeface="Trebuchet MS" pitchFamily="34" charset="-120"/>
              </a:rPr>
              <a:t>GDP Correlation</a:t>
            </a:r>
            <a:endParaRPr lang="en-US" sz="1200" dirty="0"/>
          </a:p>
        </p:txBody>
      </p:sp>
      <p:sp>
        <p:nvSpPr>
          <p:cNvPr id="15" name="Text 13"/>
          <p:cNvSpPr/>
          <p:nvPr/>
        </p:nvSpPr>
        <p:spPr>
          <a:xfrm>
            <a:off x="3383280" y="2066544"/>
            <a:ext cx="2606040" cy="841248"/>
          </a:xfrm>
          <a:prstGeom prst="rect">
            <a:avLst/>
          </a:prstGeom>
          <a:noFill/>
          <a:ln/>
        </p:spPr>
        <p:txBody>
          <a:bodyPr wrap="square" lIns="0" tIns="0" rIns="0" bIns="0" rtlCol="0" anchor="ctr"/>
          <a:lstStyle/>
          <a:p>
            <a:pPr marL="0" indent="0">
              <a:buNone/>
            </a:pPr>
            <a:r>
              <a:rPr lang="en-US" sz="1050" dirty="0">
                <a:solidFill>
                  <a:srgbClr val="F5F0E8"/>
                </a:solidFill>
                <a:latin typeface="Calibri" pitchFamily="34" charset="0"/>
                <a:ea typeface="Calibri" pitchFamily="34" charset="-122"/>
                <a:cs typeface="Calibri" pitchFamily="34" charset="-120"/>
              </a:rPr>
              <a:t>Examine the relationship between GDP growth and CO2 emissions to determine the strength of economic influence</a:t>
            </a:r>
            <a:endParaRPr lang="en-US" sz="1050" dirty="0"/>
          </a:p>
        </p:txBody>
      </p:sp>
      <p:sp>
        <p:nvSpPr>
          <p:cNvPr id="16" name="Shape 14"/>
          <p:cNvSpPr/>
          <p:nvPr/>
        </p:nvSpPr>
        <p:spPr>
          <a:xfrm>
            <a:off x="6236208" y="1353312"/>
            <a:ext cx="2788920" cy="1627632"/>
          </a:xfrm>
          <a:prstGeom prst="rect">
            <a:avLst/>
          </a:prstGeom>
          <a:solidFill>
            <a:srgbClr val="2D2010"/>
          </a:solidFill>
          <a:ln w="15240">
            <a:solidFill>
              <a:srgbClr val="D4A017"/>
            </a:solidFill>
            <a:prstDash val="solid"/>
          </a:ln>
        </p:spPr>
      </p:sp>
      <p:sp>
        <p:nvSpPr>
          <p:cNvPr id="17" name="Shape 15"/>
          <p:cNvSpPr/>
          <p:nvPr/>
        </p:nvSpPr>
        <p:spPr>
          <a:xfrm>
            <a:off x="6236208" y="1353312"/>
            <a:ext cx="566928" cy="347472"/>
          </a:xfrm>
          <a:prstGeom prst="rect">
            <a:avLst/>
          </a:prstGeom>
          <a:solidFill>
            <a:srgbClr val="D4A017"/>
          </a:solidFill>
          <a:ln w="12700">
            <a:solidFill>
              <a:srgbClr val="D4A017"/>
            </a:solidFill>
            <a:prstDash val="solid"/>
          </a:ln>
        </p:spPr>
      </p:sp>
      <p:sp>
        <p:nvSpPr>
          <p:cNvPr id="18" name="Text 16"/>
          <p:cNvSpPr/>
          <p:nvPr/>
        </p:nvSpPr>
        <p:spPr>
          <a:xfrm>
            <a:off x="6236208" y="1353312"/>
            <a:ext cx="566928" cy="347472"/>
          </a:xfrm>
          <a:prstGeom prst="rect">
            <a:avLst/>
          </a:prstGeom>
          <a:noFill/>
          <a:ln/>
        </p:spPr>
        <p:txBody>
          <a:bodyPr wrap="square" lIns="0" tIns="0" rIns="0" bIns="0" rtlCol="0" anchor="ctr"/>
          <a:lstStyle/>
          <a:p>
            <a:pPr marL="0" indent="0" algn="ctr">
              <a:buNone/>
            </a:pPr>
            <a:r>
              <a:rPr lang="en-US" sz="1600" b="1" dirty="0">
                <a:solidFill>
                  <a:srgbClr val="1A1208"/>
                </a:solidFill>
                <a:latin typeface="Trebuchet MS" pitchFamily="34" charset="0"/>
                <a:ea typeface="Trebuchet MS" pitchFamily="34" charset="-122"/>
                <a:cs typeface="Trebuchet MS" pitchFamily="34" charset="-120"/>
              </a:rPr>
              <a:t>03</a:t>
            </a:r>
            <a:endParaRPr lang="en-US" sz="1600" dirty="0"/>
          </a:p>
        </p:txBody>
      </p:sp>
      <p:sp>
        <p:nvSpPr>
          <p:cNvPr id="19" name="Text 17"/>
          <p:cNvSpPr/>
          <p:nvPr/>
        </p:nvSpPr>
        <p:spPr>
          <a:xfrm>
            <a:off x="6327648" y="1755648"/>
            <a:ext cx="2606040" cy="292608"/>
          </a:xfrm>
          <a:prstGeom prst="rect">
            <a:avLst/>
          </a:prstGeom>
          <a:noFill/>
          <a:ln/>
        </p:spPr>
        <p:txBody>
          <a:bodyPr wrap="square" lIns="0" tIns="0" rIns="0" bIns="0" rtlCol="0" anchor="ctr"/>
          <a:lstStyle/>
          <a:p>
            <a:pPr marL="0" indent="0">
              <a:buNone/>
            </a:pPr>
            <a:r>
              <a:rPr lang="en-US" sz="1200" b="1" dirty="0">
                <a:solidFill>
                  <a:srgbClr val="D4A017"/>
                </a:solidFill>
                <a:latin typeface="Trebuchet MS" pitchFamily="34" charset="0"/>
                <a:ea typeface="Trebuchet MS" pitchFamily="34" charset="-122"/>
                <a:cs typeface="Trebuchet MS" pitchFamily="34" charset="-120"/>
              </a:rPr>
              <a:t>Regional Comparison</a:t>
            </a:r>
            <a:endParaRPr lang="en-US" sz="1200" dirty="0"/>
          </a:p>
        </p:txBody>
      </p:sp>
      <p:sp>
        <p:nvSpPr>
          <p:cNvPr id="20" name="Text 18"/>
          <p:cNvSpPr/>
          <p:nvPr/>
        </p:nvSpPr>
        <p:spPr>
          <a:xfrm>
            <a:off x="6327648" y="2066544"/>
            <a:ext cx="2606040" cy="841248"/>
          </a:xfrm>
          <a:prstGeom prst="rect">
            <a:avLst/>
          </a:prstGeom>
          <a:noFill/>
          <a:ln/>
        </p:spPr>
        <p:txBody>
          <a:bodyPr wrap="square" lIns="0" tIns="0" rIns="0" bIns="0" rtlCol="0" anchor="ctr"/>
          <a:lstStyle/>
          <a:p>
            <a:pPr marL="0" indent="0">
              <a:buNone/>
            </a:pPr>
            <a:r>
              <a:rPr lang="en-US" sz="1050" dirty="0">
                <a:solidFill>
                  <a:srgbClr val="F5F0E8"/>
                </a:solidFill>
                <a:latin typeface="Calibri" pitchFamily="34" charset="0"/>
                <a:ea typeface="Calibri" pitchFamily="34" charset="-122"/>
                <a:cs typeface="Calibri" pitchFamily="34" charset="-120"/>
              </a:rPr>
              <a:t>Compare CO2 per capita and emission intensity across all 5 African regions</a:t>
            </a:r>
            <a:endParaRPr lang="en-US" sz="1050" dirty="0"/>
          </a:p>
        </p:txBody>
      </p:sp>
      <p:sp>
        <p:nvSpPr>
          <p:cNvPr id="21" name="Shape 19"/>
          <p:cNvSpPr/>
          <p:nvPr/>
        </p:nvSpPr>
        <p:spPr>
          <a:xfrm>
            <a:off x="347472" y="3163824"/>
            <a:ext cx="2788920" cy="1627632"/>
          </a:xfrm>
          <a:prstGeom prst="rect">
            <a:avLst/>
          </a:prstGeom>
          <a:solidFill>
            <a:srgbClr val="2D2010"/>
          </a:solidFill>
          <a:ln w="15240">
            <a:solidFill>
              <a:srgbClr val="D4A017"/>
            </a:solidFill>
            <a:prstDash val="solid"/>
          </a:ln>
        </p:spPr>
      </p:sp>
      <p:sp>
        <p:nvSpPr>
          <p:cNvPr id="22" name="Shape 20"/>
          <p:cNvSpPr/>
          <p:nvPr/>
        </p:nvSpPr>
        <p:spPr>
          <a:xfrm>
            <a:off x="347472" y="3163824"/>
            <a:ext cx="566928" cy="347472"/>
          </a:xfrm>
          <a:prstGeom prst="rect">
            <a:avLst/>
          </a:prstGeom>
          <a:solidFill>
            <a:srgbClr val="D4A017"/>
          </a:solidFill>
          <a:ln w="12700">
            <a:solidFill>
              <a:srgbClr val="D4A017"/>
            </a:solidFill>
            <a:prstDash val="solid"/>
          </a:ln>
        </p:spPr>
      </p:sp>
      <p:sp>
        <p:nvSpPr>
          <p:cNvPr id="23" name="Text 21"/>
          <p:cNvSpPr/>
          <p:nvPr/>
        </p:nvSpPr>
        <p:spPr>
          <a:xfrm>
            <a:off x="347472" y="3163824"/>
            <a:ext cx="566928" cy="347472"/>
          </a:xfrm>
          <a:prstGeom prst="rect">
            <a:avLst/>
          </a:prstGeom>
          <a:noFill/>
          <a:ln/>
        </p:spPr>
        <p:txBody>
          <a:bodyPr wrap="square" lIns="0" tIns="0" rIns="0" bIns="0" rtlCol="0" anchor="ctr"/>
          <a:lstStyle/>
          <a:p>
            <a:pPr marL="0" indent="0" algn="ctr">
              <a:buNone/>
            </a:pPr>
            <a:r>
              <a:rPr lang="en-US" sz="1600" b="1" dirty="0">
                <a:solidFill>
                  <a:srgbClr val="1A1208"/>
                </a:solidFill>
                <a:latin typeface="Trebuchet MS" pitchFamily="34" charset="0"/>
                <a:ea typeface="Trebuchet MS" pitchFamily="34" charset="-122"/>
                <a:cs typeface="Trebuchet MS" pitchFamily="34" charset="-120"/>
              </a:rPr>
              <a:t>04</a:t>
            </a:r>
            <a:endParaRPr lang="en-US" sz="1600" dirty="0"/>
          </a:p>
        </p:txBody>
      </p:sp>
      <p:sp>
        <p:nvSpPr>
          <p:cNvPr id="24" name="Text 22"/>
          <p:cNvSpPr/>
          <p:nvPr/>
        </p:nvSpPr>
        <p:spPr>
          <a:xfrm>
            <a:off x="438912" y="3566160"/>
            <a:ext cx="2606040" cy="292608"/>
          </a:xfrm>
          <a:prstGeom prst="rect">
            <a:avLst/>
          </a:prstGeom>
          <a:noFill/>
          <a:ln/>
        </p:spPr>
        <p:txBody>
          <a:bodyPr wrap="square" lIns="0" tIns="0" rIns="0" bIns="0" rtlCol="0" anchor="ctr"/>
          <a:lstStyle/>
          <a:p>
            <a:pPr marL="0" indent="0">
              <a:buNone/>
            </a:pPr>
            <a:r>
              <a:rPr lang="en-US" sz="1200" b="1" dirty="0">
                <a:solidFill>
                  <a:srgbClr val="D4A017"/>
                </a:solidFill>
                <a:latin typeface="Trebuchet MS" pitchFamily="34" charset="0"/>
                <a:ea typeface="Trebuchet MS" pitchFamily="34" charset="-122"/>
                <a:cs typeface="Trebuchet MS" pitchFamily="34" charset="-120"/>
              </a:rPr>
              <a:t>Decoupling Analysis</a:t>
            </a:r>
            <a:endParaRPr lang="en-US" sz="1200" dirty="0"/>
          </a:p>
        </p:txBody>
      </p:sp>
      <p:sp>
        <p:nvSpPr>
          <p:cNvPr id="25" name="Text 23"/>
          <p:cNvSpPr/>
          <p:nvPr/>
        </p:nvSpPr>
        <p:spPr>
          <a:xfrm>
            <a:off x="438912" y="3877056"/>
            <a:ext cx="2606040" cy="841248"/>
          </a:xfrm>
          <a:prstGeom prst="rect">
            <a:avLst/>
          </a:prstGeom>
          <a:noFill/>
          <a:ln/>
        </p:spPr>
        <p:txBody>
          <a:bodyPr wrap="square" lIns="0" tIns="0" rIns="0" bIns="0" rtlCol="0" anchor="ctr"/>
          <a:lstStyle/>
          <a:p>
            <a:pPr marL="0" indent="0">
              <a:buNone/>
            </a:pPr>
            <a:r>
              <a:rPr lang="en-US" sz="1050" dirty="0">
                <a:solidFill>
                  <a:srgbClr val="F5F0E8"/>
                </a:solidFill>
                <a:latin typeface="Calibri" pitchFamily="34" charset="0"/>
                <a:ea typeface="Calibri" pitchFamily="34" charset="-122"/>
                <a:cs typeface="Calibri" pitchFamily="34" charset="-120"/>
              </a:rPr>
              <a:t>Identify countries achieving economic growth while keeping emissions stable or declining</a:t>
            </a:r>
            <a:endParaRPr lang="en-US" sz="1050" dirty="0"/>
          </a:p>
        </p:txBody>
      </p:sp>
      <p:sp>
        <p:nvSpPr>
          <p:cNvPr id="26" name="Shape 24"/>
          <p:cNvSpPr/>
          <p:nvPr/>
        </p:nvSpPr>
        <p:spPr>
          <a:xfrm>
            <a:off x="3291840" y="3163824"/>
            <a:ext cx="2788920" cy="1627632"/>
          </a:xfrm>
          <a:prstGeom prst="rect">
            <a:avLst/>
          </a:prstGeom>
          <a:solidFill>
            <a:srgbClr val="2D2010"/>
          </a:solidFill>
          <a:ln w="15240">
            <a:solidFill>
              <a:srgbClr val="D4A017"/>
            </a:solidFill>
            <a:prstDash val="solid"/>
          </a:ln>
        </p:spPr>
      </p:sp>
      <p:sp>
        <p:nvSpPr>
          <p:cNvPr id="27" name="Shape 25"/>
          <p:cNvSpPr/>
          <p:nvPr/>
        </p:nvSpPr>
        <p:spPr>
          <a:xfrm>
            <a:off x="3291840" y="3163824"/>
            <a:ext cx="566928" cy="347472"/>
          </a:xfrm>
          <a:prstGeom prst="rect">
            <a:avLst/>
          </a:prstGeom>
          <a:solidFill>
            <a:srgbClr val="D4A017"/>
          </a:solidFill>
          <a:ln w="12700">
            <a:solidFill>
              <a:srgbClr val="D4A017"/>
            </a:solidFill>
            <a:prstDash val="solid"/>
          </a:ln>
        </p:spPr>
      </p:sp>
      <p:sp>
        <p:nvSpPr>
          <p:cNvPr id="28" name="Text 26"/>
          <p:cNvSpPr/>
          <p:nvPr/>
        </p:nvSpPr>
        <p:spPr>
          <a:xfrm>
            <a:off x="3291840" y="3163824"/>
            <a:ext cx="566928" cy="347472"/>
          </a:xfrm>
          <a:prstGeom prst="rect">
            <a:avLst/>
          </a:prstGeom>
          <a:noFill/>
          <a:ln/>
        </p:spPr>
        <p:txBody>
          <a:bodyPr wrap="square" lIns="0" tIns="0" rIns="0" bIns="0" rtlCol="0" anchor="ctr"/>
          <a:lstStyle/>
          <a:p>
            <a:pPr marL="0" indent="0" algn="ctr">
              <a:buNone/>
            </a:pPr>
            <a:r>
              <a:rPr lang="en-US" sz="1600" b="1" dirty="0">
                <a:solidFill>
                  <a:srgbClr val="1A1208"/>
                </a:solidFill>
                <a:latin typeface="Trebuchet MS" pitchFamily="34" charset="0"/>
                <a:ea typeface="Trebuchet MS" pitchFamily="34" charset="-122"/>
                <a:cs typeface="Trebuchet MS" pitchFamily="34" charset="-120"/>
              </a:rPr>
              <a:t>05</a:t>
            </a:r>
            <a:endParaRPr lang="en-US" sz="1600" dirty="0"/>
          </a:p>
        </p:txBody>
      </p:sp>
      <p:sp>
        <p:nvSpPr>
          <p:cNvPr id="29" name="Text 27"/>
          <p:cNvSpPr/>
          <p:nvPr/>
        </p:nvSpPr>
        <p:spPr>
          <a:xfrm>
            <a:off x="3383280" y="3566160"/>
            <a:ext cx="2606040" cy="292608"/>
          </a:xfrm>
          <a:prstGeom prst="rect">
            <a:avLst/>
          </a:prstGeom>
          <a:noFill/>
          <a:ln/>
        </p:spPr>
        <p:txBody>
          <a:bodyPr wrap="square" lIns="0" tIns="0" rIns="0" bIns="0" rtlCol="0" anchor="ctr"/>
          <a:lstStyle/>
          <a:p>
            <a:pPr marL="0" indent="0">
              <a:buNone/>
            </a:pPr>
            <a:r>
              <a:rPr lang="en-US" sz="1200" b="1" dirty="0">
                <a:solidFill>
                  <a:srgbClr val="D4A017"/>
                </a:solidFill>
                <a:latin typeface="Trebuchet MS" pitchFamily="34" charset="0"/>
                <a:ea typeface="Trebuchet MS" pitchFamily="34" charset="-122"/>
                <a:cs typeface="Trebuchet MS" pitchFamily="34" charset="-120"/>
              </a:rPr>
              <a:t>Policy Recommendations</a:t>
            </a:r>
            <a:endParaRPr lang="en-US" sz="1200" dirty="0"/>
          </a:p>
        </p:txBody>
      </p:sp>
      <p:sp>
        <p:nvSpPr>
          <p:cNvPr id="30" name="Text 28"/>
          <p:cNvSpPr/>
          <p:nvPr/>
        </p:nvSpPr>
        <p:spPr>
          <a:xfrm>
            <a:off x="3383280" y="3877056"/>
            <a:ext cx="2606040" cy="841248"/>
          </a:xfrm>
          <a:prstGeom prst="rect">
            <a:avLst/>
          </a:prstGeom>
          <a:noFill/>
          <a:ln/>
        </p:spPr>
        <p:txBody>
          <a:bodyPr wrap="square" lIns="0" tIns="0" rIns="0" bIns="0" rtlCol="0" anchor="ctr"/>
          <a:lstStyle/>
          <a:p>
            <a:pPr marL="0" indent="0">
              <a:buNone/>
            </a:pPr>
            <a:r>
              <a:rPr lang="en-US" sz="1050" dirty="0">
                <a:solidFill>
                  <a:srgbClr val="F5F0E8"/>
                </a:solidFill>
                <a:latin typeface="Calibri" pitchFamily="34" charset="0"/>
                <a:ea typeface="Calibri" pitchFamily="34" charset="-122"/>
                <a:cs typeface="Calibri" pitchFamily="34" charset="-120"/>
              </a:rPr>
              <a:t>Generate evidence-based recommendations for governments and climate financing bodies</a:t>
            </a:r>
            <a:endParaRPr lang="en-US" sz="1050" dirty="0"/>
          </a:p>
        </p:txBody>
      </p:sp>
      <p:sp>
        <p:nvSpPr>
          <p:cNvPr id="31" name="Text 29"/>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D4A017"/>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1A1208"/>
                </a:solidFill>
              </a:rPr>
              <a:t>02  METHODOLOGY</a:t>
            </a:r>
            <a:endParaRPr lang="en-US" sz="900" dirty="0"/>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D4A017"/>
                </a:solidFill>
                <a:latin typeface="Trebuchet MS" pitchFamily="34" charset="0"/>
                <a:ea typeface="Trebuchet MS" pitchFamily="34" charset="-122"/>
                <a:cs typeface="Trebuchet MS" pitchFamily="34" charset="-120"/>
              </a:rPr>
              <a:t>Data Sources and Integrated Methodology</a:t>
            </a:r>
            <a:endParaRPr lang="en-US" sz="2600" dirty="0"/>
          </a:p>
        </p:txBody>
      </p:sp>
      <p:sp>
        <p:nvSpPr>
          <p:cNvPr id="5" name="Shape 3"/>
          <p:cNvSpPr/>
          <p:nvPr/>
        </p:nvSpPr>
        <p:spPr>
          <a:xfrm>
            <a:off x="347472" y="1353312"/>
            <a:ext cx="2788920" cy="1417320"/>
          </a:xfrm>
          <a:prstGeom prst="rect">
            <a:avLst/>
          </a:prstGeom>
          <a:solidFill>
            <a:srgbClr val="2D2010"/>
          </a:solidFill>
          <a:ln w="15240">
            <a:solidFill>
              <a:srgbClr val="D4A017"/>
            </a:solidFill>
            <a:prstDash val="solid"/>
          </a:ln>
        </p:spPr>
      </p:sp>
      <p:sp>
        <p:nvSpPr>
          <p:cNvPr id="6" name="Text 4"/>
          <p:cNvSpPr/>
          <p:nvPr/>
        </p:nvSpPr>
        <p:spPr>
          <a:xfrm>
            <a:off x="475488" y="1463040"/>
            <a:ext cx="2560320" cy="274320"/>
          </a:xfrm>
          <a:prstGeom prst="rect">
            <a:avLst/>
          </a:prstGeom>
          <a:noFill/>
          <a:ln/>
        </p:spPr>
        <p:txBody>
          <a:bodyPr wrap="square" lIns="0" tIns="0" rIns="0" bIns="0" rtlCol="0" anchor="ctr"/>
          <a:lstStyle/>
          <a:p>
            <a:pPr marL="0" indent="0">
              <a:buNone/>
            </a:pPr>
            <a:r>
              <a:rPr lang="en-US" sz="1300" b="1" dirty="0">
                <a:solidFill>
                  <a:srgbClr val="D4A017"/>
                </a:solidFill>
                <a:latin typeface="Trebuchet MS" pitchFamily="34" charset="0"/>
                <a:ea typeface="Trebuchet MS" pitchFamily="34" charset="-122"/>
                <a:cs typeface="Trebuchet MS" pitchFamily="34" charset="-120"/>
              </a:rPr>
              <a:t>Our World in Data</a:t>
            </a:r>
            <a:endParaRPr lang="en-US" sz="1300" dirty="0"/>
          </a:p>
        </p:txBody>
      </p:sp>
      <p:sp>
        <p:nvSpPr>
          <p:cNvPr id="7" name="Text 5"/>
          <p:cNvSpPr/>
          <p:nvPr/>
        </p:nvSpPr>
        <p:spPr>
          <a:xfrm>
            <a:off x="475488" y="1755648"/>
            <a:ext cx="2560320" cy="201168"/>
          </a:xfrm>
          <a:prstGeom prst="rect">
            <a:avLst/>
          </a:prstGeom>
          <a:noFill/>
          <a:ln/>
        </p:spPr>
        <p:txBody>
          <a:bodyPr wrap="square" lIns="0" tIns="0" rIns="0" bIns="0" rtlCol="0" anchor="ctr"/>
          <a:lstStyle/>
          <a:p>
            <a:pPr marL="0" indent="0">
              <a:buNone/>
            </a:pPr>
            <a:r>
              <a:rPr lang="en-US" sz="1000" i="1" dirty="0">
                <a:solidFill>
                  <a:srgbClr val="A0998F"/>
                </a:solidFill>
                <a:latin typeface="Calibri" pitchFamily="34" charset="0"/>
                <a:ea typeface="Calibri" pitchFamily="34" charset="-122"/>
                <a:cs typeface="Calibri" pitchFamily="34" charset="-120"/>
              </a:rPr>
              <a:t>Primary Dataset</a:t>
            </a:r>
            <a:endParaRPr lang="en-US" sz="1000" dirty="0"/>
          </a:p>
        </p:txBody>
      </p:sp>
      <p:sp>
        <p:nvSpPr>
          <p:cNvPr id="8" name="Text 6"/>
          <p:cNvSpPr/>
          <p:nvPr/>
        </p:nvSpPr>
        <p:spPr>
          <a:xfrm>
            <a:off x="475488" y="1975104"/>
            <a:ext cx="2560320" cy="713232"/>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50,192 rows filtered to 52 African countries</a:t>
            </a:r>
            <a:endParaRPr lang="en-US" sz="1000" dirty="0"/>
          </a:p>
          <a:p>
            <a:pPr marL="0" indent="0">
              <a:buNone/>
            </a:pPr>
            <a:r>
              <a:rPr lang="en-US" sz="1000" dirty="0">
                <a:solidFill>
                  <a:srgbClr val="F5F0E8"/>
                </a:solidFill>
                <a:latin typeface="Calibri" pitchFamily="34" charset="0"/>
                <a:ea typeface="Calibri" pitchFamily="34" charset="-122"/>
                <a:cs typeface="Calibri" pitchFamily="34" charset="-120"/>
              </a:rPr>
              <a:t>CO2, GDP, population variables</a:t>
            </a:r>
            <a:endParaRPr lang="en-US" sz="1000" dirty="0"/>
          </a:p>
        </p:txBody>
      </p:sp>
      <p:sp>
        <p:nvSpPr>
          <p:cNvPr id="9" name="Shape 7"/>
          <p:cNvSpPr/>
          <p:nvPr/>
        </p:nvSpPr>
        <p:spPr>
          <a:xfrm>
            <a:off x="3291840" y="1353312"/>
            <a:ext cx="2788920" cy="1417320"/>
          </a:xfrm>
          <a:prstGeom prst="rect">
            <a:avLst/>
          </a:prstGeom>
          <a:solidFill>
            <a:srgbClr val="2D2010"/>
          </a:solidFill>
          <a:ln w="15240">
            <a:solidFill>
              <a:srgbClr val="D4A017"/>
            </a:solidFill>
            <a:prstDash val="solid"/>
          </a:ln>
        </p:spPr>
      </p:sp>
      <p:sp>
        <p:nvSpPr>
          <p:cNvPr id="10" name="Text 8"/>
          <p:cNvSpPr/>
          <p:nvPr/>
        </p:nvSpPr>
        <p:spPr>
          <a:xfrm>
            <a:off x="3419856" y="1463040"/>
            <a:ext cx="2560320" cy="274320"/>
          </a:xfrm>
          <a:prstGeom prst="rect">
            <a:avLst/>
          </a:prstGeom>
          <a:noFill/>
          <a:ln/>
        </p:spPr>
        <p:txBody>
          <a:bodyPr wrap="square" lIns="0" tIns="0" rIns="0" bIns="0" rtlCol="0" anchor="ctr"/>
          <a:lstStyle/>
          <a:p>
            <a:pPr marL="0" indent="0">
              <a:buNone/>
            </a:pPr>
            <a:r>
              <a:rPr lang="en-US" sz="1300" b="1" dirty="0">
                <a:solidFill>
                  <a:srgbClr val="D4A017"/>
                </a:solidFill>
                <a:latin typeface="Trebuchet MS" pitchFamily="34" charset="0"/>
                <a:ea typeface="Trebuchet MS" pitchFamily="34" charset="-122"/>
                <a:cs typeface="Trebuchet MS" pitchFamily="34" charset="-120"/>
              </a:rPr>
              <a:t>World Bank</a:t>
            </a:r>
            <a:endParaRPr lang="en-US" sz="1300" dirty="0"/>
          </a:p>
        </p:txBody>
      </p:sp>
      <p:sp>
        <p:nvSpPr>
          <p:cNvPr id="11" name="Text 9"/>
          <p:cNvSpPr/>
          <p:nvPr/>
        </p:nvSpPr>
        <p:spPr>
          <a:xfrm>
            <a:off x="3419856" y="1755648"/>
            <a:ext cx="2560320" cy="201168"/>
          </a:xfrm>
          <a:prstGeom prst="rect">
            <a:avLst/>
          </a:prstGeom>
          <a:noFill/>
          <a:ln/>
        </p:spPr>
        <p:txBody>
          <a:bodyPr wrap="square" lIns="0" tIns="0" rIns="0" bIns="0" rtlCol="0" anchor="ctr"/>
          <a:lstStyle/>
          <a:p>
            <a:pPr marL="0" indent="0">
              <a:buNone/>
            </a:pPr>
            <a:r>
              <a:rPr lang="en-US" sz="1000" i="1" dirty="0">
                <a:solidFill>
                  <a:srgbClr val="A0998F"/>
                </a:solidFill>
                <a:latin typeface="Calibri" pitchFamily="34" charset="0"/>
                <a:ea typeface="Calibri" pitchFamily="34" charset="-122"/>
                <a:cs typeface="Calibri" pitchFamily="34" charset="-120"/>
              </a:rPr>
              <a:t>Economic Data</a:t>
            </a:r>
            <a:endParaRPr lang="en-US" sz="1000" dirty="0"/>
          </a:p>
        </p:txBody>
      </p:sp>
      <p:sp>
        <p:nvSpPr>
          <p:cNvPr id="12" name="Text 10"/>
          <p:cNvSpPr/>
          <p:nvPr/>
        </p:nvSpPr>
        <p:spPr>
          <a:xfrm>
            <a:off x="3419856" y="1975104"/>
            <a:ext cx="2560320" cy="713232"/>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GDP per capita and growth rate</a:t>
            </a:r>
            <a:endParaRPr lang="en-US" sz="1000" dirty="0"/>
          </a:p>
          <a:p>
            <a:pPr marL="0" indent="0">
              <a:buNone/>
            </a:pPr>
            <a:r>
              <a:rPr lang="en-US" sz="1000" dirty="0">
                <a:solidFill>
                  <a:srgbClr val="F5F0E8"/>
                </a:solidFill>
                <a:latin typeface="Calibri" pitchFamily="34" charset="0"/>
                <a:ea typeface="Calibri" pitchFamily="34" charset="-122"/>
                <a:cs typeface="Calibri" pitchFamily="34" charset="-120"/>
              </a:rPr>
              <a:t>World Development Indicators</a:t>
            </a:r>
            <a:endParaRPr lang="en-US" sz="1000" dirty="0"/>
          </a:p>
        </p:txBody>
      </p:sp>
      <p:sp>
        <p:nvSpPr>
          <p:cNvPr id="13" name="Shape 11"/>
          <p:cNvSpPr/>
          <p:nvPr/>
        </p:nvSpPr>
        <p:spPr>
          <a:xfrm>
            <a:off x="6236208" y="1353312"/>
            <a:ext cx="2788920" cy="1417320"/>
          </a:xfrm>
          <a:prstGeom prst="rect">
            <a:avLst/>
          </a:prstGeom>
          <a:solidFill>
            <a:srgbClr val="2D2010"/>
          </a:solidFill>
          <a:ln w="15240">
            <a:solidFill>
              <a:srgbClr val="D4A017"/>
            </a:solidFill>
            <a:prstDash val="solid"/>
          </a:ln>
        </p:spPr>
      </p:sp>
      <p:sp>
        <p:nvSpPr>
          <p:cNvPr id="14" name="Text 12"/>
          <p:cNvSpPr/>
          <p:nvPr/>
        </p:nvSpPr>
        <p:spPr>
          <a:xfrm>
            <a:off x="6364224" y="1463040"/>
            <a:ext cx="2560320" cy="274320"/>
          </a:xfrm>
          <a:prstGeom prst="rect">
            <a:avLst/>
          </a:prstGeom>
          <a:noFill/>
          <a:ln/>
        </p:spPr>
        <p:txBody>
          <a:bodyPr wrap="square" lIns="0" tIns="0" rIns="0" bIns="0" rtlCol="0" anchor="ctr"/>
          <a:lstStyle/>
          <a:p>
            <a:pPr marL="0" indent="0">
              <a:buNone/>
            </a:pPr>
            <a:r>
              <a:rPr lang="en-US" sz="1300" b="1" dirty="0">
                <a:solidFill>
                  <a:srgbClr val="D4A017"/>
                </a:solidFill>
                <a:latin typeface="Trebuchet MS" pitchFamily="34" charset="0"/>
                <a:ea typeface="Trebuchet MS" pitchFamily="34" charset="-122"/>
                <a:cs typeface="Trebuchet MS" pitchFamily="34" charset="-120"/>
              </a:rPr>
              <a:t>IEA</a:t>
            </a:r>
            <a:endParaRPr lang="en-US" sz="1300" dirty="0"/>
          </a:p>
        </p:txBody>
      </p:sp>
      <p:sp>
        <p:nvSpPr>
          <p:cNvPr id="15" name="Text 13"/>
          <p:cNvSpPr/>
          <p:nvPr/>
        </p:nvSpPr>
        <p:spPr>
          <a:xfrm>
            <a:off x="6364224" y="1755648"/>
            <a:ext cx="2560320" cy="201168"/>
          </a:xfrm>
          <a:prstGeom prst="rect">
            <a:avLst/>
          </a:prstGeom>
          <a:noFill/>
          <a:ln/>
        </p:spPr>
        <p:txBody>
          <a:bodyPr wrap="square" lIns="0" tIns="0" rIns="0" bIns="0" rtlCol="0" anchor="ctr"/>
          <a:lstStyle/>
          <a:p>
            <a:pPr marL="0" indent="0">
              <a:buNone/>
            </a:pPr>
            <a:r>
              <a:rPr lang="en-US" sz="1000" i="1" dirty="0">
                <a:solidFill>
                  <a:srgbClr val="A0998F"/>
                </a:solidFill>
                <a:latin typeface="Calibri" pitchFamily="34" charset="0"/>
                <a:ea typeface="Calibri" pitchFamily="34" charset="-122"/>
                <a:cs typeface="Calibri" pitchFamily="34" charset="-120"/>
              </a:rPr>
              <a:t>Sectoral Data</a:t>
            </a:r>
            <a:endParaRPr lang="en-US" sz="1000" dirty="0"/>
          </a:p>
        </p:txBody>
      </p:sp>
      <p:sp>
        <p:nvSpPr>
          <p:cNvPr id="16" name="Text 14"/>
          <p:cNvSpPr/>
          <p:nvPr/>
        </p:nvSpPr>
        <p:spPr>
          <a:xfrm>
            <a:off x="6364224" y="1975104"/>
            <a:ext cx="2560320" cy="713232"/>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CO2 by fuel type and sector</a:t>
            </a:r>
            <a:endParaRPr lang="en-US" sz="1000" dirty="0"/>
          </a:p>
          <a:p>
            <a:pPr marL="0" indent="0">
              <a:buNone/>
            </a:pPr>
            <a:r>
              <a:rPr lang="en-US" sz="1000" dirty="0">
                <a:solidFill>
                  <a:srgbClr val="F5F0E8"/>
                </a:solidFill>
                <a:latin typeface="Calibri" pitchFamily="34" charset="0"/>
                <a:ea typeface="Calibri" pitchFamily="34" charset="-122"/>
                <a:cs typeface="Calibri" pitchFamily="34" charset="-120"/>
              </a:rPr>
              <a:t>Africa-level breakdown</a:t>
            </a:r>
            <a:endParaRPr lang="en-US" sz="1000" dirty="0"/>
          </a:p>
        </p:txBody>
      </p:sp>
      <p:sp>
        <p:nvSpPr>
          <p:cNvPr id="17" name="Text 15"/>
          <p:cNvSpPr/>
          <p:nvPr/>
        </p:nvSpPr>
        <p:spPr>
          <a:xfrm>
            <a:off x="347472" y="2907792"/>
            <a:ext cx="4572000" cy="256032"/>
          </a:xfrm>
          <a:prstGeom prst="rect">
            <a:avLst/>
          </a:prstGeom>
          <a:noFill/>
          <a:ln/>
        </p:spPr>
        <p:txBody>
          <a:bodyPr wrap="square" lIns="0" tIns="0" rIns="0" bIns="0" rtlCol="0" anchor="ctr"/>
          <a:lstStyle/>
          <a:p>
            <a:pPr marL="0" indent="0">
              <a:buNone/>
            </a:pPr>
            <a:r>
              <a:rPr lang="en-US" sz="1100" b="1" dirty="0">
                <a:solidFill>
                  <a:srgbClr val="D4A017"/>
                </a:solidFill>
                <a:latin typeface="Trebuchet MS" pitchFamily="34" charset="0"/>
                <a:ea typeface="Trebuchet MS" pitchFamily="34" charset="-122"/>
                <a:cs typeface="Trebuchet MS" pitchFamily="34" charset="-120"/>
              </a:rPr>
              <a:t>ANALYTICAL WORKFLOW</a:t>
            </a:r>
            <a:endParaRPr lang="en-US" sz="1100" dirty="0"/>
          </a:p>
        </p:txBody>
      </p:sp>
      <p:sp>
        <p:nvSpPr>
          <p:cNvPr id="18" name="Shape 16"/>
          <p:cNvSpPr/>
          <p:nvPr/>
        </p:nvSpPr>
        <p:spPr>
          <a:xfrm>
            <a:off x="347472" y="3200400"/>
            <a:ext cx="2011680" cy="1600200"/>
          </a:xfrm>
          <a:prstGeom prst="rect">
            <a:avLst/>
          </a:prstGeom>
          <a:solidFill>
            <a:srgbClr val="2D2010"/>
          </a:solidFill>
          <a:ln w="19050">
            <a:solidFill>
              <a:srgbClr val="4A7C59"/>
            </a:solidFill>
            <a:prstDash val="solid"/>
          </a:ln>
        </p:spPr>
      </p:sp>
      <p:sp>
        <p:nvSpPr>
          <p:cNvPr id="19" name="Shape 17"/>
          <p:cNvSpPr/>
          <p:nvPr/>
        </p:nvSpPr>
        <p:spPr>
          <a:xfrm>
            <a:off x="347472" y="3200400"/>
            <a:ext cx="2011680" cy="292608"/>
          </a:xfrm>
          <a:prstGeom prst="rect">
            <a:avLst/>
          </a:prstGeom>
          <a:solidFill>
            <a:srgbClr val="4A7C59"/>
          </a:solidFill>
          <a:ln w="12700">
            <a:solidFill>
              <a:srgbClr val="4A7C59"/>
            </a:solidFill>
            <a:prstDash val="solid"/>
          </a:ln>
        </p:spPr>
      </p:sp>
      <p:sp>
        <p:nvSpPr>
          <p:cNvPr id="20" name="Text 18"/>
          <p:cNvSpPr/>
          <p:nvPr/>
        </p:nvSpPr>
        <p:spPr>
          <a:xfrm>
            <a:off x="347472" y="3200400"/>
            <a:ext cx="2011680"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Excel</a:t>
            </a:r>
            <a:endParaRPr lang="en-US" sz="1200" dirty="0"/>
          </a:p>
        </p:txBody>
      </p:sp>
      <p:sp>
        <p:nvSpPr>
          <p:cNvPr id="21" name="Text 19"/>
          <p:cNvSpPr/>
          <p:nvPr/>
        </p:nvSpPr>
        <p:spPr>
          <a:xfrm>
            <a:off x="438912" y="3520440"/>
            <a:ext cx="1828800" cy="1188720"/>
          </a:xfrm>
          <a:prstGeom prst="rect">
            <a:avLst/>
          </a:prstGeom>
          <a:noFill/>
          <a:ln/>
        </p:spPr>
        <p:txBody>
          <a:bodyPr wrap="square" lIns="0" tIns="0" rIns="0" bIns="0" rtlCol="0" anchor="ctr"/>
          <a:lstStyle/>
          <a:p>
            <a:pPr marL="0" indent="0" algn="ctr">
              <a:buNone/>
            </a:pPr>
            <a:r>
              <a:rPr lang="en-US" sz="1050" dirty="0">
                <a:solidFill>
                  <a:srgbClr val="F5F0E8"/>
                </a:solidFill>
                <a:latin typeface="Calibri" pitchFamily="34" charset="0"/>
                <a:ea typeface="Calibri" pitchFamily="34" charset="-122"/>
                <a:cs typeface="Calibri" pitchFamily="34" charset="-120"/>
              </a:rPr>
              <a:t>Data cleaning</a:t>
            </a:r>
            <a:endParaRPr lang="en-US" sz="1050" dirty="0"/>
          </a:p>
          <a:p>
            <a:pPr marL="0" indent="0" algn="ctr">
              <a:buNone/>
            </a:pPr>
            <a:r>
              <a:rPr lang="en-US" sz="1050" dirty="0">
                <a:solidFill>
                  <a:srgbClr val="F5F0E8"/>
                </a:solidFill>
                <a:latin typeface="Calibri" pitchFamily="34" charset="0"/>
                <a:ea typeface="Calibri" pitchFamily="34" charset="-122"/>
                <a:cs typeface="Calibri" pitchFamily="34" charset="-120"/>
              </a:rPr>
              <a:t>EDA and pivot charts</a:t>
            </a:r>
            <a:endParaRPr lang="en-US" sz="1050" dirty="0"/>
          </a:p>
        </p:txBody>
      </p:sp>
      <p:sp>
        <p:nvSpPr>
          <p:cNvPr id="22" name="Text 20"/>
          <p:cNvSpPr/>
          <p:nvPr/>
        </p:nvSpPr>
        <p:spPr>
          <a:xfrm>
            <a:off x="2359152" y="3822192"/>
            <a:ext cx="201168" cy="274320"/>
          </a:xfrm>
          <a:prstGeom prst="rect">
            <a:avLst/>
          </a:prstGeom>
          <a:noFill/>
          <a:ln/>
        </p:spPr>
        <p:txBody>
          <a:bodyPr wrap="square" lIns="0" tIns="0" rIns="0" bIns="0" rtlCol="0" anchor="ctr"/>
          <a:lstStyle/>
          <a:p>
            <a:pPr marL="0" indent="0" algn="ctr">
              <a:buNone/>
            </a:pPr>
            <a:r>
              <a:rPr lang="en-US" sz="1600" b="1" dirty="0">
                <a:solidFill>
                  <a:srgbClr val="D4A017"/>
                </a:solidFill>
              </a:rPr>
              <a:t>-&gt;</a:t>
            </a:r>
            <a:endParaRPr lang="en-US" sz="1600" dirty="0"/>
          </a:p>
        </p:txBody>
      </p:sp>
      <p:sp>
        <p:nvSpPr>
          <p:cNvPr id="23" name="Shape 21"/>
          <p:cNvSpPr/>
          <p:nvPr/>
        </p:nvSpPr>
        <p:spPr>
          <a:xfrm>
            <a:off x="2560320" y="3200400"/>
            <a:ext cx="2011680" cy="1600200"/>
          </a:xfrm>
          <a:prstGeom prst="rect">
            <a:avLst/>
          </a:prstGeom>
          <a:solidFill>
            <a:srgbClr val="2D2010"/>
          </a:solidFill>
          <a:ln w="19050">
            <a:solidFill>
              <a:srgbClr val="2E86AB"/>
            </a:solidFill>
            <a:prstDash val="solid"/>
          </a:ln>
        </p:spPr>
      </p:sp>
      <p:sp>
        <p:nvSpPr>
          <p:cNvPr id="24" name="Shape 22"/>
          <p:cNvSpPr/>
          <p:nvPr/>
        </p:nvSpPr>
        <p:spPr>
          <a:xfrm>
            <a:off x="2560320" y="3200400"/>
            <a:ext cx="2011680" cy="292608"/>
          </a:xfrm>
          <a:prstGeom prst="rect">
            <a:avLst/>
          </a:prstGeom>
          <a:solidFill>
            <a:srgbClr val="2E86AB"/>
          </a:solidFill>
          <a:ln w="12700">
            <a:solidFill>
              <a:srgbClr val="2E86AB"/>
            </a:solidFill>
            <a:prstDash val="solid"/>
          </a:ln>
        </p:spPr>
      </p:sp>
      <p:sp>
        <p:nvSpPr>
          <p:cNvPr id="25" name="Text 23"/>
          <p:cNvSpPr/>
          <p:nvPr/>
        </p:nvSpPr>
        <p:spPr>
          <a:xfrm>
            <a:off x="2560320" y="3200400"/>
            <a:ext cx="2011680"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SQL</a:t>
            </a:r>
            <a:endParaRPr lang="en-US" sz="1200" dirty="0"/>
          </a:p>
        </p:txBody>
      </p:sp>
      <p:sp>
        <p:nvSpPr>
          <p:cNvPr id="26" name="Text 24"/>
          <p:cNvSpPr/>
          <p:nvPr/>
        </p:nvSpPr>
        <p:spPr>
          <a:xfrm>
            <a:off x="2651760" y="3520440"/>
            <a:ext cx="1828800" cy="1188720"/>
          </a:xfrm>
          <a:prstGeom prst="rect">
            <a:avLst/>
          </a:prstGeom>
          <a:noFill/>
          <a:ln/>
        </p:spPr>
        <p:txBody>
          <a:bodyPr wrap="square" lIns="0" tIns="0" rIns="0" bIns="0" rtlCol="0" anchor="ctr"/>
          <a:lstStyle/>
          <a:p>
            <a:pPr marL="0" indent="0" algn="ctr">
              <a:buNone/>
            </a:pPr>
            <a:r>
              <a:rPr lang="en-US" sz="1050" dirty="0">
                <a:solidFill>
                  <a:srgbClr val="F5F0E8"/>
                </a:solidFill>
                <a:latin typeface="Calibri" pitchFamily="34" charset="0"/>
                <a:ea typeface="Calibri" pitchFamily="34" charset="-122"/>
                <a:cs typeface="Calibri" pitchFamily="34" charset="-120"/>
              </a:rPr>
              <a:t>Structured queries</a:t>
            </a:r>
            <a:endParaRPr lang="en-US" sz="1050" dirty="0"/>
          </a:p>
          <a:p>
            <a:pPr marL="0" indent="0" algn="ctr">
              <a:buNone/>
            </a:pPr>
            <a:r>
              <a:rPr lang="en-US" sz="1050" dirty="0">
                <a:solidFill>
                  <a:srgbClr val="F5F0E8"/>
                </a:solidFill>
                <a:latin typeface="Calibri" pitchFamily="34" charset="0"/>
                <a:ea typeface="Calibri" pitchFamily="34" charset="-122"/>
                <a:cs typeface="Calibri" pitchFamily="34" charset="-120"/>
              </a:rPr>
              <a:t>13 analytical queries</a:t>
            </a:r>
            <a:endParaRPr lang="en-US" sz="1050" dirty="0"/>
          </a:p>
        </p:txBody>
      </p:sp>
      <p:sp>
        <p:nvSpPr>
          <p:cNvPr id="27" name="Text 25"/>
          <p:cNvSpPr/>
          <p:nvPr/>
        </p:nvSpPr>
        <p:spPr>
          <a:xfrm>
            <a:off x="4572000" y="3822192"/>
            <a:ext cx="201168" cy="274320"/>
          </a:xfrm>
          <a:prstGeom prst="rect">
            <a:avLst/>
          </a:prstGeom>
          <a:noFill/>
          <a:ln/>
        </p:spPr>
        <p:txBody>
          <a:bodyPr wrap="square" lIns="0" tIns="0" rIns="0" bIns="0" rtlCol="0" anchor="ctr"/>
          <a:lstStyle/>
          <a:p>
            <a:pPr marL="0" indent="0" algn="ctr">
              <a:buNone/>
            </a:pPr>
            <a:r>
              <a:rPr lang="en-US" sz="1600" b="1" dirty="0">
                <a:solidFill>
                  <a:srgbClr val="D4A017"/>
                </a:solidFill>
              </a:rPr>
              <a:t>-&gt;</a:t>
            </a:r>
            <a:endParaRPr lang="en-US" sz="1600" dirty="0"/>
          </a:p>
        </p:txBody>
      </p:sp>
      <p:sp>
        <p:nvSpPr>
          <p:cNvPr id="28" name="Shape 26"/>
          <p:cNvSpPr/>
          <p:nvPr/>
        </p:nvSpPr>
        <p:spPr>
          <a:xfrm>
            <a:off x="4773168" y="3200400"/>
            <a:ext cx="2011680" cy="1600200"/>
          </a:xfrm>
          <a:prstGeom prst="rect">
            <a:avLst/>
          </a:prstGeom>
          <a:solidFill>
            <a:srgbClr val="2D2010"/>
          </a:solidFill>
          <a:ln w="19050">
            <a:solidFill>
              <a:srgbClr val="C1440E"/>
            </a:solidFill>
            <a:prstDash val="solid"/>
          </a:ln>
        </p:spPr>
      </p:sp>
      <p:sp>
        <p:nvSpPr>
          <p:cNvPr id="29" name="Shape 27"/>
          <p:cNvSpPr/>
          <p:nvPr/>
        </p:nvSpPr>
        <p:spPr>
          <a:xfrm>
            <a:off x="4773168" y="3200400"/>
            <a:ext cx="2011680" cy="292608"/>
          </a:xfrm>
          <a:prstGeom prst="rect">
            <a:avLst/>
          </a:prstGeom>
          <a:solidFill>
            <a:srgbClr val="C1440E"/>
          </a:solidFill>
          <a:ln w="12700">
            <a:solidFill>
              <a:srgbClr val="C1440E"/>
            </a:solidFill>
            <a:prstDash val="solid"/>
          </a:ln>
        </p:spPr>
      </p:sp>
      <p:sp>
        <p:nvSpPr>
          <p:cNvPr id="30" name="Text 28"/>
          <p:cNvSpPr/>
          <p:nvPr/>
        </p:nvSpPr>
        <p:spPr>
          <a:xfrm>
            <a:off x="4773168" y="3200400"/>
            <a:ext cx="2011680"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Python</a:t>
            </a:r>
            <a:endParaRPr lang="en-US" sz="1200" dirty="0"/>
          </a:p>
        </p:txBody>
      </p:sp>
      <p:sp>
        <p:nvSpPr>
          <p:cNvPr id="31" name="Text 29"/>
          <p:cNvSpPr/>
          <p:nvPr/>
        </p:nvSpPr>
        <p:spPr>
          <a:xfrm>
            <a:off x="4864608" y="3520440"/>
            <a:ext cx="1828800" cy="1188720"/>
          </a:xfrm>
          <a:prstGeom prst="rect">
            <a:avLst/>
          </a:prstGeom>
          <a:noFill/>
          <a:ln/>
        </p:spPr>
        <p:txBody>
          <a:bodyPr wrap="square" lIns="0" tIns="0" rIns="0" bIns="0" rtlCol="0" anchor="ctr"/>
          <a:lstStyle/>
          <a:p>
            <a:pPr marL="0" indent="0" algn="ctr">
              <a:buNone/>
            </a:pPr>
            <a:r>
              <a:rPr lang="en-US" sz="1050" dirty="0">
                <a:solidFill>
                  <a:srgbClr val="F5F0E8"/>
                </a:solidFill>
                <a:latin typeface="Calibri" pitchFamily="34" charset="0"/>
                <a:ea typeface="Calibri" pitchFamily="34" charset="-122"/>
                <a:cs typeface="Calibri" pitchFamily="34" charset="-120"/>
              </a:rPr>
              <a:t>Correlation analysis</a:t>
            </a:r>
            <a:endParaRPr lang="en-US" sz="1050" dirty="0"/>
          </a:p>
          <a:p>
            <a:pPr marL="0" indent="0" algn="ctr">
              <a:buNone/>
            </a:pPr>
            <a:r>
              <a:rPr lang="en-US" sz="1050" dirty="0">
                <a:solidFill>
                  <a:srgbClr val="F5F0E8"/>
                </a:solidFill>
                <a:latin typeface="Calibri" pitchFamily="34" charset="0"/>
                <a:ea typeface="Calibri" pitchFamily="34" charset="-122"/>
                <a:cs typeface="Calibri" pitchFamily="34" charset="-120"/>
              </a:rPr>
              <a:t>Outlier detection</a:t>
            </a:r>
            <a:endParaRPr lang="en-US" sz="1050" dirty="0"/>
          </a:p>
        </p:txBody>
      </p:sp>
      <p:sp>
        <p:nvSpPr>
          <p:cNvPr id="32" name="Text 30"/>
          <p:cNvSpPr/>
          <p:nvPr/>
        </p:nvSpPr>
        <p:spPr>
          <a:xfrm>
            <a:off x="6784848" y="3822192"/>
            <a:ext cx="201168" cy="274320"/>
          </a:xfrm>
          <a:prstGeom prst="rect">
            <a:avLst/>
          </a:prstGeom>
          <a:noFill/>
          <a:ln/>
        </p:spPr>
        <p:txBody>
          <a:bodyPr wrap="square" lIns="0" tIns="0" rIns="0" bIns="0" rtlCol="0" anchor="ctr"/>
          <a:lstStyle/>
          <a:p>
            <a:pPr marL="0" indent="0" algn="ctr">
              <a:buNone/>
            </a:pPr>
            <a:r>
              <a:rPr lang="en-US" sz="1600" b="1" dirty="0">
                <a:solidFill>
                  <a:srgbClr val="D4A017"/>
                </a:solidFill>
              </a:rPr>
              <a:t>-&gt;</a:t>
            </a:r>
            <a:endParaRPr lang="en-US" sz="1600" dirty="0"/>
          </a:p>
        </p:txBody>
      </p:sp>
      <p:sp>
        <p:nvSpPr>
          <p:cNvPr id="33" name="Shape 31"/>
          <p:cNvSpPr/>
          <p:nvPr/>
        </p:nvSpPr>
        <p:spPr>
          <a:xfrm>
            <a:off x="6986016" y="3200400"/>
            <a:ext cx="2011680" cy="1600200"/>
          </a:xfrm>
          <a:prstGeom prst="rect">
            <a:avLst/>
          </a:prstGeom>
          <a:solidFill>
            <a:srgbClr val="2D2010"/>
          </a:solidFill>
          <a:ln w="19050">
            <a:solidFill>
              <a:srgbClr val="D4A017"/>
            </a:solidFill>
            <a:prstDash val="solid"/>
          </a:ln>
        </p:spPr>
      </p:sp>
      <p:sp>
        <p:nvSpPr>
          <p:cNvPr id="34" name="Shape 32"/>
          <p:cNvSpPr/>
          <p:nvPr/>
        </p:nvSpPr>
        <p:spPr>
          <a:xfrm>
            <a:off x="6986016" y="3200400"/>
            <a:ext cx="2011680" cy="292608"/>
          </a:xfrm>
          <a:prstGeom prst="rect">
            <a:avLst/>
          </a:prstGeom>
          <a:solidFill>
            <a:srgbClr val="D4A017"/>
          </a:solidFill>
          <a:ln w="12700">
            <a:solidFill>
              <a:srgbClr val="D4A017"/>
            </a:solidFill>
            <a:prstDash val="solid"/>
          </a:ln>
        </p:spPr>
      </p:sp>
      <p:sp>
        <p:nvSpPr>
          <p:cNvPr id="35" name="Text 33"/>
          <p:cNvSpPr/>
          <p:nvPr/>
        </p:nvSpPr>
        <p:spPr>
          <a:xfrm>
            <a:off x="6986016" y="3200400"/>
            <a:ext cx="2011680"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Power BI</a:t>
            </a:r>
            <a:endParaRPr lang="en-US" sz="1200" dirty="0"/>
          </a:p>
        </p:txBody>
      </p:sp>
      <p:sp>
        <p:nvSpPr>
          <p:cNvPr id="36" name="Text 34"/>
          <p:cNvSpPr/>
          <p:nvPr/>
        </p:nvSpPr>
        <p:spPr>
          <a:xfrm>
            <a:off x="7077456" y="3520440"/>
            <a:ext cx="1828800" cy="1188720"/>
          </a:xfrm>
          <a:prstGeom prst="rect">
            <a:avLst/>
          </a:prstGeom>
          <a:noFill/>
          <a:ln/>
        </p:spPr>
        <p:txBody>
          <a:bodyPr wrap="square" lIns="0" tIns="0" rIns="0" bIns="0" rtlCol="0" anchor="ctr"/>
          <a:lstStyle/>
          <a:p>
            <a:pPr marL="0" indent="0" algn="ctr">
              <a:buNone/>
            </a:pPr>
            <a:r>
              <a:rPr lang="en-US" sz="1050" dirty="0">
                <a:solidFill>
                  <a:srgbClr val="F5F0E8"/>
                </a:solidFill>
                <a:latin typeface="Calibri" pitchFamily="34" charset="0"/>
                <a:ea typeface="Calibri" pitchFamily="34" charset="-122"/>
                <a:cs typeface="Calibri" pitchFamily="34" charset="-120"/>
              </a:rPr>
              <a:t>Interactive dashboard</a:t>
            </a:r>
            <a:endParaRPr lang="en-US" sz="1050" dirty="0"/>
          </a:p>
          <a:p>
            <a:pPr marL="0" indent="0" algn="ctr">
              <a:buNone/>
            </a:pPr>
            <a:r>
              <a:rPr lang="en-US" sz="1050" dirty="0">
                <a:solidFill>
                  <a:srgbClr val="F5F0E8"/>
                </a:solidFill>
                <a:latin typeface="Calibri" pitchFamily="34" charset="0"/>
                <a:ea typeface="Calibri" pitchFamily="34" charset="-122"/>
                <a:cs typeface="Calibri" pitchFamily="34" charset="-120"/>
              </a:rPr>
              <a:t>6 pages</a:t>
            </a:r>
            <a:endParaRPr lang="en-US" sz="1050" dirty="0"/>
          </a:p>
        </p:txBody>
      </p:sp>
      <p:sp>
        <p:nvSpPr>
          <p:cNvPr id="37" name="Text 35"/>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D4A017"/>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1A1208"/>
                </a:solidFill>
              </a:rPr>
              <a:t>03  FINDINGS</a:t>
            </a:r>
            <a:endParaRPr lang="en-US" sz="900" dirty="0"/>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D4A017"/>
                </a:solidFill>
                <a:latin typeface="Trebuchet MS" pitchFamily="34" charset="0"/>
                <a:ea typeface="Trebuchet MS" pitchFamily="34" charset="-122"/>
                <a:cs typeface="Trebuchet MS" pitchFamily="34" charset="-120"/>
              </a:rPr>
              <a:t>Dataset Overview and Descriptive Statistics</a:t>
            </a:r>
            <a:endParaRPr lang="en-US" sz="2600" dirty="0"/>
          </a:p>
        </p:txBody>
      </p:sp>
      <p:sp>
        <p:nvSpPr>
          <p:cNvPr id="5" name="Shape 3"/>
          <p:cNvSpPr/>
          <p:nvPr/>
        </p:nvSpPr>
        <p:spPr>
          <a:xfrm>
            <a:off x="347472" y="1325880"/>
            <a:ext cx="1965960" cy="1188720"/>
          </a:xfrm>
          <a:prstGeom prst="rect">
            <a:avLst/>
          </a:prstGeom>
          <a:solidFill>
            <a:srgbClr val="2D2010"/>
          </a:solidFill>
          <a:ln w="15240">
            <a:solidFill>
              <a:srgbClr val="D4A017"/>
            </a:solidFill>
            <a:prstDash val="solid"/>
          </a:ln>
        </p:spPr>
      </p:sp>
      <p:sp>
        <p:nvSpPr>
          <p:cNvPr id="6" name="Text 4"/>
          <p:cNvSpPr/>
          <p:nvPr/>
        </p:nvSpPr>
        <p:spPr>
          <a:xfrm>
            <a:off x="347472" y="1399032"/>
            <a:ext cx="1965960" cy="658368"/>
          </a:xfrm>
          <a:prstGeom prst="rect">
            <a:avLst/>
          </a:prstGeom>
          <a:noFill/>
          <a:ln/>
        </p:spPr>
        <p:txBody>
          <a:bodyPr wrap="square" lIns="0" tIns="0" rIns="0" bIns="0" rtlCol="0" anchor="ctr"/>
          <a:lstStyle/>
          <a:p>
            <a:pPr marL="0" indent="0" algn="ctr">
              <a:buNone/>
            </a:pPr>
            <a:r>
              <a:rPr lang="en-US" sz="3800" b="1" dirty="0">
                <a:solidFill>
                  <a:srgbClr val="D4A017"/>
                </a:solidFill>
                <a:latin typeface="Trebuchet MS" pitchFamily="34" charset="0"/>
                <a:ea typeface="Trebuchet MS" pitchFamily="34" charset="-122"/>
                <a:cs typeface="Trebuchet MS" pitchFamily="34" charset="-120"/>
              </a:rPr>
              <a:t>52</a:t>
            </a:r>
            <a:endParaRPr lang="en-US" sz="3800" dirty="0"/>
          </a:p>
        </p:txBody>
      </p:sp>
      <p:sp>
        <p:nvSpPr>
          <p:cNvPr id="7" name="Text 5"/>
          <p:cNvSpPr/>
          <p:nvPr/>
        </p:nvSpPr>
        <p:spPr>
          <a:xfrm>
            <a:off x="347472" y="2084832"/>
            <a:ext cx="1965960" cy="320040"/>
          </a:xfrm>
          <a:prstGeom prst="rect">
            <a:avLst/>
          </a:prstGeom>
          <a:noFill/>
          <a:ln/>
        </p:spPr>
        <p:txBody>
          <a:bodyPr wrap="square" lIns="0" tIns="0" rIns="0" bIns="0" rtlCol="0" anchor="ctr"/>
          <a:lstStyle/>
          <a:p>
            <a:pPr marL="0" indent="0" algn="ctr">
              <a:buNone/>
            </a:pPr>
            <a:r>
              <a:rPr lang="en-US" sz="950" dirty="0">
                <a:solidFill>
                  <a:srgbClr val="F5F0E8"/>
                </a:solidFill>
                <a:latin typeface="Calibri" pitchFamily="34" charset="0"/>
                <a:ea typeface="Calibri" pitchFamily="34" charset="-122"/>
                <a:cs typeface="Calibri" pitchFamily="34" charset="-120"/>
              </a:rPr>
              <a:t>African Countries</a:t>
            </a:r>
            <a:endParaRPr lang="en-US" sz="950" dirty="0"/>
          </a:p>
        </p:txBody>
      </p:sp>
      <p:sp>
        <p:nvSpPr>
          <p:cNvPr id="8" name="Shape 6"/>
          <p:cNvSpPr/>
          <p:nvPr/>
        </p:nvSpPr>
        <p:spPr>
          <a:xfrm>
            <a:off x="2450592" y="1325880"/>
            <a:ext cx="1965960" cy="1188720"/>
          </a:xfrm>
          <a:prstGeom prst="rect">
            <a:avLst/>
          </a:prstGeom>
          <a:solidFill>
            <a:srgbClr val="2D2010"/>
          </a:solidFill>
          <a:ln w="15240">
            <a:solidFill>
              <a:srgbClr val="D4A017"/>
            </a:solidFill>
            <a:prstDash val="solid"/>
          </a:ln>
        </p:spPr>
      </p:sp>
      <p:sp>
        <p:nvSpPr>
          <p:cNvPr id="9" name="Text 7"/>
          <p:cNvSpPr/>
          <p:nvPr/>
        </p:nvSpPr>
        <p:spPr>
          <a:xfrm>
            <a:off x="2423160" y="1499616"/>
            <a:ext cx="1965960" cy="658368"/>
          </a:xfrm>
          <a:prstGeom prst="rect">
            <a:avLst/>
          </a:prstGeom>
          <a:noFill/>
          <a:ln/>
        </p:spPr>
        <p:txBody>
          <a:bodyPr wrap="square" lIns="0" tIns="0" rIns="0" bIns="0" rtlCol="0" anchor="ctr"/>
          <a:lstStyle/>
          <a:p>
            <a:pPr marL="0" indent="0" algn="ctr">
              <a:buNone/>
            </a:pPr>
            <a:r>
              <a:rPr lang="en-US" sz="3000" b="1" dirty="0">
                <a:solidFill>
                  <a:srgbClr val="4A7C59"/>
                </a:solidFill>
                <a:latin typeface="Trebuchet MS" pitchFamily="34" charset="0"/>
              </a:rPr>
              <a:t>73.65 Bn</a:t>
            </a:r>
            <a:endParaRPr lang="en-US" sz="3000" dirty="0"/>
          </a:p>
        </p:txBody>
      </p:sp>
      <p:sp>
        <p:nvSpPr>
          <p:cNvPr id="10" name="Text 8"/>
          <p:cNvSpPr/>
          <p:nvPr/>
        </p:nvSpPr>
        <p:spPr>
          <a:xfrm>
            <a:off x="2450592" y="2084832"/>
            <a:ext cx="1965960" cy="320040"/>
          </a:xfrm>
          <a:prstGeom prst="rect">
            <a:avLst/>
          </a:prstGeom>
          <a:noFill/>
          <a:ln/>
        </p:spPr>
        <p:txBody>
          <a:bodyPr wrap="square" lIns="0" tIns="0" rIns="0" bIns="0" rtlCol="0" anchor="ctr"/>
          <a:lstStyle/>
          <a:p>
            <a:pPr marL="0" indent="0" algn="ctr">
              <a:buNone/>
            </a:pPr>
            <a:r>
              <a:rPr lang="en-US" sz="950" dirty="0">
                <a:solidFill>
                  <a:srgbClr val="F5F0E8"/>
                </a:solidFill>
                <a:latin typeface="Calibri" pitchFamily="34" charset="0"/>
                <a:ea typeface="Calibri" pitchFamily="34" charset="-122"/>
                <a:cs typeface="Calibri" pitchFamily="34" charset="-120"/>
              </a:rPr>
              <a:t>Average GDP</a:t>
            </a:r>
            <a:endParaRPr lang="en-US" sz="950" dirty="0"/>
          </a:p>
        </p:txBody>
      </p:sp>
      <p:sp>
        <p:nvSpPr>
          <p:cNvPr id="11" name="Shape 9"/>
          <p:cNvSpPr/>
          <p:nvPr/>
        </p:nvSpPr>
        <p:spPr>
          <a:xfrm>
            <a:off x="4553712" y="1325880"/>
            <a:ext cx="1965960" cy="1188720"/>
          </a:xfrm>
          <a:prstGeom prst="rect">
            <a:avLst/>
          </a:prstGeom>
          <a:solidFill>
            <a:srgbClr val="2D2010"/>
          </a:solidFill>
          <a:ln w="15240">
            <a:solidFill>
              <a:srgbClr val="D4A017"/>
            </a:solidFill>
            <a:prstDash val="solid"/>
          </a:ln>
        </p:spPr>
      </p:sp>
      <p:sp>
        <p:nvSpPr>
          <p:cNvPr id="12" name="Text 10"/>
          <p:cNvSpPr/>
          <p:nvPr/>
        </p:nvSpPr>
        <p:spPr>
          <a:xfrm>
            <a:off x="4553712" y="1399032"/>
            <a:ext cx="1965960" cy="658368"/>
          </a:xfrm>
          <a:prstGeom prst="rect">
            <a:avLst/>
          </a:prstGeom>
          <a:noFill/>
          <a:ln/>
        </p:spPr>
        <p:txBody>
          <a:bodyPr wrap="square" lIns="0" tIns="0" rIns="0" bIns="0" rtlCol="0" anchor="ctr"/>
          <a:lstStyle/>
          <a:p>
            <a:pPr marL="0" indent="0" algn="ctr">
              <a:buNone/>
            </a:pPr>
            <a:r>
              <a:rPr lang="en-US" sz="3800" b="1" dirty="0">
                <a:solidFill>
                  <a:srgbClr val="2E86AB"/>
                </a:solidFill>
                <a:latin typeface="Trebuchet MS" pitchFamily="34" charset="0"/>
                <a:ea typeface="Trebuchet MS" pitchFamily="34" charset="-122"/>
                <a:cs typeface="Trebuchet MS" pitchFamily="34" charset="-120"/>
              </a:rPr>
              <a:t>24</a:t>
            </a:r>
            <a:endParaRPr lang="en-US" sz="3800" dirty="0"/>
          </a:p>
        </p:txBody>
      </p:sp>
      <p:sp>
        <p:nvSpPr>
          <p:cNvPr id="13" name="Text 11"/>
          <p:cNvSpPr/>
          <p:nvPr/>
        </p:nvSpPr>
        <p:spPr>
          <a:xfrm>
            <a:off x="4553712" y="2084832"/>
            <a:ext cx="1965960" cy="320040"/>
          </a:xfrm>
          <a:prstGeom prst="rect">
            <a:avLst/>
          </a:prstGeom>
          <a:noFill/>
          <a:ln/>
        </p:spPr>
        <p:txBody>
          <a:bodyPr wrap="square" lIns="0" tIns="0" rIns="0" bIns="0" rtlCol="0" anchor="ctr"/>
          <a:lstStyle/>
          <a:p>
            <a:pPr marL="0" indent="0" algn="ctr">
              <a:buNone/>
            </a:pPr>
            <a:r>
              <a:rPr lang="en-US" sz="950" dirty="0">
                <a:solidFill>
                  <a:srgbClr val="F5F0E8"/>
                </a:solidFill>
                <a:latin typeface="Calibri" pitchFamily="34" charset="0"/>
                <a:ea typeface="Calibri" pitchFamily="34" charset="-122"/>
                <a:cs typeface="Calibri" pitchFamily="34" charset="-120"/>
              </a:rPr>
              <a:t>Years (2000 to 2023)</a:t>
            </a:r>
            <a:endParaRPr lang="en-US" sz="950" dirty="0"/>
          </a:p>
        </p:txBody>
      </p:sp>
      <p:sp>
        <p:nvSpPr>
          <p:cNvPr id="14" name="Shape 12"/>
          <p:cNvSpPr/>
          <p:nvPr/>
        </p:nvSpPr>
        <p:spPr>
          <a:xfrm>
            <a:off x="6656832" y="1325880"/>
            <a:ext cx="2148840" cy="1188720"/>
          </a:xfrm>
          <a:prstGeom prst="rect">
            <a:avLst/>
          </a:prstGeom>
          <a:solidFill>
            <a:srgbClr val="2D2010"/>
          </a:solidFill>
          <a:ln w="15240">
            <a:solidFill>
              <a:srgbClr val="D4A017"/>
            </a:solidFill>
            <a:prstDash val="solid"/>
          </a:ln>
        </p:spPr>
      </p:sp>
      <p:sp>
        <p:nvSpPr>
          <p:cNvPr id="15" name="Text 13"/>
          <p:cNvSpPr/>
          <p:nvPr/>
        </p:nvSpPr>
        <p:spPr>
          <a:xfrm>
            <a:off x="6656832" y="1399032"/>
            <a:ext cx="2148840" cy="658368"/>
          </a:xfrm>
          <a:prstGeom prst="rect">
            <a:avLst/>
          </a:prstGeom>
          <a:noFill/>
          <a:ln/>
        </p:spPr>
        <p:txBody>
          <a:bodyPr wrap="square" lIns="0" tIns="0" rIns="0" bIns="0" rtlCol="0" anchor="ctr"/>
          <a:lstStyle/>
          <a:p>
            <a:pPr marL="0" indent="0" algn="ctr">
              <a:buNone/>
            </a:pPr>
            <a:r>
              <a:rPr lang="en-US" sz="3000" b="1" dirty="0">
                <a:solidFill>
                  <a:srgbClr val="C1440E"/>
                </a:solidFill>
                <a:latin typeface="Trebuchet MS" pitchFamily="34" charset="0"/>
                <a:ea typeface="Trebuchet MS" pitchFamily="34" charset="-122"/>
                <a:cs typeface="Trebuchet MS" pitchFamily="34" charset="-120"/>
              </a:rPr>
              <a:t>23.03 Mt</a:t>
            </a:r>
            <a:endParaRPr lang="en-US" sz="3000" dirty="0"/>
          </a:p>
        </p:txBody>
      </p:sp>
      <p:sp>
        <p:nvSpPr>
          <p:cNvPr id="16" name="Text 14"/>
          <p:cNvSpPr/>
          <p:nvPr/>
        </p:nvSpPr>
        <p:spPr>
          <a:xfrm>
            <a:off x="6656832" y="2084832"/>
            <a:ext cx="2148840" cy="320040"/>
          </a:xfrm>
          <a:prstGeom prst="rect">
            <a:avLst/>
          </a:prstGeom>
          <a:noFill/>
          <a:ln/>
        </p:spPr>
        <p:txBody>
          <a:bodyPr wrap="square" lIns="0" tIns="0" rIns="0" bIns="0" rtlCol="0" anchor="ctr"/>
          <a:lstStyle/>
          <a:p>
            <a:pPr marL="0" indent="0" algn="ctr">
              <a:buNone/>
            </a:pPr>
            <a:r>
              <a:rPr lang="en-US" sz="950" dirty="0">
                <a:solidFill>
                  <a:srgbClr val="F5F0E8"/>
                </a:solidFill>
                <a:latin typeface="Calibri" pitchFamily="34" charset="0"/>
                <a:ea typeface="Calibri" pitchFamily="34" charset="-122"/>
                <a:cs typeface="Calibri" pitchFamily="34" charset="-120"/>
              </a:rPr>
              <a:t>Average Annual CO2</a:t>
            </a:r>
            <a:endParaRPr lang="en-US" sz="950" dirty="0"/>
          </a:p>
        </p:txBody>
      </p:sp>
      <p:sp>
        <p:nvSpPr>
          <p:cNvPr id="17" name="Shape 15"/>
          <p:cNvSpPr/>
          <p:nvPr/>
        </p:nvSpPr>
        <p:spPr>
          <a:xfrm>
            <a:off x="347472" y="2679192"/>
            <a:ext cx="4206240" cy="2176272"/>
          </a:xfrm>
          <a:prstGeom prst="rect">
            <a:avLst/>
          </a:prstGeom>
          <a:solidFill>
            <a:srgbClr val="2D2010"/>
          </a:solidFill>
          <a:ln w="15240">
            <a:solidFill>
              <a:srgbClr val="D4A017"/>
            </a:solidFill>
            <a:prstDash val="solid"/>
          </a:ln>
        </p:spPr>
      </p:sp>
      <p:sp>
        <p:nvSpPr>
          <p:cNvPr id="18" name="Text 16"/>
          <p:cNvSpPr/>
          <p:nvPr/>
        </p:nvSpPr>
        <p:spPr>
          <a:xfrm>
            <a:off x="502920" y="2798064"/>
            <a:ext cx="3840480" cy="237744"/>
          </a:xfrm>
          <a:prstGeom prst="rect">
            <a:avLst/>
          </a:prstGeom>
          <a:noFill/>
          <a:ln/>
        </p:spPr>
        <p:txBody>
          <a:bodyPr wrap="square" lIns="0" tIns="0" rIns="0" bIns="0" rtlCol="0" anchor="ctr"/>
          <a:lstStyle/>
          <a:p>
            <a:pPr marL="0" indent="0">
              <a:buNone/>
            </a:pPr>
            <a:r>
              <a:rPr lang="en-US" sz="1100" b="1" dirty="0">
                <a:solidFill>
                  <a:srgbClr val="D4A017"/>
                </a:solidFill>
                <a:latin typeface="Trebuchet MS" pitchFamily="34" charset="0"/>
                <a:ea typeface="Trebuchet MS" pitchFamily="34" charset="-122"/>
                <a:cs typeface="Trebuchet MS" pitchFamily="34" charset="-120"/>
              </a:rPr>
              <a:t>EMISSION STATISTICS</a:t>
            </a:r>
            <a:endParaRPr lang="en-US" sz="1100" dirty="0"/>
          </a:p>
        </p:txBody>
      </p:sp>
      <p:sp>
        <p:nvSpPr>
          <p:cNvPr id="19" name="Text 17"/>
          <p:cNvSpPr/>
          <p:nvPr/>
        </p:nvSpPr>
        <p:spPr>
          <a:xfrm>
            <a:off x="502920" y="3054096"/>
            <a:ext cx="3913632" cy="1691640"/>
          </a:xfrm>
          <a:prstGeom prst="rect">
            <a:avLst/>
          </a:prstGeom>
          <a:noFill/>
          <a:ln/>
        </p:spPr>
        <p:txBody>
          <a:bodyPr wrap="square" rtlCol="0" anchor="ctr"/>
          <a:lstStyle/>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Average CO2: 23.03 million tonnes </a:t>
            </a:r>
            <a:endParaRPr lang="en-US" sz="1100" dirty="0"/>
          </a:p>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Maximum CO2: 494.70 Mt (South Africa)</a:t>
            </a:r>
            <a:endParaRPr lang="en-US" sz="1100" dirty="0"/>
          </a:p>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Median CO2: 3.06 Mt (most African countries emit very little)</a:t>
            </a:r>
            <a:endParaRPr lang="en-US" sz="1100" dirty="0"/>
          </a:p>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Skewness: 4.73 (emissions heavily concentrated in few nations)</a:t>
            </a:r>
            <a:endParaRPr lang="en-US" sz="1100" dirty="0"/>
          </a:p>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Average CO2 growth rate: 4.52% per year across Africa</a:t>
            </a:r>
            <a:endParaRPr lang="en-US" sz="1100" dirty="0"/>
          </a:p>
        </p:txBody>
      </p:sp>
      <p:sp>
        <p:nvSpPr>
          <p:cNvPr id="20" name="Shape 18"/>
          <p:cNvSpPr/>
          <p:nvPr/>
        </p:nvSpPr>
        <p:spPr>
          <a:xfrm>
            <a:off x="4663440" y="2679192"/>
            <a:ext cx="4133088" cy="2176272"/>
          </a:xfrm>
          <a:prstGeom prst="rect">
            <a:avLst/>
          </a:prstGeom>
          <a:solidFill>
            <a:srgbClr val="2D2010"/>
          </a:solidFill>
          <a:ln w="15240">
            <a:solidFill>
              <a:srgbClr val="D4A017"/>
            </a:solidFill>
            <a:prstDash val="solid"/>
          </a:ln>
        </p:spPr>
      </p:sp>
      <p:sp>
        <p:nvSpPr>
          <p:cNvPr id="21" name="Text 19"/>
          <p:cNvSpPr/>
          <p:nvPr/>
        </p:nvSpPr>
        <p:spPr>
          <a:xfrm>
            <a:off x="4828032" y="2798064"/>
            <a:ext cx="3840480" cy="237744"/>
          </a:xfrm>
          <a:prstGeom prst="rect">
            <a:avLst/>
          </a:prstGeom>
          <a:noFill/>
          <a:ln/>
        </p:spPr>
        <p:txBody>
          <a:bodyPr wrap="square" lIns="0" tIns="0" rIns="0" bIns="0" rtlCol="0" anchor="ctr"/>
          <a:lstStyle/>
          <a:p>
            <a:pPr marL="0" indent="0">
              <a:buNone/>
            </a:pPr>
            <a:r>
              <a:rPr lang="en-US" sz="1100" b="1" dirty="0">
                <a:solidFill>
                  <a:srgbClr val="4A7C59"/>
                </a:solidFill>
                <a:latin typeface="Trebuchet MS" pitchFamily="34" charset="0"/>
                <a:ea typeface="Trebuchet MS" pitchFamily="34" charset="-122"/>
                <a:cs typeface="Trebuchet MS" pitchFamily="34" charset="-120"/>
              </a:rPr>
              <a:t>ECONOMIC STATISTICS</a:t>
            </a:r>
            <a:endParaRPr lang="en-US" sz="1100" dirty="0"/>
          </a:p>
        </p:txBody>
      </p:sp>
      <p:sp>
        <p:nvSpPr>
          <p:cNvPr id="22" name="Text 20"/>
          <p:cNvSpPr/>
          <p:nvPr/>
        </p:nvSpPr>
        <p:spPr>
          <a:xfrm>
            <a:off x="4828032" y="3054096"/>
            <a:ext cx="3840480" cy="1691640"/>
          </a:xfrm>
          <a:prstGeom prst="rect">
            <a:avLst/>
          </a:prstGeom>
          <a:noFill/>
          <a:ln/>
        </p:spPr>
        <p:txBody>
          <a:bodyPr wrap="square" rtlCol="0" anchor="ctr"/>
          <a:lstStyle/>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Average GDP: $73.65 billion USD </a:t>
            </a:r>
            <a:endParaRPr lang="en-US" sz="1100" dirty="0"/>
          </a:p>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GDP skewness: 3.47 (few large economies dominate)</a:t>
            </a:r>
            <a:endParaRPr lang="en-US" sz="1100" dirty="0"/>
          </a:p>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Average population: 21.2 million per country</a:t>
            </a:r>
            <a:endParaRPr lang="en-US" sz="1100" dirty="0"/>
          </a:p>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163 GDP values missing for smaller economies</a:t>
            </a:r>
            <a:endParaRPr lang="en-US" sz="1100" dirty="0"/>
          </a:p>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Missing values retained as blanks to preserve data integrity</a:t>
            </a:r>
            <a:endParaRPr lang="en-US" sz="1100" dirty="0"/>
          </a:p>
        </p:txBody>
      </p:sp>
      <p:sp>
        <p:nvSpPr>
          <p:cNvPr id="23" name="Text 21"/>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D4A017"/>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1A1208"/>
                </a:solidFill>
              </a:rPr>
              <a:t>03  FINDINGS</a:t>
            </a:r>
            <a:endParaRPr lang="en-US" sz="900" dirty="0"/>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D4A017"/>
                </a:solidFill>
                <a:latin typeface="Trebuchet MS" pitchFamily="34" charset="0"/>
                <a:ea typeface="Trebuchet MS" pitchFamily="34" charset="-122"/>
                <a:cs typeface="Trebuchet MS" pitchFamily="34" charset="-120"/>
              </a:rPr>
              <a:t>Emission and Economic Trends (2000 to 2023)</a:t>
            </a:r>
            <a:endParaRPr lang="en-US" sz="2600" dirty="0"/>
          </a:p>
        </p:txBody>
      </p:sp>
      <p:graphicFrame>
        <p:nvGraphicFramePr>
          <p:cNvPr id="5" name="Chart 0"/>
          <p:cNvGraphicFramePr/>
          <p:nvPr>
            <p:extLst>
              <p:ext uri="{D42A27DB-BD31-4B8C-83A1-F6EECF244321}">
                <p14:modId xmlns:p14="http://schemas.microsoft.com/office/powerpoint/2010/main" val="2504518171"/>
              </p:ext>
            </p:extLst>
          </p:nvPr>
        </p:nvGraphicFramePr>
        <p:xfrm>
          <a:off x="347472" y="1325880"/>
          <a:ext cx="4206240" cy="26060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extLst>
              <p:ext uri="{D42A27DB-BD31-4B8C-83A1-F6EECF244321}">
                <p14:modId xmlns:p14="http://schemas.microsoft.com/office/powerpoint/2010/main" val="1227768285"/>
              </p:ext>
            </p:extLst>
          </p:nvPr>
        </p:nvGraphicFramePr>
        <p:xfrm>
          <a:off x="4663440" y="1325880"/>
          <a:ext cx="4133088" cy="260604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347472" y="4005072"/>
            <a:ext cx="8449056" cy="841248"/>
          </a:xfrm>
          <a:prstGeom prst="rect">
            <a:avLst/>
          </a:prstGeom>
          <a:solidFill>
            <a:srgbClr val="2D2010"/>
          </a:solidFill>
          <a:ln w="15240">
            <a:solidFill>
              <a:srgbClr val="D4A017"/>
            </a:solidFill>
            <a:prstDash val="solid"/>
          </a:ln>
        </p:spPr>
      </p:sp>
      <p:sp>
        <p:nvSpPr>
          <p:cNvPr id="8" name="Text 4"/>
          <p:cNvSpPr/>
          <p:nvPr/>
        </p:nvSpPr>
        <p:spPr>
          <a:xfrm>
            <a:off x="502920" y="4096512"/>
            <a:ext cx="1463040" cy="274320"/>
          </a:xfrm>
          <a:prstGeom prst="rect">
            <a:avLst/>
          </a:prstGeom>
          <a:noFill/>
          <a:ln/>
        </p:spPr>
        <p:txBody>
          <a:bodyPr wrap="square" lIns="0" tIns="0" rIns="0" bIns="0" rtlCol="0" anchor="ctr"/>
          <a:lstStyle/>
          <a:p>
            <a:pPr marL="0" indent="0">
              <a:buNone/>
            </a:pPr>
            <a:r>
              <a:rPr lang="en-US" sz="1000" b="1" dirty="0">
                <a:solidFill>
                  <a:srgbClr val="D4A017"/>
                </a:solidFill>
                <a:latin typeface="Trebuchet MS" pitchFamily="34" charset="0"/>
                <a:ea typeface="Trebuchet MS" pitchFamily="34" charset="-122"/>
                <a:cs typeface="Trebuchet MS" pitchFamily="34" charset="-120"/>
              </a:rPr>
              <a:t>KEY TREND INSIGHTS:</a:t>
            </a:r>
            <a:endParaRPr lang="en-US" sz="1000" dirty="0"/>
          </a:p>
        </p:txBody>
      </p:sp>
      <p:sp>
        <p:nvSpPr>
          <p:cNvPr id="9" name="Text 5"/>
          <p:cNvSpPr/>
          <p:nvPr/>
        </p:nvSpPr>
        <p:spPr>
          <a:xfrm>
            <a:off x="2011680" y="4096512"/>
            <a:ext cx="6656832" cy="658368"/>
          </a:xfrm>
          <a:prstGeom prst="rect">
            <a:avLst/>
          </a:prstGeom>
          <a:noFill/>
          <a:ln/>
        </p:spPr>
        <p:txBody>
          <a:bodyPr wrap="square" lIns="0" tIns="0" rIns="0" bIns="0" rtlCol="0" anchor="ctr"/>
          <a:lstStyle/>
          <a:p>
            <a:pPr marL="0" indent="0">
              <a:buNone/>
            </a:pPr>
            <a:r>
              <a:rPr lang="en-US" sz="1050" dirty="0">
                <a:solidFill>
                  <a:srgbClr val="F5F0E8"/>
                </a:solidFill>
                <a:latin typeface="Calibri" pitchFamily="34" charset="0"/>
                <a:ea typeface="Calibri" pitchFamily="34" charset="-122"/>
                <a:cs typeface="Calibri" pitchFamily="34" charset="-120"/>
              </a:rPr>
              <a:t>CO2 rose 52% from 2000 to 2023  |  GDP grew significantly faster  |  Emission intensity declined from 0.25 to 0.18  |  Africa becoming more carbon efficient over time</a:t>
            </a:r>
            <a:endParaRPr lang="en-US" sz="1050" dirty="0"/>
          </a:p>
        </p:txBody>
      </p:sp>
      <p:sp>
        <p:nvSpPr>
          <p:cNvPr id="10" name="Text 6"/>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D4A017"/>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1A1208"/>
                </a:solidFill>
              </a:rPr>
              <a:t>03  FINDINGS</a:t>
            </a:r>
            <a:endParaRPr lang="en-US" sz="900" dirty="0"/>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D4A017"/>
                </a:solidFill>
                <a:latin typeface="Trebuchet MS" pitchFamily="34" charset="0"/>
                <a:ea typeface="Trebuchet MS" pitchFamily="34" charset="-122"/>
                <a:cs typeface="Trebuchet MS" pitchFamily="34" charset="-120"/>
              </a:rPr>
              <a:t>Top Emitters and Regional Comparison</a:t>
            </a:r>
            <a:endParaRPr lang="en-US" sz="2600" dirty="0"/>
          </a:p>
        </p:txBody>
      </p:sp>
      <p:graphicFrame>
        <p:nvGraphicFramePr>
          <p:cNvPr id="5" name="Chart 0"/>
          <p:cNvGraphicFramePr/>
          <p:nvPr>
            <p:extLst>
              <p:ext uri="{D42A27DB-BD31-4B8C-83A1-F6EECF244321}">
                <p14:modId xmlns:p14="http://schemas.microsoft.com/office/powerpoint/2010/main" val="2447043883"/>
              </p:ext>
            </p:extLst>
          </p:nvPr>
        </p:nvGraphicFramePr>
        <p:xfrm>
          <a:off x="347472" y="1069848"/>
          <a:ext cx="5074920" cy="37490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extLst>
              <p:ext uri="{D42A27DB-BD31-4B8C-83A1-F6EECF244321}">
                <p14:modId xmlns:p14="http://schemas.microsoft.com/office/powerpoint/2010/main" val="3232960115"/>
              </p:ext>
            </p:extLst>
          </p:nvPr>
        </p:nvGraphicFramePr>
        <p:xfrm>
          <a:off x="5559552" y="1069848"/>
          <a:ext cx="3218688" cy="1947672"/>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5577840" y="3127248"/>
            <a:ext cx="3218688" cy="1691640"/>
          </a:xfrm>
          <a:prstGeom prst="rect">
            <a:avLst/>
          </a:prstGeom>
          <a:solidFill>
            <a:srgbClr val="2D2010"/>
          </a:solidFill>
          <a:ln w="15240">
            <a:solidFill>
              <a:srgbClr val="D4A017"/>
            </a:solidFill>
            <a:prstDash val="solid"/>
          </a:ln>
        </p:spPr>
      </p:sp>
      <p:sp>
        <p:nvSpPr>
          <p:cNvPr id="8" name="Text 4"/>
          <p:cNvSpPr/>
          <p:nvPr/>
        </p:nvSpPr>
        <p:spPr>
          <a:xfrm>
            <a:off x="5715000" y="3246120"/>
            <a:ext cx="2926080" cy="228600"/>
          </a:xfrm>
          <a:prstGeom prst="rect">
            <a:avLst/>
          </a:prstGeom>
          <a:noFill/>
          <a:ln/>
        </p:spPr>
        <p:txBody>
          <a:bodyPr wrap="square" lIns="0" tIns="0" rIns="0" bIns="0" rtlCol="0" anchor="ctr"/>
          <a:lstStyle/>
          <a:p>
            <a:pPr marL="0" indent="0">
              <a:buNone/>
            </a:pPr>
            <a:r>
              <a:rPr lang="en-US" sz="1000" b="1" dirty="0">
                <a:solidFill>
                  <a:srgbClr val="D4A017"/>
                </a:solidFill>
                <a:latin typeface="Trebuchet MS" pitchFamily="34" charset="0"/>
                <a:ea typeface="Trebuchet MS" pitchFamily="34" charset="-122"/>
                <a:cs typeface="Trebuchet MS" pitchFamily="34" charset="-120"/>
              </a:rPr>
              <a:t>REGIONAL INSIGHTS</a:t>
            </a:r>
            <a:endParaRPr lang="en-US" sz="1000" dirty="0"/>
          </a:p>
        </p:txBody>
      </p:sp>
      <p:sp>
        <p:nvSpPr>
          <p:cNvPr id="9" name="Text 5"/>
          <p:cNvSpPr/>
          <p:nvPr/>
        </p:nvSpPr>
        <p:spPr>
          <a:xfrm>
            <a:off x="5715000" y="3493008"/>
            <a:ext cx="3035808" cy="1261872"/>
          </a:xfrm>
          <a:prstGeom prst="rect">
            <a:avLst/>
          </a:prstGeom>
          <a:noFill/>
          <a:ln/>
        </p:spPr>
        <p:txBody>
          <a:bodyPr wrap="square" rtlCol="0" anchor="ctr"/>
          <a:lstStyle/>
          <a:p>
            <a:pPr marL="342900" indent="-342900">
              <a:lnSpc>
                <a:spcPct val="115000"/>
              </a:lnSpc>
              <a:spcAft>
                <a:spcPts val="600"/>
              </a:spcAft>
              <a:buSzPct val="100000"/>
              <a:buChar char="•"/>
            </a:pPr>
            <a:r>
              <a:rPr lang="en-US" sz="1000" dirty="0">
                <a:solidFill>
                  <a:srgbClr val="F5F0E8"/>
                </a:solidFill>
                <a:latin typeface="Calibri" pitchFamily="34" charset="0"/>
                <a:ea typeface="Calibri" pitchFamily="34" charset="-122"/>
                <a:cs typeface="Calibri" pitchFamily="34" charset="-120"/>
              </a:rPr>
              <a:t>North Africa leads in both CO2 and GDP</a:t>
            </a:r>
            <a:endParaRPr lang="en-US" sz="1000" dirty="0"/>
          </a:p>
          <a:p>
            <a:pPr marL="342900" indent="-342900">
              <a:lnSpc>
                <a:spcPct val="115000"/>
              </a:lnSpc>
              <a:spcAft>
                <a:spcPts val="600"/>
              </a:spcAft>
              <a:buSzPct val="100000"/>
              <a:buChar char="•"/>
            </a:pPr>
            <a:r>
              <a:rPr lang="en-US" sz="1000" dirty="0">
                <a:solidFill>
                  <a:srgbClr val="F5F0E8"/>
                </a:solidFill>
                <a:latin typeface="Calibri" pitchFamily="34" charset="0"/>
                <a:ea typeface="Calibri" pitchFamily="34" charset="-122"/>
                <a:cs typeface="Calibri" pitchFamily="34" charset="-120"/>
              </a:rPr>
              <a:t>East Africa is most carbon efficient (0.122)</a:t>
            </a:r>
            <a:endParaRPr lang="en-US" sz="1000" dirty="0"/>
          </a:p>
          <a:p>
            <a:pPr marL="342900" indent="-342900">
              <a:lnSpc>
                <a:spcPct val="115000"/>
              </a:lnSpc>
              <a:spcAft>
                <a:spcPts val="600"/>
              </a:spcAft>
              <a:buSzPct val="100000"/>
              <a:buChar char="•"/>
            </a:pPr>
            <a:r>
              <a:rPr lang="en-US" sz="1000" dirty="0">
                <a:solidFill>
                  <a:srgbClr val="F5F0E8"/>
                </a:solidFill>
                <a:latin typeface="Calibri" pitchFamily="34" charset="0"/>
                <a:ea typeface="Calibri" pitchFamily="34" charset="-122"/>
                <a:cs typeface="Calibri" pitchFamily="34" charset="-120"/>
              </a:rPr>
              <a:t>South Africa alone drives Southern Africa emissions</a:t>
            </a:r>
            <a:endParaRPr lang="en-US" sz="1000" dirty="0"/>
          </a:p>
          <a:p>
            <a:pPr marL="342900" indent="-342900">
              <a:lnSpc>
                <a:spcPct val="115000"/>
              </a:lnSpc>
              <a:spcAft>
                <a:spcPts val="600"/>
              </a:spcAft>
              <a:buSzPct val="100000"/>
              <a:buChar char="•"/>
            </a:pPr>
            <a:r>
              <a:rPr lang="en-US" sz="1000" dirty="0">
                <a:solidFill>
                  <a:srgbClr val="F5F0E8"/>
                </a:solidFill>
                <a:latin typeface="Calibri" pitchFamily="34" charset="0"/>
                <a:ea typeface="Calibri" pitchFamily="34" charset="-122"/>
                <a:cs typeface="Calibri" pitchFamily="34" charset="-120"/>
              </a:rPr>
              <a:t>West Africa has lowest CO2 per capita at 0.351t</a:t>
            </a:r>
            <a:endParaRPr lang="en-US" sz="1000" dirty="0"/>
          </a:p>
        </p:txBody>
      </p:sp>
      <p:sp>
        <p:nvSpPr>
          <p:cNvPr id="10" name="Text 6"/>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D4A017"/>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1A1208"/>
                </a:solidFill>
              </a:rPr>
              <a:t>03  FINDINGS</a:t>
            </a:r>
            <a:endParaRPr lang="en-US" sz="900" dirty="0"/>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D4A017"/>
                </a:solidFill>
                <a:latin typeface="Trebuchet MS" pitchFamily="34" charset="0"/>
                <a:ea typeface="Trebuchet MS" pitchFamily="34" charset="-122"/>
                <a:cs typeface="Trebuchet MS" pitchFamily="34" charset="-120"/>
              </a:rPr>
              <a:t>Analysis: 13 Queries, Key Discoveries</a:t>
            </a:r>
            <a:endParaRPr lang="en-US" sz="2600" dirty="0"/>
          </a:p>
        </p:txBody>
      </p:sp>
      <p:sp>
        <p:nvSpPr>
          <p:cNvPr id="5" name="Shape 3"/>
          <p:cNvSpPr/>
          <p:nvPr/>
        </p:nvSpPr>
        <p:spPr>
          <a:xfrm>
            <a:off x="347472" y="1353312"/>
            <a:ext cx="2788920" cy="1115568"/>
          </a:xfrm>
          <a:prstGeom prst="rect">
            <a:avLst/>
          </a:prstGeom>
          <a:solidFill>
            <a:srgbClr val="2D2010"/>
          </a:solidFill>
          <a:ln w="15240">
            <a:solidFill>
              <a:srgbClr val="D4A017"/>
            </a:solidFill>
            <a:prstDash val="solid"/>
          </a:ln>
        </p:spPr>
      </p:sp>
      <p:sp>
        <p:nvSpPr>
          <p:cNvPr id="6" name="Shape 4"/>
          <p:cNvSpPr/>
          <p:nvPr/>
        </p:nvSpPr>
        <p:spPr>
          <a:xfrm>
            <a:off x="347472" y="1353312"/>
            <a:ext cx="91440" cy="1115568"/>
          </a:xfrm>
          <a:prstGeom prst="rect">
            <a:avLst/>
          </a:prstGeom>
          <a:solidFill>
            <a:srgbClr val="C1440E"/>
          </a:solidFill>
          <a:ln w="12700">
            <a:solidFill>
              <a:srgbClr val="C1440E"/>
            </a:solidFill>
            <a:prstDash val="solid"/>
          </a:ln>
        </p:spPr>
      </p:sp>
      <p:sp>
        <p:nvSpPr>
          <p:cNvPr id="7" name="Text 5"/>
          <p:cNvSpPr/>
          <p:nvPr/>
        </p:nvSpPr>
        <p:spPr>
          <a:xfrm>
            <a:off x="512064" y="1444752"/>
            <a:ext cx="2542032" cy="237744"/>
          </a:xfrm>
          <a:prstGeom prst="rect">
            <a:avLst/>
          </a:prstGeom>
          <a:noFill/>
          <a:ln/>
        </p:spPr>
        <p:txBody>
          <a:bodyPr wrap="square" lIns="0" tIns="0" rIns="0" bIns="0" rtlCol="0" anchor="ctr"/>
          <a:lstStyle/>
          <a:p>
            <a:pPr marL="0" indent="0">
              <a:buNone/>
            </a:pPr>
            <a:r>
              <a:rPr lang="en-US" sz="1100" b="1" dirty="0">
                <a:solidFill>
                  <a:srgbClr val="C1440E"/>
                </a:solidFill>
                <a:latin typeface="Trebuchet MS" pitchFamily="34" charset="0"/>
                <a:ea typeface="Trebuchet MS" pitchFamily="34" charset="-122"/>
                <a:cs typeface="Trebuchet MS" pitchFamily="34" charset="-120"/>
              </a:rPr>
              <a:t>Gas Flaring</a:t>
            </a:r>
            <a:endParaRPr lang="en-US" sz="1100" dirty="0"/>
          </a:p>
        </p:txBody>
      </p:sp>
      <p:sp>
        <p:nvSpPr>
          <p:cNvPr id="8" name="Text 6"/>
          <p:cNvSpPr/>
          <p:nvPr/>
        </p:nvSpPr>
        <p:spPr>
          <a:xfrm>
            <a:off x="512064" y="1700784"/>
            <a:ext cx="2542032" cy="694944"/>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Nigeria leads at 25.5 Mt, nearly double Algeria at 13.7 Mt</a:t>
            </a:r>
            <a:endParaRPr lang="en-US" sz="1000" dirty="0"/>
          </a:p>
        </p:txBody>
      </p:sp>
      <p:sp>
        <p:nvSpPr>
          <p:cNvPr id="9" name="Shape 7"/>
          <p:cNvSpPr/>
          <p:nvPr/>
        </p:nvSpPr>
        <p:spPr>
          <a:xfrm>
            <a:off x="3291840" y="1353312"/>
            <a:ext cx="2788920" cy="1115568"/>
          </a:xfrm>
          <a:prstGeom prst="rect">
            <a:avLst/>
          </a:prstGeom>
          <a:solidFill>
            <a:srgbClr val="2D2010"/>
          </a:solidFill>
          <a:ln w="15240">
            <a:solidFill>
              <a:srgbClr val="D4A017"/>
            </a:solidFill>
            <a:prstDash val="solid"/>
          </a:ln>
        </p:spPr>
      </p:sp>
      <p:sp>
        <p:nvSpPr>
          <p:cNvPr id="10" name="Shape 8"/>
          <p:cNvSpPr/>
          <p:nvPr/>
        </p:nvSpPr>
        <p:spPr>
          <a:xfrm>
            <a:off x="3291840" y="1353312"/>
            <a:ext cx="91440" cy="1115568"/>
          </a:xfrm>
          <a:prstGeom prst="rect">
            <a:avLst/>
          </a:prstGeom>
          <a:solidFill>
            <a:srgbClr val="C1440E"/>
          </a:solidFill>
          <a:ln w="12700">
            <a:solidFill>
              <a:srgbClr val="C1440E"/>
            </a:solidFill>
            <a:prstDash val="solid"/>
          </a:ln>
        </p:spPr>
      </p:sp>
      <p:sp>
        <p:nvSpPr>
          <p:cNvPr id="11" name="Text 9"/>
          <p:cNvSpPr/>
          <p:nvPr/>
        </p:nvSpPr>
        <p:spPr>
          <a:xfrm>
            <a:off x="3456432" y="1444752"/>
            <a:ext cx="2542032" cy="237744"/>
          </a:xfrm>
          <a:prstGeom prst="rect">
            <a:avLst/>
          </a:prstGeom>
          <a:noFill/>
          <a:ln/>
        </p:spPr>
        <p:txBody>
          <a:bodyPr wrap="square" lIns="0" tIns="0" rIns="0" bIns="0" rtlCol="0" anchor="ctr"/>
          <a:lstStyle/>
          <a:p>
            <a:pPr marL="0" indent="0">
              <a:buNone/>
            </a:pPr>
            <a:r>
              <a:rPr lang="en-US" sz="1100" b="1" dirty="0">
                <a:solidFill>
                  <a:srgbClr val="C1440E"/>
                </a:solidFill>
                <a:latin typeface="Trebuchet MS" pitchFamily="34" charset="0"/>
                <a:ea typeface="Trebuchet MS" pitchFamily="34" charset="-122"/>
                <a:cs typeface="Trebuchet MS" pitchFamily="34" charset="-120"/>
              </a:rPr>
              <a:t>Methane</a:t>
            </a:r>
            <a:endParaRPr lang="en-US" sz="1100" dirty="0"/>
          </a:p>
        </p:txBody>
      </p:sp>
      <p:sp>
        <p:nvSpPr>
          <p:cNvPr id="12" name="Text 10"/>
          <p:cNvSpPr/>
          <p:nvPr/>
        </p:nvSpPr>
        <p:spPr>
          <a:xfrm>
            <a:off x="3456432" y="1700784"/>
            <a:ext cx="2542032" cy="694944"/>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Nigeria highest at 258 Mt, followed by Ethiopia at 95 Mt</a:t>
            </a:r>
            <a:endParaRPr lang="en-US" sz="1000" dirty="0"/>
          </a:p>
        </p:txBody>
      </p:sp>
      <p:sp>
        <p:nvSpPr>
          <p:cNvPr id="13" name="Shape 11"/>
          <p:cNvSpPr/>
          <p:nvPr/>
        </p:nvSpPr>
        <p:spPr>
          <a:xfrm>
            <a:off x="6236208" y="1353312"/>
            <a:ext cx="2788920" cy="1115568"/>
          </a:xfrm>
          <a:prstGeom prst="rect">
            <a:avLst/>
          </a:prstGeom>
          <a:solidFill>
            <a:srgbClr val="2D2010"/>
          </a:solidFill>
          <a:ln w="15240">
            <a:solidFill>
              <a:srgbClr val="D4A017"/>
            </a:solidFill>
            <a:prstDash val="solid"/>
          </a:ln>
        </p:spPr>
      </p:sp>
      <p:sp>
        <p:nvSpPr>
          <p:cNvPr id="14" name="Shape 12"/>
          <p:cNvSpPr/>
          <p:nvPr/>
        </p:nvSpPr>
        <p:spPr>
          <a:xfrm>
            <a:off x="6236208" y="1353312"/>
            <a:ext cx="91440" cy="1115568"/>
          </a:xfrm>
          <a:prstGeom prst="rect">
            <a:avLst/>
          </a:prstGeom>
          <a:solidFill>
            <a:srgbClr val="D4A017"/>
          </a:solidFill>
          <a:ln w="12700">
            <a:solidFill>
              <a:srgbClr val="D4A017"/>
            </a:solidFill>
            <a:prstDash val="solid"/>
          </a:ln>
        </p:spPr>
      </p:sp>
      <p:sp>
        <p:nvSpPr>
          <p:cNvPr id="15" name="Text 13"/>
          <p:cNvSpPr/>
          <p:nvPr/>
        </p:nvSpPr>
        <p:spPr>
          <a:xfrm>
            <a:off x="6400800" y="1444752"/>
            <a:ext cx="2542032" cy="237744"/>
          </a:xfrm>
          <a:prstGeom prst="rect">
            <a:avLst/>
          </a:prstGeom>
          <a:noFill/>
          <a:ln/>
        </p:spPr>
        <p:txBody>
          <a:bodyPr wrap="square" lIns="0" tIns="0" rIns="0" bIns="0" rtlCol="0" anchor="ctr"/>
          <a:lstStyle/>
          <a:p>
            <a:pPr marL="0" indent="0">
              <a:buNone/>
            </a:pPr>
            <a:r>
              <a:rPr lang="en-US" sz="1100" b="1" dirty="0">
                <a:solidFill>
                  <a:srgbClr val="D4A017"/>
                </a:solidFill>
                <a:latin typeface="Trebuchet MS" pitchFamily="34" charset="0"/>
                <a:ea typeface="Trebuchet MS" pitchFamily="34" charset="-122"/>
                <a:cs typeface="Trebuchet MS" pitchFamily="34" charset="-120"/>
              </a:rPr>
              <a:t>CO2 per Capita</a:t>
            </a:r>
            <a:endParaRPr lang="en-US" sz="1100" dirty="0"/>
          </a:p>
        </p:txBody>
      </p:sp>
      <p:sp>
        <p:nvSpPr>
          <p:cNvPr id="16" name="Text 14"/>
          <p:cNvSpPr/>
          <p:nvPr/>
        </p:nvSpPr>
        <p:spPr>
          <a:xfrm>
            <a:off x="6400800" y="1700784"/>
            <a:ext cx="2542032" cy="694944"/>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Libya highest at 8.99 tonnes per person, driven by oil industry and small population</a:t>
            </a:r>
            <a:endParaRPr lang="en-US" sz="1000" dirty="0"/>
          </a:p>
        </p:txBody>
      </p:sp>
      <p:sp>
        <p:nvSpPr>
          <p:cNvPr id="17" name="Shape 15"/>
          <p:cNvSpPr/>
          <p:nvPr/>
        </p:nvSpPr>
        <p:spPr>
          <a:xfrm>
            <a:off x="347472" y="2587752"/>
            <a:ext cx="2788920" cy="1115568"/>
          </a:xfrm>
          <a:prstGeom prst="rect">
            <a:avLst/>
          </a:prstGeom>
          <a:solidFill>
            <a:srgbClr val="2D2010"/>
          </a:solidFill>
          <a:ln w="15240">
            <a:solidFill>
              <a:srgbClr val="D4A017"/>
            </a:solidFill>
            <a:prstDash val="solid"/>
          </a:ln>
        </p:spPr>
      </p:sp>
      <p:sp>
        <p:nvSpPr>
          <p:cNvPr id="18" name="Shape 16"/>
          <p:cNvSpPr/>
          <p:nvPr/>
        </p:nvSpPr>
        <p:spPr>
          <a:xfrm>
            <a:off x="347472" y="2587752"/>
            <a:ext cx="91440" cy="1115568"/>
          </a:xfrm>
          <a:prstGeom prst="rect">
            <a:avLst/>
          </a:prstGeom>
          <a:solidFill>
            <a:srgbClr val="4A7C59"/>
          </a:solidFill>
          <a:ln w="12700">
            <a:solidFill>
              <a:srgbClr val="4A7C59"/>
            </a:solidFill>
            <a:prstDash val="solid"/>
          </a:ln>
        </p:spPr>
      </p:sp>
      <p:sp>
        <p:nvSpPr>
          <p:cNvPr id="19" name="Text 17"/>
          <p:cNvSpPr/>
          <p:nvPr/>
        </p:nvSpPr>
        <p:spPr>
          <a:xfrm>
            <a:off x="512064" y="2679192"/>
            <a:ext cx="2542032" cy="237744"/>
          </a:xfrm>
          <a:prstGeom prst="rect">
            <a:avLst/>
          </a:prstGeom>
          <a:noFill/>
          <a:ln/>
        </p:spPr>
        <p:txBody>
          <a:bodyPr wrap="square" lIns="0" tIns="0" rIns="0" bIns="0" rtlCol="0" anchor="ctr"/>
          <a:lstStyle/>
          <a:p>
            <a:pPr marL="0" indent="0">
              <a:buNone/>
            </a:pPr>
            <a:r>
              <a:rPr lang="en-US" sz="1100" b="1" dirty="0">
                <a:solidFill>
                  <a:srgbClr val="4A7C59"/>
                </a:solidFill>
                <a:latin typeface="Trebuchet MS" pitchFamily="34" charset="0"/>
                <a:ea typeface="Trebuchet MS" pitchFamily="34" charset="-122"/>
                <a:cs typeface="Trebuchet MS" pitchFamily="34" charset="-120"/>
              </a:rPr>
              <a:t>Decoupling</a:t>
            </a:r>
            <a:endParaRPr lang="en-US" sz="1100" dirty="0"/>
          </a:p>
        </p:txBody>
      </p:sp>
      <p:sp>
        <p:nvSpPr>
          <p:cNvPr id="20" name="Text 18"/>
          <p:cNvSpPr/>
          <p:nvPr/>
        </p:nvSpPr>
        <p:spPr>
          <a:xfrm>
            <a:off x="512064" y="2935224"/>
            <a:ext cx="2542032" cy="694944"/>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20 countries have emission intensity below 0.15. Rwanda leads at 0.051</a:t>
            </a:r>
            <a:endParaRPr lang="en-US" sz="1000" dirty="0"/>
          </a:p>
        </p:txBody>
      </p:sp>
      <p:sp>
        <p:nvSpPr>
          <p:cNvPr id="21" name="Shape 19"/>
          <p:cNvSpPr/>
          <p:nvPr/>
        </p:nvSpPr>
        <p:spPr>
          <a:xfrm>
            <a:off x="3291840" y="2587752"/>
            <a:ext cx="2788920" cy="1115568"/>
          </a:xfrm>
          <a:prstGeom prst="rect">
            <a:avLst/>
          </a:prstGeom>
          <a:solidFill>
            <a:srgbClr val="2D2010"/>
          </a:solidFill>
          <a:ln w="15240">
            <a:solidFill>
              <a:srgbClr val="D4A017"/>
            </a:solidFill>
            <a:prstDash val="solid"/>
          </a:ln>
        </p:spPr>
      </p:sp>
      <p:sp>
        <p:nvSpPr>
          <p:cNvPr id="22" name="Shape 20"/>
          <p:cNvSpPr/>
          <p:nvPr/>
        </p:nvSpPr>
        <p:spPr>
          <a:xfrm>
            <a:off x="3291840" y="2587752"/>
            <a:ext cx="91440" cy="1115568"/>
          </a:xfrm>
          <a:prstGeom prst="rect">
            <a:avLst/>
          </a:prstGeom>
          <a:solidFill>
            <a:srgbClr val="C1440E"/>
          </a:solidFill>
          <a:ln w="12700">
            <a:solidFill>
              <a:srgbClr val="C1440E"/>
            </a:solidFill>
            <a:prstDash val="solid"/>
          </a:ln>
        </p:spPr>
      </p:sp>
      <p:sp>
        <p:nvSpPr>
          <p:cNvPr id="23" name="Text 21"/>
          <p:cNvSpPr/>
          <p:nvPr/>
        </p:nvSpPr>
        <p:spPr>
          <a:xfrm>
            <a:off x="3456432" y="2679192"/>
            <a:ext cx="2542032" cy="237744"/>
          </a:xfrm>
          <a:prstGeom prst="rect">
            <a:avLst/>
          </a:prstGeom>
          <a:noFill/>
          <a:ln/>
        </p:spPr>
        <p:txBody>
          <a:bodyPr wrap="square" lIns="0" tIns="0" rIns="0" bIns="0" rtlCol="0" anchor="ctr"/>
          <a:lstStyle/>
          <a:p>
            <a:pPr marL="0" indent="0">
              <a:buNone/>
            </a:pPr>
            <a:r>
              <a:rPr lang="en-US" sz="1100" b="1" dirty="0">
                <a:solidFill>
                  <a:srgbClr val="C1440E"/>
                </a:solidFill>
                <a:latin typeface="Trebuchet MS" pitchFamily="34" charset="0"/>
                <a:ea typeface="Trebuchet MS" pitchFamily="34" charset="-122"/>
                <a:cs typeface="Trebuchet MS" pitchFamily="34" charset="-120"/>
              </a:rPr>
              <a:t>High Risk</a:t>
            </a:r>
            <a:endParaRPr lang="en-US" sz="1100" dirty="0"/>
          </a:p>
        </p:txBody>
      </p:sp>
      <p:sp>
        <p:nvSpPr>
          <p:cNvPr id="24" name="Text 22"/>
          <p:cNvSpPr/>
          <p:nvPr/>
        </p:nvSpPr>
        <p:spPr>
          <a:xfrm>
            <a:off x="3456432" y="2935224"/>
            <a:ext cx="2542032" cy="694944"/>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43 countries have CO2 growing above continental average of 4.52% per year</a:t>
            </a:r>
            <a:endParaRPr lang="en-US" sz="1000" dirty="0"/>
          </a:p>
        </p:txBody>
      </p:sp>
      <p:sp>
        <p:nvSpPr>
          <p:cNvPr id="25" name="Shape 23"/>
          <p:cNvSpPr/>
          <p:nvPr/>
        </p:nvSpPr>
        <p:spPr>
          <a:xfrm>
            <a:off x="6236208" y="2587752"/>
            <a:ext cx="2788920" cy="1115568"/>
          </a:xfrm>
          <a:prstGeom prst="rect">
            <a:avLst/>
          </a:prstGeom>
          <a:solidFill>
            <a:srgbClr val="2D2010"/>
          </a:solidFill>
          <a:ln w="15240">
            <a:solidFill>
              <a:srgbClr val="D4A017"/>
            </a:solidFill>
            <a:prstDash val="solid"/>
          </a:ln>
        </p:spPr>
      </p:sp>
      <p:sp>
        <p:nvSpPr>
          <p:cNvPr id="26" name="Shape 24"/>
          <p:cNvSpPr/>
          <p:nvPr/>
        </p:nvSpPr>
        <p:spPr>
          <a:xfrm>
            <a:off x="6236208" y="2587752"/>
            <a:ext cx="91440" cy="1115568"/>
          </a:xfrm>
          <a:prstGeom prst="rect">
            <a:avLst/>
          </a:prstGeom>
          <a:solidFill>
            <a:srgbClr val="2E86AB"/>
          </a:solidFill>
          <a:ln w="12700">
            <a:solidFill>
              <a:srgbClr val="2E86AB"/>
            </a:solidFill>
            <a:prstDash val="solid"/>
          </a:ln>
        </p:spPr>
      </p:sp>
      <p:sp>
        <p:nvSpPr>
          <p:cNvPr id="27" name="Text 25"/>
          <p:cNvSpPr/>
          <p:nvPr/>
        </p:nvSpPr>
        <p:spPr>
          <a:xfrm>
            <a:off x="6400800" y="2679192"/>
            <a:ext cx="2542032" cy="237744"/>
          </a:xfrm>
          <a:prstGeom prst="rect">
            <a:avLst/>
          </a:prstGeom>
          <a:noFill/>
          <a:ln/>
        </p:spPr>
        <p:txBody>
          <a:bodyPr wrap="square" lIns="0" tIns="0" rIns="0" bIns="0" rtlCol="0" anchor="ctr"/>
          <a:lstStyle/>
          <a:p>
            <a:pPr marL="0" indent="0">
              <a:buNone/>
            </a:pPr>
            <a:r>
              <a:rPr lang="en-US" sz="1100" b="1" dirty="0">
                <a:solidFill>
                  <a:srgbClr val="2E86AB"/>
                </a:solidFill>
                <a:latin typeface="Trebuchet MS" pitchFamily="34" charset="0"/>
                <a:ea typeface="Trebuchet MS" pitchFamily="34" charset="-122"/>
                <a:cs typeface="Trebuchet MS" pitchFamily="34" charset="-120"/>
              </a:rPr>
              <a:t>COVID Impact</a:t>
            </a:r>
            <a:endParaRPr lang="en-US" sz="1100" dirty="0"/>
          </a:p>
        </p:txBody>
      </p:sp>
      <p:sp>
        <p:nvSpPr>
          <p:cNvPr id="28" name="Text 26"/>
          <p:cNvSpPr/>
          <p:nvPr/>
        </p:nvSpPr>
        <p:spPr>
          <a:xfrm>
            <a:off x="6400800" y="2935224"/>
            <a:ext cx="2542032" cy="694944"/>
          </a:xfrm>
          <a:prstGeom prst="rect">
            <a:avLst/>
          </a:prstGeom>
          <a:noFill/>
          <a:ln/>
        </p:spPr>
        <p:txBody>
          <a:bodyPr wrap="square" lIns="0" tIns="0" rIns="0" bIns="0" rtlCol="0" anchor="ctr"/>
          <a:lstStyle/>
          <a:p>
            <a:pPr algn="just"/>
            <a:r>
              <a:rPr lang="en-US" sz="1000" dirty="0">
                <a:solidFill>
                  <a:schemeClr val="bg1"/>
                </a:solidFill>
              </a:rPr>
              <a:t>African CO2 emissions barely changed during 2020 to 2021, with the growth rate slowing from 5.02% to 3.01% but total emissions remaining stable</a:t>
            </a:r>
          </a:p>
        </p:txBody>
      </p:sp>
      <p:sp>
        <p:nvSpPr>
          <p:cNvPr id="29" name="Shape 27"/>
          <p:cNvSpPr/>
          <p:nvPr/>
        </p:nvSpPr>
        <p:spPr>
          <a:xfrm>
            <a:off x="347472" y="3822192"/>
            <a:ext cx="2788920" cy="1115568"/>
          </a:xfrm>
          <a:prstGeom prst="rect">
            <a:avLst/>
          </a:prstGeom>
          <a:solidFill>
            <a:srgbClr val="2D2010"/>
          </a:solidFill>
          <a:ln w="15240">
            <a:solidFill>
              <a:srgbClr val="D4A017"/>
            </a:solidFill>
            <a:prstDash val="solid"/>
          </a:ln>
        </p:spPr>
      </p:sp>
      <p:sp>
        <p:nvSpPr>
          <p:cNvPr id="30" name="Shape 28"/>
          <p:cNvSpPr/>
          <p:nvPr/>
        </p:nvSpPr>
        <p:spPr>
          <a:xfrm>
            <a:off x="347472" y="3822192"/>
            <a:ext cx="91440" cy="1115568"/>
          </a:xfrm>
          <a:prstGeom prst="rect">
            <a:avLst/>
          </a:prstGeom>
          <a:solidFill>
            <a:srgbClr val="D4A017"/>
          </a:solidFill>
          <a:ln w="12700">
            <a:solidFill>
              <a:srgbClr val="D4A017"/>
            </a:solidFill>
            <a:prstDash val="solid"/>
          </a:ln>
        </p:spPr>
      </p:sp>
      <p:sp>
        <p:nvSpPr>
          <p:cNvPr id="31" name="Text 29"/>
          <p:cNvSpPr/>
          <p:nvPr/>
        </p:nvSpPr>
        <p:spPr>
          <a:xfrm>
            <a:off x="512064" y="3913632"/>
            <a:ext cx="2542032" cy="237744"/>
          </a:xfrm>
          <a:prstGeom prst="rect">
            <a:avLst/>
          </a:prstGeom>
          <a:noFill/>
          <a:ln/>
        </p:spPr>
        <p:txBody>
          <a:bodyPr wrap="square" lIns="0" tIns="0" rIns="0" bIns="0" rtlCol="0" anchor="ctr"/>
          <a:lstStyle/>
          <a:p>
            <a:pPr marL="0" indent="0">
              <a:buNone/>
            </a:pPr>
            <a:r>
              <a:rPr lang="en-US" sz="1100" b="1" dirty="0">
                <a:solidFill>
                  <a:srgbClr val="D4A017"/>
                </a:solidFill>
                <a:latin typeface="Trebuchet MS" pitchFamily="34" charset="0"/>
                <a:ea typeface="Trebuchet MS" pitchFamily="34" charset="-122"/>
                <a:cs typeface="Trebuchet MS" pitchFamily="34" charset="-120"/>
              </a:rPr>
              <a:t>Global Share</a:t>
            </a:r>
            <a:endParaRPr lang="en-US" sz="1100" dirty="0"/>
          </a:p>
        </p:txBody>
      </p:sp>
      <p:sp>
        <p:nvSpPr>
          <p:cNvPr id="32" name="Text 30"/>
          <p:cNvSpPr/>
          <p:nvPr/>
        </p:nvSpPr>
        <p:spPr>
          <a:xfrm>
            <a:off x="512064" y="4169664"/>
            <a:ext cx="2542032" cy="694944"/>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Top 10 African emitters contribute only 3.27% of global CO2 combined</a:t>
            </a:r>
            <a:endParaRPr lang="en-US" sz="1000" dirty="0"/>
          </a:p>
        </p:txBody>
      </p:sp>
      <p:sp>
        <p:nvSpPr>
          <p:cNvPr id="33" name="Shape 31"/>
          <p:cNvSpPr/>
          <p:nvPr/>
        </p:nvSpPr>
        <p:spPr>
          <a:xfrm>
            <a:off x="3291840" y="3822192"/>
            <a:ext cx="2788920" cy="1115568"/>
          </a:xfrm>
          <a:prstGeom prst="rect">
            <a:avLst/>
          </a:prstGeom>
          <a:solidFill>
            <a:srgbClr val="2D2010"/>
          </a:solidFill>
          <a:ln w="15240">
            <a:solidFill>
              <a:srgbClr val="D4A017"/>
            </a:solidFill>
            <a:prstDash val="solid"/>
          </a:ln>
        </p:spPr>
      </p:sp>
      <p:sp>
        <p:nvSpPr>
          <p:cNvPr id="34" name="Shape 32"/>
          <p:cNvSpPr/>
          <p:nvPr/>
        </p:nvSpPr>
        <p:spPr>
          <a:xfrm>
            <a:off x="3291840" y="3822192"/>
            <a:ext cx="91440" cy="1115568"/>
          </a:xfrm>
          <a:prstGeom prst="rect">
            <a:avLst/>
          </a:prstGeom>
          <a:solidFill>
            <a:srgbClr val="8B4513"/>
          </a:solidFill>
          <a:ln w="12700">
            <a:solidFill>
              <a:srgbClr val="8B4513"/>
            </a:solidFill>
            <a:prstDash val="solid"/>
          </a:ln>
        </p:spPr>
      </p:sp>
      <p:sp>
        <p:nvSpPr>
          <p:cNvPr id="35" name="Text 33"/>
          <p:cNvSpPr/>
          <p:nvPr/>
        </p:nvSpPr>
        <p:spPr>
          <a:xfrm>
            <a:off x="3456432" y="3913632"/>
            <a:ext cx="2542032" cy="237744"/>
          </a:xfrm>
          <a:prstGeom prst="rect">
            <a:avLst/>
          </a:prstGeom>
          <a:noFill/>
          <a:ln/>
        </p:spPr>
        <p:txBody>
          <a:bodyPr wrap="square" lIns="0" tIns="0" rIns="0" bIns="0" rtlCol="0" anchor="ctr"/>
          <a:lstStyle/>
          <a:p>
            <a:pPr marL="0" indent="0">
              <a:buNone/>
            </a:pPr>
            <a:r>
              <a:rPr lang="en-US" sz="1100" b="1" dirty="0">
                <a:solidFill>
                  <a:srgbClr val="8B4513"/>
                </a:solidFill>
                <a:latin typeface="Trebuchet MS" pitchFamily="34" charset="0"/>
                <a:ea typeface="Trebuchet MS" pitchFamily="34" charset="-122"/>
                <a:cs typeface="Trebuchet MS" pitchFamily="34" charset="-120"/>
              </a:rPr>
              <a:t>Oil CO2</a:t>
            </a:r>
            <a:endParaRPr lang="en-US" sz="1100" dirty="0"/>
          </a:p>
        </p:txBody>
      </p:sp>
      <p:sp>
        <p:nvSpPr>
          <p:cNvPr id="36" name="Text 34"/>
          <p:cNvSpPr/>
          <p:nvPr/>
        </p:nvSpPr>
        <p:spPr>
          <a:xfrm>
            <a:off x="3456432" y="4169664"/>
            <a:ext cx="2542032" cy="694944"/>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Egypt leads oil emissions at 95 Mt, large population drives domestic consumption</a:t>
            </a:r>
            <a:endParaRPr lang="en-US" sz="1000" dirty="0"/>
          </a:p>
        </p:txBody>
      </p:sp>
      <p:sp>
        <p:nvSpPr>
          <p:cNvPr id="37" name="Shape 35"/>
          <p:cNvSpPr/>
          <p:nvPr/>
        </p:nvSpPr>
        <p:spPr>
          <a:xfrm>
            <a:off x="6236208" y="3822192"/>
            <a:ext cx="2788920" cy="1115568"/>
          </a:xfrm>
          <a:prstGeom prst="rect">
            <a:avLst/>
          </a:prstGeom>
          <a:solidFill>
            <a:srgbClr val="2D2010"/>
          </a:solidFill>
          <a:ln w="15240">
            <a:solidFill>
              <a:srgbClr val="D4A017"/>
            </a:solidFill>
            <a:prstDash val="solid"/>
          </a:ln>
        </p:spPr>
      </p:sp>
      <p:sp>
        <p:nvSpPr>
          <p:cNvPr id="38" name="Shape 36"/>
          <p:cNvSpPr/>
          <p:nvPr/>
        </p:nvSpPr>
        <p:spPr>
          <a:xfrm>
            <a:off x="6236208" y="3822192"/>
            <a:ext cx="91440" cy="1115568"/>
          </a:xfrm>
          <a:prstGeom prst="rect">
            <a:avLst/>
          </a:prstGeom>
          <a:solidFill>
            <a:srgbClr val="2E86AB"/>
          </a:solidFill>
          <a:ln w="12700">
            <a:solidFill>
              <a:srgbClr val="2E86AB"/>
            </a:solidFill>
            <a:prstDash val="solid"/>
          </a:ln>
        </p:spPr>
      </p:sp>
      <p:sp>
        <p:nvSpPr>
          <p:cNvPr id="39" name="Text 37"/>
          <p:cNvSpPr/>
          <p:nvPr/>
        </p:nvSpPr>
        <p:spPr>
          <a:xfrm>
            <a:off x="6400800" y="3913632"/>
            <a:ext cx="2542032" cy="237744"/>
          </a:xfrm>
          <a:prstGeom prst="rect">
            <a:avLst/>
          </a:prstGeom>
          <a:noFill/>
          <a:ln/>
        </p:spPr>
        <p:txBody>
          <a:bodyPr wrap="square" lIns="0" tIns="0" rIns="0" bIns="0" rtlCol="0" anchor="ctr"/>
          <a:lstStyle/>
          <a:p>
            <a:pPr marL="0" indent="0">
              <a:buNone/>
            </a:pPr>
            <a:r>
              <a:rPr lang="en-US" sz="1100" b="1" dirty="0">
                <a:solidFill>
                  <a:srgbClr val="2E86AB"/>
                </a:solidFill>
                <a:latin typeface="Trebuchet MS" pitchFamily="34" charset="0"/>
                <a:ea typeface="Trebuchet MS" pitchFamily="34" charset="-122"/>
                <a:cs typeface="Trebuchet MS" pitchFamily="34" charset="-120"/>
              </a:rPr>
              <a:t>Energy</a:t>
            </a:r>
            <a:endParaRPr lang="en-US" sz="1100" dirty="0"/>
          </a:p>
        </p:txBody>
      </p:sp>
      <p:sp>
        <p:nvSpPr>
          <p:cNvPr id="40" name="Text 38"/>
          <p:cNvSpPr/>
          <p:nvPr/>
        </p:nvSpPr>
        <p:spPr>
          <a:xfrm>
            <a:off x="6400800" y="4169664"/>
            <a:ext cx="2542032" cy="694944"/>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Seychelles highest energy per capita at 46,698 kWh, tourism-heavy economy</a:t>
            </a:r>
            <a:endParaRPr lang="en-US" sz="1000" dirty="0"/>
          </a:p>
        </p:txBody>
      </p:sp>
      <p:sp>
        <p:nvSpPr>
          <p:cNvPr id="41" name="Text 39"/>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D4A017"/>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1A1208"/>
                </a:solidFill>
              </a:rPr>
              <a:t>04  PYTHON ANALYSIS</a:t>
            </a:r>
            <a:endParaRPr lang="en-US" sz="900" dirty="0"/>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D4A017"/>
                </a:solidFill>
                <a:latin typeface="Trebuchet MS" pitchFamily="34" charset="0"/>
                <a:ea typeface="Trebuchet MS" pitchFamily="34" charset="-122"/>
                <a:cs typeface="Trebuchet MS" pitchFamily="34" charset="-120"/>
              </a:rPr>
              <a:t>Statistical Analysis: Core Findings</a:t>
            </a:r>
            <a:endParaRPr lang="en-US" sz="2600" dirty="0"/>
          </a:p>
        </p:txBody>
      </p:sp>
      <p:sp>
        <p:nvSpPr>
          <p:cNvPr id="5" name="Shape 3"/>
          <p:cNvSpPr/>
          <p:nvPr/>
        </p:nvSpPr>
        <p:spPr>
          <a:xfrm>
            <a:off x="347472" y="1325880"/>
            <a:ext cx="2834640" cy="3493008"/>
          </a:xfrm>
          <a:prstGeom prst="rect">
            <a:avLst/>
          </a:prstGeom>
          <a:solidFill>
            <a:srgbClr val="2D2010"/>
          </a:solidFill>
          <a:ln w="15240">
            <a:solidFill>
              <a:srgbClr val="D4A017"/>
            </a:solidFill>
            <a:prstDash val="solid"/>
          </a:ln>
        </p:spPr>
      </p:sp>
      <p:sp>
        <p:nvSpPr>
          <p:cNvPr id="6" name="Text 4"/>
          <p:cNvSpPr/>
          <p:nvPr/>
        </p:nvSpPr>
        <p:spPr>
          <a:xfrm>
            <a:off x="502920" y="1463040"/>
            <a:ext cx="2514600" cy="256032"/>
          </a:xfrm>
          <a:prstGeom prst="rect">
            <a:avLst/>
          </a:prstGeom>
          <a:noFill/>
          <a:ln/>
        </p:spPr>
        <p:txBody>
          <a:bodyPr wrap="square" lIns="0" tIns="0" rIns="0" bIns="0" rtlCol="0" anchor="ctr"/>
          <a:lstStyle/>
          <a:p>
            <a:pPr marL="0" indent="0">
              <a:buNone/>
            </a:pPr>
            <a:r>
              <a:rPr lang="en-US" sz="1000" b="1" dirty="0">
                <a:solidFill>
                  <a:srgbClr val="D4A017"/>
                </a:solidFill>
                <a:latin typeface="Trebuchet MS" pitchFamily="34" charset="0"/>
                <a:ea typeface="Trebuchet MS" pitchFamily="34" charset="-122"/>
                <a:cs typeface="Trebuchet MS" pitchFamily="34" charset="-120"/>
              </a:rPr>
              <a:t>PEARSON CORRELATION</a:t>
            </a:r>
            <a:endParaRPr lang="en-US" sz="1000" dirty="0"/>
          </a:p>
        </p:txBody>
      </p:sp>
      <p:sp>
        <p:nvSpPr>
          <p:cNvPr id="7" name="Text 5"/>
          <p:cNvSpPr/>
          <p:nvPr/>
        </p:nvSpPr>
        <p:spPr>
          <a:xfrm>
            <a:off x="502920" y="1783080"/>
            <a:ext cx="2514600" cy="777240"/>
          </a:xfrm>
          <a:prstGeom prst="rect">
            <a:avLst/>
          </a:prstGeom>
          <a:noFill/>
          <a:ln/>
        </p:spPr>
        <p:txBody>
          <a:bodyPr wrap="square" lIns="0" tIns="0" rIns="0" bIns="0" rtlCol="0" anchor="ctr"/>
          <a:lstStyle/>
          <a:p>
            <a:pPr marL="0" indent="0" algn="ctr">
              <a:buNone/>
            </a:pPr>
            <a:r>
              <a:rPr lang="en-US" sz="3600" b="1" dirty="0">
                <a:solidFill>
                  <a:srgbClr val="D4A017"/>
                </a:solidFill>
                <a:latin typeface="Trebuchet MS" pitchFamily="34" charset="0"/>
                <a:ea typeface="Trebuchet MS" pitchFamily="34" charset="-122"/>
                <a:cs typeface="Trebuchet MS" pitchFamily="34" charset="-120"/>
              </a:rPr>
              <a:t>r = 0.7712</a:t>
            </a:r>
            <a:endParaRPr lang="en-US" sz="3600" dirty="0"/>
          </a:p>
        </p:txBody>
      </p:sp>
      <p:sp>
        <p:nvSpPr>
          <p:cNvPr id="8" name="Text 6"/>
          <p:cNvSpPr/>
          <p:nvPr/>
        </p:nvSpPr>
        <p:spPr>
          <a:xfrm>
            <a:off x="502920" y="2578608"/>
            <a:ext cx="2514600" cy="256032"/>
          </a:xfrm>
          <a:prstGeom prst="rect">
            <a:avLst/>
          </a:prstGeom>
          <a:noFill/>
          <a:ln/>
        </p:spPr>
        <p:txBody>
          <a:bodyPr wrap="square" lIns="0" tIns="0" rIns="0" bIns="0" rtlCol="0" anchor="ctr"/>
          <a:lstStyle/>
          <a:p>
            <a:pPr marL="0" indent="0" algn="ctr">
              <a:buNone/>
            </a:pPr>
            <a:r>
              <a:rPr lang="en-US" sz="1100" i="1" dirty="0">
                <a:solidFill>
                  <a:srgbClr val="A0998F"/>
                </a:solidFill>
                <a:latin typeface="Calibri" pitchFamily="34" charset="0"/>
                <a:ea typeface="Calibri" pitchFamily="34" charset="-122"/>
                <a:cs typeface="Calibri" pitchFamily="34" charset="-120"/>
              </a:rPr>
              <a:t>GDP vs CO2 Emissions</a:t>
            </a:r>
            <a:endParaRPr lang="en-US" sz="1100" dirty="0"/>
          </a:p>
        </p:txBody>
      </p:sp>
      <p:sp>
        <p:nvSpPr>
          <p:cNvPr id="9" name="Shape 7"/>
          <p:cNvSpPr/>
          <p:nvPr/>
        </p:nvSpPr>
        <p:spPr>
          <a:xfrm>
            <a:off x="502920" y="2907792"/>
            <a:ext cx="2514600" cy="41148"/>
          </a:xfrm>
          <a:prstGeom prst="rect">
            <a:avLst/>
          </a:prstGeom>
          <a:solidFill>
            <a:srgbClr val="D4A017"/>
          </a:solidFill>
          <a:ln w="12700">
            <a:solidFill>
              <a:srgbClr val="D4A017"/>
            </a:solidFill>
            <a:prstDash val="solid"/>
          </a:ln>
        </p:spPr>
      </p:sp>
      <p:sp>
        <p:nvSpPr>
          <p:cNvPr id="10" name="Text 8"/>
          <p:cNvSpPr/>
          <p:nvPr/>
        </p:nvSpPr>
        <p:spPr>
          <a:xfrm>
            <a:off x="502920" y="2999232"/>
            <a:ext cx="2514600" cy="274320"/>
          </a:xfrm>
          <a:prstGeom prst="rect">
            <a:avLst/>
          </a:prstGeom>
          <a:noFill/>
          <a:ln/>
        </p:spPr>
        <p:txBody>
          <a:bodyPr wrap="square" lIns="0" tIns="0" rIns="0" bIns="0" rtlCol="0" anchor="ctr"/>
          <a:lstStyle/>
          <a:p>
            <a:pPr marL="0" indent="0" algn="ctr">
              <a:buNone/>
            </a:pPr>
            <a:r>
              <a:rPr lang="en-US" sz="1300" b="1" dirty="0">
                <a:solidFill>
                  <a:srgbClr val="4A7C59"/>
                </a:solidFill>
                <a:latin typeface="Trebuchet MS" pitchFamily="34" charset="0"/>
                <a:ea typeface="Trebuchet MS" pitchFamily="34" charset="-122"/>
                <a:cs typeface="Trebuchet MS" pitchFamily="34" charset="-120"/>
              </a:rPr>
              <a:t>STRONG POSITIVE</a:t>
            </a:r>
            <a:endParaRPr lang="en-US" sz="1300" dirty="0"/>
          </a:p>
        </p:txBody>
      </p:sp>
      <p:sp>
        <p:nvSpPr>
          <p:cNvPr id="11" name="Text 9"/>
          <p:cNvSpPr/>
          <p:nvPr/>
        </p:nvSpPr>
        <p:spPr>
          <a:xfrm>
            <a:off x="502920" y="3310128"/>
            <a:ext cx="2514600" cy="731520"/>
          </a:xfrm>
          <a:prstGeom prst="rect">
            <a:avLst/>
          </a:prstGeom>
          <a:noFill/>
          <a:ln/>
        </p:spPr>
        <p:txBody>
          <a:bodyPr wrap="square" lIns="0" tIns="0" rIns="0" bIns="0" rtlCol="0" anchor="ctr"/>
          <a:lstStyle/>
          <a:p>
            <a:pPr marL="0" indent="0" algn="ctr">
              <a:buNone/>
            </a:pPr>
            <a:r>
              <a:rPr lang="en-US" sz="1050" dirty="0">
                <a:solidFill>
                  <a:srgbClr val="F5F0E8"/>
                </a:solidFill>
                <a:latin typeface="Calibri" pitchFamily="34" charset="0"/>
                <a:ea typeface="Calibri" pitchFamily="34" charset="-122"/>
                <a:cs typeface="Calibri" pitchFamily="34" charset="-120"/>
              </a:rPr>
              <a:t>p-value = 0.000000</a:t>
            </a:r>
            <a:endParaRPr lang="en-US" sz="1050" dirty="0"/>
          </a:p>
          <a:p>
            <a:pPr marL="0" indent="0" algn="ctr">
              <a:buNone/>
            </a:pPr>
            <a:r>
              <a:rPr lang="en-US" sz="1050" dirty="0">
                <a:solidFill>
                  <a:srgbClr val="F5F0E8"/>
                </a:solidFill>
                <a:latin typeface="Calibri" pitchFamily="34" charset="0"/>
                <a:ea typeface="Calibri" pitchFamily="34" charset="-122"/>
                <a:cs typeface="Calibri" pitchFamily="34" charset="-120"/>
              </a:rPr>
              <a:t>Statistically Significant: YES</a:t>
            </a:r>
            <a:endParaRPr lang="en-US" sz="1050" dirty="0"/>
          </a:p>
          <a:p>
            <a:pPr marL="0" indent="0" algn="ctr">
              <a:buNone/>
            </a:pPr>
            <a:r>
              <a:rPr lang="en-US" sz="1050" dirty="0">
                <a:solidFill>
                  <a:srgbClr val="F5F0E8"/>
                </a:solidFill>
                <a:latin typeface="Calibri" pitchFamily="34" charset="0"/>
                <a:ea typeface="Calibri" pitchFamily="34" charset="-122"/>
                <a:cs typeface="Calibri" pitchFamily="34" charset="-120"/>
              </a:rPr>
              <a:t>Confidence Level: 95%</a:t>
            </a:r>
            <a:endParaRPr lang="en-US" sz="1050" dirty="0"/>
          </a:p>
        </p:txBody>
      </p:sp>
      <p:sp>
        <p:nvSpPr>
          <p:cNvPr id="12" name="Text 10"/>
          <p:cNvSpPr/>
          <p:nvPr/>
        </p:nvSpPr>
        <p:spPr>
          <a:xfrm>
            <a:off x="502920" y="4133088"/>
            <a:ext cx="2514600" cy="566928"/>
          </a:xfrm>
          <a:prstGeom prst="rect">
            <a:avLst/>
          </a:prstGeom>
          <a:noFill/>
          <a:ln/>
        </p:spPr>
        <p:txBody>
          <a:bodyPr wrap="square" lIns="0" tIns="0" rIns="0" bIns="0" rtlCol="0" anchor="ctr"/>
          <a:lstStyle/>
          <a:p>
            <a:pPr marL="0" indent="0" algn="ctr">
              <a:buNone/>
            </a:pPr>
            <a:r>
              <a:rPr lang="en-US" sz="1000" i="1" dirty="0">
                <a:solidFill>
                  <a:srgbClr val="A0998F"/>
                </a:solidFill>
                <a:latin typeface="Calibri" pitchFamily="34" charset="0"/>
                <a:ea typeface="Calibri" pitchFamily="34" charset="-122"/>
                <a:cs typeface="Calibri" pitchFamily="34" charset="-120"/>
              </a:rPr>
              <a:t>GDP growth is a significant</a:t>
            </a:r>
            <a:endParaRPr lang="en-US" sz="1000" dirty="0"/>
          </a:p>
          <a:p>
            <a:pPr marL="0" indent="0" algn="ctr">
              <a:buNone/>
            </a:pPr>
            <a:r>
              <a:rPr lang="en-US" sz="1000" i="1" dirty="0">
                <a:solidFill>
                  <a:srgbClr val="A0998F"/>
                </a:solidFill>
                <a:latin typeface="Calibri" pitchFamily="34" charset="0"/>
                <a:ea typeface="Calibri" pitchFamily="34" charset="-122"/>
                <a:cs typeface="Calibri" pitchFamily="34" charset="-120"/>
              </a:rPr>
              <a:t>driver of CO2 emissions</a:t>
            </a:r>
            <a:endParaRPr lang="en-US" sz="1000" dirty="0"/>
          </a:p>
        </p:txBody>
      </p:sp>
      <p:sp>
        <p:nvSpPr>
          <p:cNvPr id="13" name="Shape 11"/>
          <p:cNvSpPr/>
          <p:nvPr/>
        </p:nvSpPr>
        <p:spPr>
          <a:xfrm>
            <a:off x="3310128" y="1325880"/>
            <a:ext cx="5486400" cy="438912"/>
          </a:xfrm>
          <a:prstGeom prst="rect">
            <a:avLst/>
          </a:prstGeom>
          <a:solidFill>
            <a:srgbClr val="2D2010"/>
          </a:solidFill>
          <a:ln w="15240">
            <a:solidFill>
              <a:srgbClr val="D4A017"/>
            </a:solidFill>
            <a:prstDash val="solid"/>
          </a:ln>
        </p:spPr>
      </p:sp>
      <p:sp>
        <p:nvSpPr>
          <p:cNvPr id="14" name="Text 12"/>
          <p:cNvSpPr/>
          <p:nvPr/>
        </p:nvSpPr>
        <p:spPr>
          <a:xfrm>
            <a:off x="3456432" y="1417320"/>
            <a:ext cx="2743200" cy="256032"/>
          </a:xfrm>
          <a:prstGeom prst="rect">
            <a:avLst/>
          </a:prstGeom>
          <a:noFill/>
          <a:ln/>
        </p:spPr>
        <p:txBody>
          <a:bodyPr wrap="square" lIns="0" tIns="0" rIns="0" bIns="0" rtlCol="0" anchor="ctr"/>
          <a:lstStyle/>
          <a:p>
            <a:pPr marL="0" indent="0">
              <a:buNone/>
            </a:pPr>
            <a:r>
              <a:rPr lang="en-US" sz="1050" dirty="0">
                <a:solidFill>
                  <a:srgbClr val="A0998F"/>
                </a:solidFill>
                <a:latin typeface="Calibri" pitchFamily="34" charset="0"/>
                <a:ea typeface="Calibri" pitchFamily="34" charset="-122"/>
                <a:cs typeface="Calibri" pitchFamily="34" charset="-120"/>
              </a:rPr>
              <a:t>CO2 Growth (2000 to 2023)</a:t>
            </a:r>
            <a:endParaRPr lang="en-US" sz="1050" dirty="0"/>
          </a:p>
        </p:txBody>
      </p:sp>
      <p:sp>
        <p:nvSpPr>
          <p:cNvPr id="15" name="Text 13"/>
          <p:cNvSpPr/>
          <p:nvPr/>
        </p:nvSpPr>
        <p:spPr>
          <a:xfrm>
            <a:off x="6263640" y="1417320"/>
            <a:ext cx="2395728" cy="256032"/>
          </a:xfrm>
          <a:prstGeom prst="rect">
            <a:avLst/>
          </a:prstGeom>
          <a:noFill/>
          <a:ln/>
        </p:spPr>
        <p:txBody>
          <a:bodyPr wrap="square" lIns="0" tIns="0" rIns="0" bIns="0" rtlCol="0" anchor="ctr"/>
          <a:lstStyle/>
          <a:p>
            <a:pPr marL="0" indent="0" algn="r">
              <a:buNone/>
            </a:pPr>
            <a:r>
              <a:rPr lang="en-US" sz="1100" b="1" dirty="0">
                <a:solidFill>
                  <a:srgbClr val="C1440E"/>
                </a:solidFill>
                <a:latin typeface="Trebuchet MS" pitchFamily="34" charset="0"/>
                <a:ea typeface="Trebuchet MS" pitchFamily="34" charset="-122"/>
                <a:cs typeface="Trebuchet MS" pitchFamily="34" charset="-120"/>
              </a:rPr>
              <a:t>52.2%</a:t>
            </a:r>
            <a:endParaRPr lang="en-US" sz="1100" dirty="0"/>
          </a:p>
        </p:txBody>
      </p:sp>
      <p:sp>
        <p:nvSpPr>
          <p:cNvPr id="16" name="Shape 14"/>
          <p:cNvSpPr/>
          <p:nvPr/>
        </p:nvSpPr>
        <p:spPr>
          <a:xfrm>
            <a:off x="3310128" y="1837944"/>
            <a:ext cx="5486400" cy="438912"/>
          </a:xfrm>
          <a:prstGeom prst="rect">
            <a:avLst/>
          </a:prstGeom>
          <a:solidFill>
            <a:srgbClr val="2D2010"/>
          </a:solidFill>
          <a:ln w="15240">
            <a:solidFill>
              <a:srgbClr val="D4A017"/>
            </a:solidFill>
            <a:prstDash val="solid"/>
          </a:ln>
        </p:spPr>
      </p:sp>
      <p:sp>
        <p:nvSpPr>
          <p:cNvPr id="17" name="Text 15"/>
          <p:cNvSpPr/>
          <p:nvPr/>
        </p:nvSpPr>
        <p:spPr>
          <a:xfrm>
            <a:off x="3456432" y="1929384"/>
            <a:ext cx="2743200" cy="256032"/>
          </a:xfrm>
          <a:prstGeom prst="rect">
            <a:avLst/>
          </a:prstGeom>
          <a:noFill/>
          <a:ln/>
        </p:spPr>
        <p:txBody>
          <a:bodyPr wrap="square" lIns="0" tIns="0" rIns="0" bIns="0" rtlCol="0" anchor="ctr"/>
          <a:lstStyle/>
          <a:p>
            <a:pPr marL="0" indent="0">
              <a:buNone/>
            </a:pPr>
            <a:r>
              <a:rPr lang="en-US" sz="1050" dirty="0">
                <a:solidFill>
                  <a:srgbClr val="A0998F"/>
                </a:solidFill>
                <a:latin typeface="Calibri" pitchFamily="34" charset="0"/>
                <a:ea typeface="Calibri" pitchFamily="34" charset="-122"/>
                <a:cs typeface="Calibri" pitchFamily="34" charset="-120"/>
              </a:rPr>
              <a:t>GDP Growth (2000 to 2023)</a:t>
            </a:r>
            <a:endParaRPr lang="en-US" sz="1050" dirty="0"/>
          </a:p>
        </p:txBody>
      </p:sp>
      <p:sp>
        <p:nvSpPr>
          <p:cNvPr id="18" name="Text 16"/>
          <p:cNvSpPr/>
          <p:nvPr/>
        </p:nvSpPr>
        <p:spPr>
          <a:xfrm>
            <a:off x="6263640" y="1929384"/>
            <a:ext cx="2395728" cy="256032"/>
          </a:xfrm>
          <a:prstGeom prst="rect">
            <a:avLst/>
          </a:prstGeom>
          <a:noFill/>
          <a:ln/>
        </p:spPr>
        <p:txBody>
          <a:bodyPr wrap="square" lIns="0" tIns="0" rIns="0" bIns="0" rtlCol="0" anchor="ctr"/>
          <a:lstStyle/>
          <a:p>
            <a:pPr marL="0" indent="0" algn="r">
              <a:buNone/>
            </a:pPr>
            <a:r>
              <a:rPr lang="en-US" sz="1100" b="1" dirty="0">
                <a:solidFill>
                  <a:srgbClr val="4A7C59"/>
                </a:solidFill>
                <a:latin typeface="Trebuchet MS" pitchFamily="34" charset="0"/>
                <a:ea typeface="Trebuchet MS" pitchFamily="34" charset="-122"/>
                <a:cs typeface="Trebuchet MS" pitchFamily="34" charset="-120"/>
              </a:rPr>
              <a:t>200.6%</a:t>
            </a:r>
            <a:endParaRPr lang="en-US" sz="1100" dirty="0"/>
          </a:p>
        </p:txBody>
      </p:sp>
      <p:sp>
        <p:nvSpPr>
          <p:cNvPr id="19" name="Shape 17"/>
          <p:cNvSpPr/>
          <p:nvPr/>
        </p:nvSpPr>
        <p:spPr>
          <a:xfrm>
            <a:off x="3310128" y="2350008"/>
            <a:ext cx="5486400" cy="438912"/>
          </a:xfrm>
          <a:prstGeom prst="rect">
            <a:avLst/>
          </a:prstGeom>
          <a:solidFill>
            <a:srgbClr val="2D2010"/>
          </a:solidFill>
          <a:ln w="15240">
            <a:solidFill>
              <a:srgbClr val="D4A017"/>
            </a:solidFill>
            <a:prstDash val="solid"/>
          </a:ln>
        </p:spPr>
      </p:sp>
      <p:sp>
        <p:nvSpPr>
          <p:cNvPr id="20" name="Text 18"/>
          <p:cNvSpPr/>
          <p:nvPr/>
        </p:nvSpPr>
        <p:spPr>
          <a:xfrm>
            <a:off x="3456432" y="2441448"/>
            <a:ext cx="2743200" cy="256032"/>
          </a:xfrm>
          <a:prstGeom prst="rect">
            <a:avLst/>
          </a:prstGeom>
          <a:noFill/>
          <a:ln/>
        </p:spPr>
        <p:txBody>
          <a:bodyPr wrap="square" lIns="0" tIns="0" rIns="0" bIns="0" rtlCol="0" anchor="ctr"/>
          <a:lstStyle/>
          <a:p>
            <a:pPr marL="0" indent="0">
              <a:buNone/>
            </a:pPr>
            <a:r>
              <a:rPr lang="en-US" sz="1050" dirty="0">
                <a:solidFill>
                  <a:srgbClr val="A0998F"/>
                </a:solidFill>
                <a:latin typeface="Calibri" pitchFamily="34" charset="0"/>
                <a:ea typeface="Calibri" pitchFamily="34" charset="-122"/>
                <a:cs typeface="Calibri" pitchFamily="34" charset="-120"/>
              </a:rPr>
              <a:t>GDP grew faster than CO2</a:t>
            </a:r>
            <a:endParaRPr lang="en-US" sz="1050" dirty="0"/>
          </a:p>
        </p:txBody>
      </p:sp>
      <p:sp>
        <p:nvSpPr>
          <p:cNvPr id="21" name="Text 19"/>
          <p:cNvSpPr/>
          <p:nvPr/>
        </p:nvSpPr>
        <p:spPr>
          <a:xfrm>
            <a:off x="6263640" y="2441448"/>
            <a:ext cx="2395728" cy="256032"/>
          </a:xfrm>
          <a:prstGeom prst="rect">
            <a:avLst/>
          </a:prstGeom>
          <a:noFill/>
          <a:ln/>
        </p:spPr>
        <p:txBody>
          <a:bodyPr wrap="square" lIns="0" tIns="0" rIns="0" bIns="0" rtlCol="0" anchor="ctr"/>
          <a:lstStyle/>
          <a:p>
            <a:pPr marL="0" indent="0" algn="r">
              <a:buNone/>
            </a:pPr>
            <a:r>
              <a:rPr lang="en-US" sz="1100" b="1" dirty="0">
                <a:solidFill>
                  <a:srgbClr val="D4A017"/>
                </a:solidFill>
                <a:latin typeface="Trebuchet MS" pitchFamily="34" charset="0"/>
                <a:ea typeface="Trebuchet MS" pitchFamily="34" charset="-122"/>
                <a:cs typeface="Trebuchet MS" pitchFamily="34" charset="-120"/>
              </a:rPr>
              <a:t>Partial decoupling confirmed</a:t>
            </a:r>
            <a:endParaRPr lang="en-US" sz="1100" dirty="0"/>
          </a:p>
        </p:txBody>
      </p:sp>
      <p:sp>
        <p:nvSpPr>
          <p:cNvPr id="22" name="Shape 20"/>
          <p:cNvSpPr/>
          <p:nvPr/>
        </p:nvSpPr>
        <p:spPr>
          <a:xfrm>
            <a:off x="3310128" y="2862072"/>
            <a:ext cx="5486400" cy="438912"/>
          </a:xfrm>
          <a:prstGeom prst="rect">
            <a:avLst/>
          </a:prstGeom>
          <a:solidFill>
            <a:srgbClr val="2D2010"/>
          </a:solidFill>
          <a:ln w="15240">
            <a:solidFill>
              <a:srgbClr val="D4A017"/>
            </a:solidFill>
            <a:prstDash val="solid"/>
          </a:ln>
        </p:spPr>
      </p:sp>
      <p:sp>
        <p:nvSpPr>
          <p:cNvPr id="23" name="Text 21"/>
          <p:cNvSpPr/>
          <p:nvPr/>
        </p:nvSpPr>
        <p:spPr>
          <a:xfrm>
            <a:off x="3456432" y="2953512"/>
            <a:ext cx="2743200" cy="256032"/>
          </a:xfrm>
          <a:prstGeom prst="rect">
            <a:avLst/>
          </a:prstGeom>
          <a:noFill/>
          <a:ln/>
        </p:spPr>
        <p:txBody>
          <a:bodyPr wrap="square" lIns="0" tIns="0" rIns="0" bIns="0" rtlCol="0" anchor="ctr"/>
          <a:lstStyle/>
          <a:p>
            <a:pPr marL="0" indent="0">
              <a:buNone/>
            </a:pPr>
            <a:r>
              <a:rPr lang="en-US" sz="1050" dirty="0">
                <a:solidFill>
                  <a:srgbClr val="A0998F"/>
                </a:solidFill>
                <a:latin typeface="Calibri" pitchFamily="34" charset="0"/>
                <a:ea typeface="Calibri" pitchFamily="34" charset="-122"/>
                <a:cs typeface="Calibri" pitchFamily="34" charset="-120"/>
              </a:rPr>
              <a:t>Most Carbon Efficient</a:t>
            </a:r>
            <a:endParaRPr lang="en-US" sz="1050" dirty="0"/>
          </a:p>
        </p:txBody>
      </p:sp>
      <p:sp>
        <p:nvSpPr>
          <p:cNvPr id="24" name="Text 22"/>
          <p:cNvSpPr/>
          <p:nvPr/>
        </p:nvSpPr>
        <p:spPr>
          <a:xfrm>
            <a:off x="6263640" y="2953512"/>
            <a:ext cx="2395728" cy="256032"/>
          </a:xfrm>
          <a:prstGeom prst="rect">
            <a:avLst/>
          </a:prstGeom>
          <a:noFill/>
          <a:ln/>
        </p:spPr>
        <p:txBody>
          <a:bodyPr wrap="square" lIns="0" tIns="0" rIns="0" bIns="0" rtlCol="0" anchor="ctr"/>
          <a:lstStyle/>
          <a:p>
            <a:pPr marL="0" indent="0" algn="r">
              <a:buNone/>
            </a:pPr>
            <a:r>
              <a:rPr lang="en-US" sz="1100" b="1" dirty="0">
                <a:solidFill>
                  <a:srgbClr val="4A7C59"/>
                </a:solidFill>
                <a:latin typeface="Trebuchet MS" pitchFamily="34" charset="0"/>
                <a:ea typeface="Trebuchet MS" pitchFamily="34" charset="-122"/>
                <a:cs typeface="Trebuchet MS" pitchFamily="34" charset="-120"/>
              </a:rPr>
              <a:t>Rwanda (intensity: 0.051)</a:t>
            </a:r>
            <a:endParaRPr lang="en-US" sz="1100" dirty="0"/>
          </a:p>
        </p:txBody>
      </p:sp>
      <p:sp>
        <p:nvSpPr>
          <p:cNvPr id="25" name="Shape 23"/>
          <p:cNvSpPr/>
          <p:nvPr/>
        </p:nvSpPr>
        <p:spPr>
          <a:xfrm>
            <a:off x="3310128" y="3374136"/>
            <a:ext cx="5486400" cy="438912"/>
          </a:xfrm>
          <a:prstGeom prst="rect">
            <a:avLst/>
          </a:prstGeom>
          <a:solidFill>
            <a:srgbClr val="2D2010"/>
          </a:solidFill>
          <a:ln w="15240">
            <a:solidFill>
              <a:srgbClr val="D4A017"/>
            </a:solidFill>
            <a:prstDash val="solid"/>
          </a:ln>
        </p:spPr>
      </p:sp>
      <p:sp>
        <p:nvSpPr>
          <p:cNvPr id="26" name="Text 24"/>
          <p:cNvSpPr/>
          <p:nvPr/>
        </p:nvSpPr>
        <p:spPr>
          <a:xfrm>
            <a:off x="3456432" y="3465576"/>
            <a:ext cx="2743200" cy="256032"/>
          </a:xfrm>
          <a:prstGeom prst="rect">
            <a:avLst/>
          </a:prstGeom>
          <a:noFill/>
          <a:ln/>
        </p:spPr>
        <p:txBody>
          <a:bodyPr wrap="square" lIns="0" tIns="0" rIns="0" bIns="0" rtlCol="0" anchor="ctr"/>
          <a:lstStyle/>
          <a:p>
            <a:pPr marL="0" indent="0">
              <a:buNone/>
            </a:pPr>
            <a:r>
              <a:rPr lang="en-US" sz="1050" dirty="0">
                <a:solidFill>
                  <a:srgbClr val="A0998F"/>
                </a:solidFill>
                <a:latin typeface="Calibri" pitchFamily="34" charset="0"/>
                <a:ea typeface="Calibri" pitchFamily="34" charset="-122"/>
                <a:cs typeface="Calibri" pitchFamily="34" charset="-120"/>
              </a:rPr>
              <a:t>Least Carbon Efficient</a:t>
            </a:r>
            <a:endParaRPr lang="en-US" sz="1050" dirty="0"/>
          </a:p>
        </p:txBody>
      </p:sp>
      <p:sp>
        <p:nvSpPr>
          <p:cNvPr id="27" name="Text 25"/>
          <p:cNvSpPr/>
          <p:nvPr/>
        </p:nvSpPr>
        <p:spPr>
          <a:xfrm>
            <a:off x="6263640" y="3465576"/>
            <a:ext cx="2395728" cy="256032"/>
          </a:xfrm>
          <a:prstGeom prst="rect">
            <a:avLst/>
          </a:prstGeom>
          <a:noFill/>
          <a:ln/>
        </p:spPr>
        <p:txBody>
          <a:bodyPr wrap="square" lIns="0" tIns="0" rIns="0" bIns="0" rtlCol="0" anchor="ctr"/>
          <a:lstStyle/>
          <a:p>
            <a:pPr marL="0" indent="0" algn="r">
              <a:buNone/>
            </a:pPr>
            <a:r>
              <a:rPr lang="en-US" sz="1100" b="1" dirty="0">
                <a:solidFill>
                  <a:srgbClr val="C1440E"/>
                </a:solidFill>
                <a:latin typeface="Trebuchet MS" pitchFamily="34" charset="0"/>
                <a:ea typeface="Trebuchet MS" pitchFamily="34" charset="-122"/>
                <a:cs typeface="Trebuchet MS" pitchFamily="34" charset="-120"/>
              </a:rPr>
              <a:t>South Africa (intensity: 0.773)</a:t>
            </a:r>
            <a:endParaRPr lang="en-US" sz="1100" dirty="0"/>
          </a:p>
        </p:txBody>
      </p:sp>
      <p:sp>
        <p:nvSpPr>
          <p:cNvPr id="28" name="Shape 26"/>
          <p:cNvSpPr/>
          <p:nvPr/>
        </p:nvSpPr>
        <p:spPr>
          <a:xfrm>
            <a:off x="3310128" y="3886200"/>
            <a:ext cx="5486400" cy="438912"/>
          </a:xfrm>
          <a:prstGeom prst="rect">
            <a:avLst/>
          </a:prstGeom>
          <a:solidFill>
            <a:srgbClr val="2D2010"/>
          </a:solidFill>
          <a:ln w="15240">
            <a:solidFill>
              <a:srgbClr val="D4A017"/>
            </a:solidFill>
            <a:prstDash val="solid"/>
          </a:ln>
        </p:spPr>
      </p:sp>
      <p:sp>
        <p:nvSpPr>
          <p:cNvPr id="29" name="Text 27"/>
          <p:cNvSpPr/>
          <p:nvPr/>
        </p:nvSpPr>
        <p:spPr>
          <a:xfrm>
            <a:off x="3456432" y="3977640"/>
            <a:ext cx="2743200" cy="256032"/>
          </a:xfrm>
          <a:prstGeom prst="rect">
            <a:avLst/>
          </a:prstGeom>
          <a:noFill/>
          <a:ln/>
        </p:spPr>
        <p:txBody>
          <a:bodyPr wrap="square" lIns="0" tIns="0" rIns="0" bIns="0" rtlCol="0" anchor="ctr"/>
          <a:lstStyle/>
          <a:p>
            <a:pPr marL="0" indent="0">
              <a:buNone/>
            </a:pPr>
            <a:r>
              <a:rPr lang="en-US" sz="1050" dirty="0">
                <a:solidFill>
                  <a:srgbClr val="A0998F"/>
                </a:solidFill>
                <a:latin typeface="Calibri" pitchFamily="34" charset="0"/>
                <a:ea typeface="Calibri" pitchFamily="34" charset="-122"/>
                <a:cs typeface="Calibri" pitchFamily="34" charset="-120"/>
              </a:rPr>
              <a:t>Top Outlier in CO2</a:t>
            </a:r>
            <a:endParaRPr lang="en-US" sz="1050" dirty="0"/>
          </a:p>
        </p:txBody>
      </p:sp>
      <p:sp>
        <p:nvSpPr>
          <p:cNvPr id="30" name="Text 28"/>
          <p:cNvSpPr/>
          <p:nvPr/>
        </p:nvSpPr>
        <p:spPr>
          <a:xfrm>
            <a:off x="6263640" y="3977640"/>
            <a:ext cx="2395728" cy="256032"/>
          </a:xfrm>
          <a:prstGeom prst="rect">
            <a:avLst/>
          </a:prstGeom>
          <a:noFill/>
          <a:ln/>
        </p:spPr>
        <p:txBody>
          <a:bodyPr wrap="square" lIns="0" tIns="0" rIns="0" bIns="0" rtlCol="0" anchor="ctr"/>
          <a:lstStyle/>
          <a:p>
            <a:pPr marL="0" indent="0" algn="r">
              <a:buNone/>
            </a:pPr>
            <a:r>
              <a:rPr lang="en-US" sz="1100" b="1" dirty="0">
                <a:solidFill>
                  <a:srgbClr val="C1440E"/>
                </a:solidFill>
                <a:latin typeface="Trebuchet MS" pitchFamily="34" charset="0"/>
                <a:ea typeface="Trebuchet MS" pitchFamily="34" charset="-122"/>
                <a:cs typeface="Trebuchet MS" pitchFamily="34" charset="-120"/>
              </a:rPr>
              <a:t>South Africa (494.70 Mt maximum)</a:t>
            </a:r>
            <a:endParaRPr lang="en-US" sz="1100" dirty="0"/>
          </a:p>
        </p:txBody>
      </p:sp>
      <p:sp>
        <p:nvSpPr>
          <p:cNvPr id="31" name="Shape 29"/>
          <p:cNvSpPr/>
          <p:nvPr/>
        </p:nvSpPr>
        <p:spPr>
          <a:xfrm>
            <a:off x="3310128" y="4398264"/>
            <a:ext cx="5486400" cy="438912"/>
          </a:xfrm>
          <a:prstGeom prst="rect">
            <a:avLst/>
          </a:prstGeom>
          <a:solidFill>
            <a:srgbClr val="2D2010"/>
          </a:solidFill>
          <a:ln w="15240">
            <a:solidFill>
              <a:srgbClr val="D4A017"/>
            </a:solidFill>
            <a:prstDash val="solid"/>
          </a:ln>
        </p:spPr>
      </p:sp>
      <p:sp>
        <p:nvSpPr>
          <p:cNvPr id="32" name="Text 30"/>
          <p:cNvSpPr/>
          <p:nvPr/>
        </p:nvSpPr>
        <p:spPr>
          <a:xfrm>
            <a:off x="3456432" y="4489704"/>
            <a:ext cx="2743200" cy="256032"/>
          </a:xfrm>
          <a:prstGeom prst="rect">
            <a:avLst/>
          </a:prstGeom>
          <a:noFill/>
          <a:ln/>
        </p:spPr>
        <p:txBody>
          <a:bodyPr wrap="square" lIns="0" tIns="0" rIns="0" bIns="0" rtlCol="0" anchor="ctr"/>
          <a:lstStyle/>
          <a:p>
            <a:pPr marL="0" indent="0">
              <a:buNone/>
            </a:pPr>
            <a:r>
              <a:rPr lang="en-US" sz="1050" dirty="0">
                <a:solidFill>
                  <a:srgbClr val="A0998F"/>
                </a:solidFill>
                <a:latin typeface="Calibri" pitchFamily="34" charset="0"/>
                <a:ea typeface="Calibri" pitchFamily="34" charset="-122"/>
                <a:cs typeface="Calibri" pitchFamily="34" charset="-120"/>
              </a:rPr>
              <a:t>Top Outlier in Flaring</a:t>
            </a:r>
            <a:endParaRPr lang="en-US" sz="1050" dirty="0"/>
          </a:p>
        </p:txBody>
      </p:sp>
      <p:sp>
        <p:nvSpPr>
          <p:cNvPr id="33" name="Text 31"/>
          <p:cNvSpPr/>
          <p:nvPr/>
        </p:nvSpPr>
        <p:spPr>
          <a:xfrm>
            <a:off x="6263640" y="4489704"/>
            <a:ext cx="2395728" cy="256032"/>
          </a:xfrm>
          <a:prstGeom prst="rect">
            <a:avLst/>
          </a:prstGeom>
          <a:noFill/>
          <a:ln/>
        </p:spPr>
        <p:txBody>
          <a:bodyPr wrap="square" lIns="0" tIns="0" rIns="0" bIns="0" rtlCol="0" anchor="ctr"/>
          <a:lstStyle/>
          <a:p>
            <a:pPr marL="0" indent="0" algn="r">
              <a:buNone/>
            </a:pPr>
            <a:r>
              <a:rPr lang="en-US" sz="1100" b="1" dirty="0">
                <a:solidFill>
                  <a:srgbClr val="C1440E"/>
                </a:solidFill>
                <a:latin typeface="Trebuchet MS" pitchFamily="34" charset="0"/>
                <a:ea typeface="Trebuchet MS" pitchFamily="34" charset="-122"/>
                <a:cs typeface="Trebuchet MS" pitchFamily="34" charset="-120"/>
              </a:rPr>
              <a:t>Nigeria (confirmed extreme outlier)</a:t>
            </a:r>
            <a:endParaRPr lang="en-US" sz="1100" dirty="0"/>
          </a:p>
        </p:txBody>
      </p:sp>
      <p:sp>
        <p:nvSpPr>
          <p:cNvPr id="34" name="Text 32"/>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D4A017"/>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1A1208"/>
                </a:solidFill>
              </a:rPr>
              <a:t>05  POWER BI DASHBOARD</a:t>
            </a:r>
            <a:endParaRPr lang="en-US" sz="900" dirty="0"/>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D4A017"/>
                </a:solidFill>
                <a:latin typeface="Trebuchet MS" pitchFamily="34" charset="0"/>
                <a:ea typeface="Trebuchet MS" pitchFamily="34" charset="-122"/>
                <a:cs typeface="Trebuchet MS" pitchFamily="34" charset="-120"/>
              </a:rPr>
              <a:t>Interactive Dashboard</a:t>
            </a:r>
            <a:endParaRPr lang="en-US" sz="2600" dirty="0"/>
          </a:p>
        </p:txBody>
      </p:sp>
      <p:sp>
        <p:nvSpPr>
          <p:cNvPr id="5" name="Text 3"/>
          <p:cNvSpPr/>
          <p:nvPr/>
        </p:nvSpPr>
        <p:spPr>
          <a:xfrm>
            <a:off x="365760" y="1078992"/>
            <a:ext cx="8412480" cy="274320"/>
          </a:xfrm>
          <a:prstGeom prst="rect">
            <a:avLst/>
          </a:prstGeom>
          <a:noFill/>
          <a:ln/>
        </p:spPr>
        <p:txBody>
          <a:bodyPr wrap="square" lIns="0" tIns="0" rIns="0" bIns="0" rtlCol="0" anchor="ctr"/>
          <a:lstStyle/>
          <a:p>
            <a:pPr marL="0" indent="0">
              <a:buNone/>
            </a:pPr>
            <a:r>
              <a:rPr lang="en-US" sz="1200" i="1" dirty="0">
                <a:solidFill>
                  <a:srgbClr val="A0998F"/>
                </a:solidFill>
                <a:latin typeface="Calibri" pitchFamily="34" charset="0"/>
                <a:ea typeface="Calibri" pitchFamily="34" charset="-122"/>
                <a:cs typeface="Calibri" pitchFamily="34" charset="-120"/>
              </a:rPr>
              <a:t>Built with African-themed colour palette</a:t>
            </a:r>
            <a:endParaRPr lang="en-US" sz="1200" dirty="0"/>
          </a:p>
        </p:txBody>
      </p:sp>
      <p:sp>
        <p:nvSpPr>
          <p:cNvPr id="6" name="Shape 4"/>
          <p:cNvSpPr/>
          <p:nvPr/>
        </p:nvSpPr>
        <p:spPr>
          <a:xfrm>
            <a:off x="347472" y="1353312"/>
            <a:ext cx="4251960" cy="1115568"/>
          </a:xfrm>
          <a:prstGeom prst="rect">
            <a:avLst/>
          </a:prstGeom>
          <a:solidFill>
            <a:srgbClr val="2D2010"/>
          </a:solidFill>
          <a:ln w="15240">
            <a:solidFill>
              <a:srgbClr val="D4A017"/>
            </a:solidFill>
            <a:prstDash val="solid"/>
          </a:ln>
        </p:spPr>
      </p:sp>
      <p:sp>
        <p:nvSpPr>
          <p:cNvPr id="7" name="Shape 5"/>
          <p:cNvSpPr/>
          <p:nvPr/>
        </p:nvSpPr>
        <p:spPr>
          <a:xfrm>
            <a:off x="347472" y="1353312"/>
            <a:ext cx="777240" cy="347472"/>
          </a:xfrm>
          <a:prstGeom prst="rect">
            <a:avLst/>
          </a:prstGeom>
          <a:solidFill>
            <a:srgbClr val="D4A017"/>
          </a:solidFill>
          <a:ln w="12700">
            <a:solidFill>
              <a:srgbClr val="D4A017"/>
            </a:solidFill>
            <a:prstDash val="solid"/>
          </a:ln>
        </p:spPr>
      </p:sp>
      <p:sp>
        <p:nvSpPr>
          <p:cNvPr id="8" name="Text 6"/>
          <p:cNvSpPr/>
          <p:nvPr/>
        </p:nvSpPr>
        <p:spPr>
          <a:xfrm>
            <a:off x="347472" y="1353312"/>
            <a:ext cx="777240" cy="347472"/>
          </a:xfrm>
          <a:prstGeom prst="rect">
            <a:avLst/>
          </a:prstGeom>
          <a:noFill/>
          <a:ln/>
        </p:spPr>
        <p:txBody>
          <a:bodyPr wrap="square" lIns="0" tIns="0" rIns="0" bIns="0" rtlCol="0" anchor="ctr"/>
          <a:lstStyle/>
          <a:p>
            <a:pPr marL="0" indent="0" algn="ctr">
              <a:buNone/>
            </a:pPr>
            <a:r>
              <a:rPr lang="en-US" sz="1100" b="1" dirty="0">
                <a:solidFill>
                  <a:srgbClr val="1A1208"/>
                </a:solidFill>
                <a:latin typeface="Trebuchet MS" pitchFamily="34" charset="0"/>
                <a:ea typeface="Trebuchet MS" pitchFamily="34" charset="-122"/>
                <a:cs typeface="Trebuchet MS" pitchFamily="34" charset="-120"/>
              </a:rPr>
              <a:t>Page 1</a:t>
            </a:r>
            <a:endParaRPr lang="en-US" sz="1100" dirty="0"/>
          </a:p>
        </p:txBody>
      </p:sp>
      <p:sp>
        <p:nvSpPr>
          <p:cNvPr id="9" name="Text 7"/>
          <p:cNvSpPr/>
          <p:nvPr/>
        </p:nvSpPr>
        <p:spPr>
          <a:xfrm>
            <a:off x="1261872" y="1417320"/>
            <a:ext cx="3246120" cy="256032"/>
          </a:xfrm>
          <a:prstGeom prst="rect">
            <a:avLst/>
          </a:prstGeom>
          <a:noFill/>
          <a:ln/>
        </p:spPr>
        <p:txBody>
          <a:bodyPr wrap="square" lIns="0" tIns="0" rIns="0" bIns="0" rtlCol="0" anchor="ctr"/>
          <a:lstStyle/>
          <a:p>
            <a:pPr marL="0" indent="0">
              <a:buNone/>
            </a:pPr>
            <a:r>
              <a:rPr lang="en-US" sz="1200" b="1" dirty="0">
                <a:solidFill>
                  <a:srgbClr val="D4A017"/>
                </a:solidFill>
                <a:latin typeface="Trebuchet MS" pitchFamily="34" charset="0"/>
                <a:ea typeface="Trebuchet MS" pitchFamily="34" charset="-122"/>
                <a:cs typeface="Trebuchet MS" pitchFamily="34" charset="-120"/>
              </a:rPr>
              <a:t>Overview</a:t>
            </a:r>
            <a:endParaRPr lang="en-US" sz="1200" dirty="0"/>
          </a:p>
        </p:txBody>
      </p:sp>
      <p:sp>
        <p:nvSpPr>
          <p:cNvPr id="10" name="Text 8"/>
          <p:cNvSpPr/>
          <p:nvPr/>
        </p:nvSpPr>
        <p:spPr>
          <a:xfrm>
            <a:off x="457200" y="1755648"/>
            <a:ext cx="4041648" cy="640080"/>
          </a:xfrm>
          <a:prstGeom prst="rect">
            <a:avLst/>
          </a:prstGeom>
          <a:noFill/>
          <a:ln/>
        </p:spPr>
        <p:txBody>
          <a:bodyPr wrap="square" lIns="0" tIns="0" rIns="0" bIns="0" rtlCol="0" anchor="ctr"/>
          <a:lstStyle/>
          <a:p>
            <a:pPr marL="0" indent="0">
              <a:buNone/>
            </a:pPr>
            <a:r>
              <a:rPr lang="en-US" sz="950" dirty="0">
                <a:solidFill>
                  <a:srgbClr val="F5F0E8"/>
                </a:solidFill>
                <a:latin typeface="Calibri" pitchFamily="34" charset="0"/>
                <a:ea typeface="Calibri" pitchFamily="34" charset="-122"/>
                <a:cs typeface="Calibri" pitchFamily="34" charset="-120"/>
              </a:rPr>
              <a:t>KPI cards, CO2 and GDP trend lines, top 10 emitters summary</a:t>
            </a:r>
            <a:endParaRPr lang="en-US" sz="950" dirty="0"/>
          </a:p>
        </p:txBody>
      </p:sp>
      <p:sp>
        <p:nvSpPr>
          <p:cNvPr id="11" name="Shape 9"/>
          <p:cNvSpPr/>
          <p:nvPr/>
        </p:nvSpPr>
        <p:spPr>
          <a:xfrm>
            <a:off x="4782312" y="1353312"/>
            <a:ext cx="4251960" cy="1115568"/>
          </a:xfrm>
          <a:prstGeom prst="rect">
            <a:avLst/>
          </a:prstGeom>
          <a:solidFill>
            <a:srgbClr val="2D2010"/>
          </a:solidFill>
          <a:ln w="15240">
            <a:solidFill>
              <a:srgbClr val="D4A017"/>
            </a:solidFill>
            <a:prstDash val="solid"/>
          </a:ln>
        </p:spPr>
      </p:sp>
      <p:sp>
        <p:nvSpPr>
          <p:cNvPr id="12" name="Shape 10"/>
          <p:cNvSpPr/>
          <p:nvPr/>
        </p:nvSpPr>
        <p:spPr>
          <a:xfrm>
            <a:off x="4782312" y="1353312"/>
            <a:ext cx="777240" cy="347472"/>
          </a:xfrm>
          <a:prstGeom prst="rect">
            <a:avLst/>
          </a:prstGeom>
          <a:solidFill>
            <a:srgbClr val="4A7C59"/>
          </a:solidFill>
          <a:ln w="12700">
            <a:solidFill>
              <a:srgbClr val="4A7C59"/>
            </a:solidFill>
            <a:prstDash val="solid"/>
          </a:ln>
        </p:spPr>
      </p:sp>
      <p:sp>
        <p:nvSpPr>
          <p:cNvPr id="13" name="Text 11"/>
          <p:cNvSpPr/>
          <p:nvPr/>
        </p:nvSpPr>
        <p:spPr>
          <a:xfrm>
            <a:off x="4782312" y="1353312"/>
            <a:ext cx="777240" cy="347472"/>
          </a:xfrm>
          <a:prstGeom prst="rect">
            <a:avLst/>
          </a:prstGeom>
          <a:noFill/>
          <a:ln/>
        </p:spPr>
        <p:txBody>
          <a:bodyPr wrap="square" lIns="0" tIns="0" rIns="0" bIns="0" rtlCol="0" anchor="ctr"/>
          <a:lstStyle/>
          <a:p>
            <a:pPr marL="0" indent="0" algn="ctr">
              <a:buNone/>
            </a:pPr>
            <a:r>
              <a:rPr lang="en-US" sz="1100" b="1" dirty="0">
                <a:solidFill>
                  <a:srgbClr val="1A1208"/>
                </a:solidFill>
                <a:latin typeface="Trebuchet MS" pitchFamily="34" charset="0"/>
                <a:ea typeface="Trebuchet MS" pitchFamily="34" charset="-122"/>
                <a:cs typeface="Trebuchet MS" pitchFamily="34" charset="-120"/>
              </a:rPr>
              <a:t>Page 2</a:t>
            </a:r>
            <a:endParaRPr lang="en-US" sz="1100" dirty="0"/>
          </a:p>
        </p:txBody>
      </p:sp>
      <p:sp>
        <p:nvSpPr>
          <p:cNvPr id="14" name="Text 12"/>
          <p:cNvSpPr/>
          <p:nvPr/>
        </p:nvSpPr>
        <p:spPr>
          <a:xfrm>
            <a:off x="5696712" y="1417320"/>
            <a:ext cx="3246120" cy="256032"/>
          </a:xfrm>
          <a:prstGeom prst="rect">
            <a:avLst/>
          </a:prstGeom>
          <a:noFill/>
          <a:ln/>
        </p:spPr>
        <p:txBody>
          <a:bodyPr wrap="square" lIns="0" tIns="0" rIns="0" bIns="0" rtlCol="0" anchor="ctr"/>
          <a:lstStyle/>
          <a:p>
            <a:pPr marL="0" indent="0">
              <a:buNone/>
            </a:pPr>
            <a:r>
              <a:rPr lang="en-US" sz="1200" b="1" dirty="0">
                <a:solidFill>
                  <a:srgbClr val="4A7C59"/>
                </a:solidFill>
                <a:latin typeface="Trebuchet MS" pitchFamily="34" charset="0"/>
                <a:ea typeface="Trebuchet MS" pitchFamily="34" charset="-122"/>
                <a:cs typeface="Trebuchet MS" pitchFamily="34" charset="-120"/>
              </a:rPr>
              <a:t>Emission Trends</a:t>
            </a:r>
            <a:endParaRPr lang="en-US" sz="1200" dirty="0"/>
          </a:p>
        </p:txBody>
      </p:sp>
      <p:sp>
        <p:nvSpPr>
          <p:cNvPr id="15" name="Text 13"/>
          <p:cNvSpPr/>
          <p:nvPr/>
        </p:nvSpPr>
        <p:spPr>
          <a:xfrm>
            <a:off x="4892040" y="1755648"/>
            <a:ext cx="4041648" cy="640080"/>
          </a:xfrm>
          <a:prstGeom prst="rect">
            <a:avLst/>
          </a:prstGeom>
          <a:noFill/>
          <a:ln/>
        </p:spPr>
        <p:txBody>
          <a:bodyPr wrap="square" lIns="0" tIns="0" rIns="0" bIns="0" rtlCol="0" anchor="ctr"/>
          <a:lstStyle/>
          <a:p>
            <a:pPr marL="0" indent="0">
              <a:buNone/>
            </a:pPr>
            <a:r>
              <a:rPr lang="en-US" sz="950" dirty="0">
                <a:solidFill>
                  <a:srgbClr val="F5F0E8"/>
                </a:solidFill>
                <a:latin typeface="Calibri" pitchFamily="34" charset="0"/>
                <a:ea typeface="Calibri" pitchFamily="34" charset="-122"/>
                <a:cs typeface="Calibri" pitchFamily="34" charset="-120"/>
              </a:rPr>
              <a:t>6 trend line charts covering CO2, GDP, growth rate, per capita, intensity, COVID impact</a:t>
            </a:r>
            <a:endParaRPr lang="en-US" sz="950" dirty="0"/>
          </a:p>
        </p:txBody>
      </p:sp>
      <p:sp>
        <p:nvSpPr>
          <p:cNvPr id="16" name="Shape 14"/>
          <p:cNvSpPr/>
          <p:nvPr/>
        </p:nvSpPr>
        <p:spPr>
          <a:xfrm>
            <a:off x="347472" y="2587752"/>
            <a:ext cx="4251960" cy="1115568"/>
          </a:xfrm>
          <a:prstGeom prst="rect">
            <a:avLst/>
          </a:prstGeom>
          <a:solidFill>
            <a:srgbClr val="2D2010"/>
          </a:solidFill>
          <a:ln w="15240">
            <a:solidFill>
              <a:srgbClr val="D4A017"/>
            </a:solidFill>
            <a:prstDash val="solid"/>
          </a:ln>
        </p:spPr>
      </p:sp>
      <p:sp>
        <p:nvSpPr>
          <p:cNvPr id="17" name="Shape 15"/>
          <p:cNvSpPr/>
          <p:nvPr/>
        </p:nvSpPr>
        <p:spPr>
          <a:xfrm>
            <a:off x="347472" y="2587752"/>
            <a:ext cx="777240" cy="347472"/>
          </a:xfrm>
          <a:prstGeom prst="rect">
            <a:avLst/>
          </a:prstGeom>
          <a:solidFill>
            <a:srgbClr val="2E86AB"/>
          </a:solidFill>
          <a:ln w="12700">
            <a:solidFill>
              <a:srgbClr val="2E86AB"/>
            </a:solidFill>
            <a:prstDash val="solid"/>
          </a:ln>
        </p:spPr>
      </p:sp>
      <p:sp>
        <p:nvSpPr>
          <p:cNvPr id="18" name="Text 16"/>
          <p:cNvSpPr/>
          <p:nvPr/>
        </p:nvSpPr>
        <p:spPr>
          <a:xfrm>
            <a:off x="347472" y="2587752"/>
            <a:ext cx="777240" cy="347472"/>
          </a:xfrm>
          <a:prstGeom prst="rect">
            <a:avLst/>
          </a:prstGeom>
          <a:noFill/>
          <a:ln/>
        </p:spPr>
        <p:txBody>
          <a:bodyPr wrap="square" lIns="0" tIns="0" rIns="0" bIns="0" rtlCol="0" anchor="ctr"/>
          <a:lstStyle/>
          <a:p>
            <a:pPr marL="0" indent="0" algn="ctr">
              <a:buNone/>
            </a:pPr>
            <a:r>
              <a:rPr lang="en-US" sz="1100" b="1" dirty="0">
                <a:solidFill>
                  <a:srgbClr val="1A1208"/>
                </a:solidFill>
                <a:latin typeface="Trebuchet MS" pitchFamily="34" charset="0"/>
                <a:ea typeface="Trebuchet MS" pitchFamily="34" charset="-122"/>
                <a:cs typeface="Trebuchet MS" pitchFamily="34" charset="-120"/>
              </a:rPr>
              <a:t>Page 3</a:t>
            </a:r>
            <a:endParaRPr lang="en-US" sz="1100" dirty="0"/>
          </a:p>
        </p:txBody>
      </p:sp>
      <p:sp>
        <p:nvSpPr>
          <p:cNvPr id="19" name="Text 17"/>
          <p:cNvSpPr/>
          <p:nvPr/>
        </p:nvSpPr>
        <p:spPr>
          <a:xfrm>
            <a:off x="1261872" y="2651760"/>
            <a:ext cx="3246120" cy="256032"/>
          </a:xfrm>
          <a:prstGeom prst="rect">
            <a:avLst/>
          </a:prstGeom>
          <a:noFill/>
          <a:ln/>
        </p:spPr>
        <p:txBody>
          <a:bodyPr wrap="square" lIns="0" tIns="0" rIns="0" bIns="0" rtlCol="0" anchor="ctr"/>
          <a:lstStyle/>
          <a:p>
            <a:pPr marL="0" indent="0">
              <a:buNone/>
            </a:pPr>
            <a:r>
              <a:rPr lang="en-US" sz="1200" b="1" dirty="0">
                <a:solidFill>
                  <a:srgbClr val="2E86AB"/>
                </a:solidFill>
                <a:latin typeface="Trebuchet MS" pitchFamily="34" charset="0"/>
                <a:ea typeface="Trebuchet MS" pitchFamily="34" charset="-122"/>
                <a:cs typeface="Trebuchet MS" pitchFamily="34" charset="-120"/>
              </a:rPr>
              <a:t>Country and Regional Comparison</a:t>
            </a:r>
            <a:endParaRPr lang="en-US" sz="1200" dirty="0"/>
          </a:p>
        </p:txBody>
      </p:sp>
      <p:sp>
        <p:nvSpPr>
          <p:cNvPr id="20" name="Text 18"/>
          <p:cNvSpPr/>
          <p:nvPr/>
        </p:nvSpPr>
        <p:spPr>
          <a:xfrm>
            <a:off x="457200" y="2990088"/>
            <a:ext cx="4041648" cy="640080"/>
          </a:xfrm>
          <a:prstGeom prst="rect">
            <a:avLst/>
          </a:prstGeom>
          <a:noFill/>
          <a:ln/>
        </p:spPr>
        <p:txBody>
          <a:bodyPr wrap="square" lIns="0" tIns="0" rIns="0" bIns="0" rtlCol="0" anchor="ctr"/>
          <a:lstStyle/>
          <a:p>
            <a:pPr marL="0" indent="0">
              <a:buNone/>
            </a:pPr>
            <a:r>
              <a:rPr lang="en-US" sz="950" dirty="0">
                <a:solidFill>
                  <a:srgbClr val="F5F0E8"/>
                </a:solidFill>
                <a:latin typeface="Calibri" pitchFamily="34" charset="0"/>
                <a:ea typeface="Calibri" pitchFamily="34" charset="-122"/>
                <a:cs typeface="Calibri" pitchFamily="34" charset="-120"/>
              </a:rPr>
              <a:t>Africa map, regional CO2 and GDP charts, CO2 per capita, methane analysis</a:t>
            </a:r>
            <a:endParaRPr lang="en-US" sz="950" dirty="0"/>
          </a:p>
        </p:txBody>
      </p:sp>
      <p:sp>
        <p:nvSpPr>
          <p:cNvPr id="21" name="Shape 19"/>
          <p:cNvSpPr/>
          <p:nvPr/>
        </p:nvSpPr>
        <p:spPr>
          <a:xfrm>
            <a:off x="4782312" y="2587752"/>
            <a:ext cx="4251960" cy="1115568"/>
          </a:xfrm>
          <a:prstGeom prst="rect">
            <a:avLst/>
          </a:prstGeom>
          <a:solidFill>
            <a:srgbClr val="2D2010"/>
          </a:solidFill>
          <a:ln w="15240">
            <a:solidFill>
              <a:srgbClr val="D4A017"/>
            </a:solidFill>
            <a:prstDash val="solid"/>
          </a:ln>
        </p:spPr>
      </p:sp>
      <p:sp>
        <p:nvSpPr>
          <p:cNvPr id="22" name="Shape 20"/>
          <p:cNvSpPr/>
          <p:nvPr/>
        </p:nvSpPr>
        <p:spPr>
          <a:xfrm>
            <a:off x="4782312" y="2587752"/>
            <a:ext cx="777240" cy="347472"/>
          </a:xfrm>
          <a:prstGeom prst="rect">
            <a:avLst/>
          </a:prstGeom>
          <a:solidFill>
            <a:srgbClr val="D4A017"/>
          </a:solidFill>
          <a:ln w="12700">
            <a:solidFill>
              <a:srgbClr val="D4A017"/>
            </a:solidFill>
            <a:prstDash val="solid"/>
          </a:ln>
        </p:spPr>
      </p:sp>
      <p:sp>
        <p:nvSpPr>
          <p:cNvPr id="23" name="Text 21"/>
          <p:cNvSpPr/>
          <p:nvPr/>
        </p:nvSpPr>
        <p:spPr>
          <a:xfrm>
            <a:off x="4782312" y="2587752"/>
            <a:ext cx="777240" cy="347472"/>
          </a:xfrm>
          <a:prstGeom prst="rect">
            <a:avLst/>
          </a:prstGeom>
          <a:noFill/>
          <a:ln/>
        </p:spPr>
        <p:txBody>
          <a:bodyPr wrap="square" lIns="0" tIns="0" rIns="0" bIns="0" rtlCol="0" anchor="ctr"/>
          <a:lstStyle/>
          <a:p>
            <a:pPr marL="0" indent="0" algn="ctr">
              <a:buNone/>
            </a:pPr>
            <a:r>
              <a:rPr lang="en-US" sz="1100" b="1" dirty="0">
                <a:solidFill>
                  <a:srgbClr val="1A1208"/>
                </a:solidFill>
                <a:latin typeface="Trebuchet MS" pitchFamily="34" charset="0"/>
                <a:ea typeface="Trebuchet MS" pitchFamily="34" charset="-122"/>
                <a:cs typeface="Trebuchet MS" pitchFamily="34" charset="-120"/>
              </a:rPr>
              <a:t>Page 4</a:t>
            </a:r>
            <a:endParaRPr lang="en-US" sz="1100" dirty="0"/>
          </a:p>
        </p:txBody>
      </p:sp>
      <p:sp>
        <p:nvSpPr>
          <p:cNvPr id="24" name="Text 22"/>
          <p:cNvSpPr/>
          <p:nvPr/>
        </p:nvSpPr>
        <p:spPr>
          <a:xfrm>
            <a:off x="5696712" y="2651760"/>
            <a:ext cx="3246120" cy="256032"/>
          </a:xfrm>
          <a:prstGeom prst="rect">
            <a:avLst/>
          </a:prstGeom>
          <a:noFill/>
          <a:ln/>
        </p:spPr>
        <p:txBody>
          <a:bodyPr wrap="square" lIns="0" tIns="0" rIns="0" bIns="0" rtlCol="0" anchor="ctr"/>
          <a:lstStyle/>
          <a:p>
            <a:pPr marL="0" indent="0">
              <a:buNone/>
            </a:pPr>
            <a:r>
              <a:rPr lang="en-US" sz="1200" b="1" dirty="0">
                <a:solidFill>
                  <a:srgbClr val="D4A017"/>
                </a:solidFill>
                <a:latin typeface="Trebuchet MS" pitchFamily="34" charset="0"/>
                <a:ea typeface="Trebuchet MS" pitchFamily="34" charset="-122"/>
                <a:cs typeface="Trebuchet MS" pitchFamily="34" charset="-120"/>
              </a:rPr>
              <a:t>GDP vs CO2 and Decoupling</a:t>
            </a:r>
            <a:endParaRPr lang="en-US" sz="1200" dirty="0"/>
          </a:p>
        </p:txBody>
      </p:sp>
      <p:sp>
        <p:nvSpPr>
          <p:cNvPr id="25" name="Text 23"/>
          <p:cNvSpPr/>
          <p:nvPr/>
        </p:nvSpPr>
        <p:spPr>
          <a:xfrm>
            <a:off x="4892040" y="2990088"/>
            <a:ext cx="4041648" cy="640080"/>
          </a:xfrm>
          <a:prstGeom prst="rect">
            <a:avLst/>
          </a:prstGeom>
          <a:noFill/>
          <a:ln/>
        </p:spPr>
        <p:txBody>
          <a:bodyPr wrap="square" lIns="0" tIns="0" rIns="0" bIns="0" rtlCol="0" anchor="ctr"/>
          <a:lstStyle/>
          <a:p>
            <a:pPr marL="0" indent="0">
              <a:buNone/>
            </a:pPr>
            <a:r>
              <a:rPr lang="en-US" sz="950" dirty="0">
                <a:solidFill>
                  <a:srgbClr val="F5F0E8"/>
                </a:solidFill>
                <a:latin typeface="Calibri" pitchFamily="34" charset="0"/>
                <a:ea typeface="Calibri" pitchFamily="34" charset="-122"/>
                <a:cs typeface="Calibri" pitchFamily="34" charset="-120"/>
              </a:rPr>
              <a:t>Scatter plot, dual-axis decoupling chart, emission intensity ranking</a:t>
            </a:r>
            <a:endParaRPr lang="en-US" sz="950" dirty="0"/>
          </a:p>
        </p:txBody>
      </p:sp>
      <p:sp>
        <p:nvSpPr>
          <p:cNvPr id="26" name="Shape 24"/>
          <p:cNvSpPr/>
          <p:nvPr/>
        </p:nvSpPr>
        <p:spPr>
          <a:xfrm>
            <a:off x="347472" y="3822192"/>
            <a:ext cx="4251960" cy="1115568"/>
          </a:xfrm>
          <a:prstGeom prst="rect">
            <a:avLst/>
          </a:prstGeom>
          <a:solidFill>
            <a:srgbClr val="2D2010"/>
          </a:solidFill>
          <a:ln w="15240">
            <a:solidFill>
              <a:srgbClr val="D4A017"/>
            </a:solidFill>
            <a:prstDash val="solid"/>
          </a:ln>
        </p:spPr>
      </p:sp>
      <p:sp>
        <p:nvSpPr>
          <p:cNvPr id="27" name="Shape 25"/>
          <p:cNvSpPr/>
          <p:nvPr/>
        </p:nvSpPr>
        <p:spPr>
          <a:xfrm>
            <a:off x="347472" y="3822192"/>
            <a:ext cx="777240" cy="347472"/>
          </a:xfrm>
          <a:prstGeom prst="rect">
            <a:avLst/>
          </a:prstGeom>
          <a:solidFill>
            <a:srgbClr val="C1440E"/>
          </a:solidFill>
          <a:ln w="12700">
            <a:solidFill>
              <a:srgbClr val="C1440E"/>
            </a:solidFill>
            <a:prstDash val="solid"/>
          </a:ln>
        </p:spPr>
      </p:sp>
      <p:sp>
        <p:nvSpPr>
          <p:cNvPr id="28" name="Text 26"/>
          <p:cNvSpPr/>
          <p:nvPr/>
        </p:nvSpPr>
        <p:spPr>
          <a:xfrm>
            <a:off x="347472" y="3822192"/>
            <a:ext cx="777240" cy="347472"/>
          </a:xfrm>
          <a:prstGeom prst="rect">
            <a:avLst/>
          </a:prstGeom>
          <a:noFill/>
          <a:ln/>
        </p:spPr>
        <p:txBody>
          <a:bodyPr wrap="square" lIns="0" tIns="0" rIns="0" bIns="0" rtlCol="0" anchor="ctr"/>
          <a:lstStyle/>
          <a:p>
            <a:pPr marL="0" indent="0" algn="ctr">
              <a:buNone/>
            </a:pPr>
            <a:r>
              <a:rPr lang="en-US" sz="1100" b="1" dirty="0">
                <a:solidFill>
                  <a:srgbClr val="1A1208"/>
                </a:solidFill>
                <a:latin typeface="Trebuchet MS" pitchFamily="34" charset="0"/>
                <a:ea typeface="Trebuchet MS" pitchFamily="34" charset="-122"/>
                <a:cs typeface="Trebuchet MS" pitchFamily="34" charset="-120"/>
              </a:rPr>
              <a:t>Page 5</a:t>
            </a:r>
            <a:endParaRPr lang="en-US" sz="1100" dirty="0"/>
          </a:p>
        </p:txBody>
      </p:sp>
      <p:sp>
        <p:nvSpPr>
          <p:cNvPr id="29" name="Text 27"/>
          <p:cNvSpPr/>
          <p:nvPr/>
        </p:nvSpPr>
        <p:spPr>
          <a:xfrm>
            <a:off x="1261872" y="3886200"/>
            <a:ext cx="3246120" cy="256032"/>
          </a:xfrm>
          <a:prstGeom prst="rect">
            <a:avLst/>
          </a:prstGeom>
          <a:noFill/>
          <a:ln/>
        </p:spPr>
        <p:txBody>
          <a:bodyPr wrap="square" lIns="0" tIns="0" rIns="0" bIns="0" rtlCol="0" anchor="ctr"/>
          <a:lstStyle/>
          <a:p>
            <a:pPr marL="0" indent="0">
              <a:buNone/>
            </a:pPr>
            <a:r>
              <a:rPr lang="en-US" sz="1200" b="1" dirty="0">
                <a:solidFill>
                  <a:srgbClr val="C1440E"/>
                </a:solidFill>
                <a:latin typeface="Trebuchet MS" pitchFamily="34" charset="0"/>
                <a:ea typeface="Trebuchet MS" pitchFamily="34" charset="-122"/>
                <a:cs typeface="Trebuchet MS" pitchFamily="34" charset="-120"/>
              </a:rPr>
              <a:t>Sectoral and Global Impact</a:t>
            </a:r>
            <a:endParaRPr lang="en-US" sz="1200" dirty="0"/>
          </a:p>
        </p:txBody>
      </p:sp>
      <p:sp>
        <p:nvSpPr>
          <p:cNvPr id="30" name="Text 28"/>
          <p:cNvSpPr/>
          <p:nvPr/>
        </p:nvSpPr>
        <p:spPr>
          <a:xfrm>
            <a:off x="457200" y="4224528"/>
            <a:ext cx="4041648" cy="640080"/>
          </a:xfrm>
          <a:prstGeom prst="rect">
            <a:avLst/>
          </a:prstGeom>
          <a:noFill/>
          <a:ln/>
        </p:spPr>
        <p:txBody>
          <a:bodyPr wrap="square" lIns="0" tIns="0" rIns="0" bIns="0" rtlCol="0" anchor="ctr"/>
          <a:lstStyle/>
          <a:p>
            <a:pPr marL="0" indent="0">
              <a:buNone/>
            </a:pPr>
            <a:r>
              <a:rPr lang="en-US" sz="950" dirty="0">
                <a:solidFill>
                  <a:srgbClr val="F5F0E8"/>
                </a:solidFill>
                <a:latin typeface="Calibri" pitchFamily="34" charset="0"/>
                <a:ea typeface="Calibri" pitchFamily="34" charset="-122"/>
                <a:cs typeface="Calibri" pitchFamily="34" charset="-120"/>
              </a:rPr>
              <a:t>Gas flaring, oil CO2, energy per capita, Africa 3.27% global share</a:t>
            </a:r>
            <a:endParaRPr lang="en-US" sz="950" dirty="0"/>
          </a:p>
        </p:txBody>
      </p:sp>
      <p:sp>
        <p:nvSpPr>
          <p:cNvPr id="31" name="Shape 29"/>
          <p:cNvSpPr/>
          <p:nvPr/>
        </p:nvSpPr>
        <p:spPr>
          <a:xfrm>
            <a:off x="4782312" y="3822192"/>
            <a:ext cx="4251960" cy="1115568"/>
          </a:xfrm>
          <a:prstGeom prst="rect">
            <a:avLst/>
          </a:prstGeom>
          <a:solidFill>
            <a:srgbClr val="2D2010"/>
          </a:solidFill>
          <a:ln w="15240">
            <a:solidFill>
              <a:srgbClr val="D4A017"/>
            </a:solidFill>
            <a:prstDash val="solid"/>
          </a:ln>
        </p:spPr>
      </p:sp>
      <p:sp>
        <p:nvSpPr>
          <p:cNvPr id="32" name="Shape 30"/>
          <p:cNvSpPr/>
          <p:nvPr/>
        </p:nvSpPr>
        <p:spPr>
          <a:xfrm>
            <a:off x="4782312" y="3822192"/>
            <a:ext cx="777240" cy="347472"/>
          </a:xfrm>
          <a:prstGeom prst="rect">
            <a:avLst/>
          </a:prstGeom>
          <a:solidFill>
            <a:srgbClr val="4A7C59"/>
          </a:solidFill>
          <a:ln w="12700">
            <a:solidFill>
              <a:srgbClr val="4A7C59"/>
            </a:solidFill>
            <a:prstDash val="solid"/>
          </a:ln>
        </p:spPr>
      </p:sp>
      <p:sp>
        <p:nvSpPr>
          <p:cNvPr id="33" name="Text 31"/>
          <p:cNvSpPr/>
          <p:nvPr/>
        </p:nvSpPr>
        <p:spPr>
          <a:xfrm>
            <a:off x="4782312" y="3822192"/>
            <a:ext cx="777240" cy="347472"/>
          </a:xfrm>
          <a:prstGeom prst="rect">
            <a:avLst/>
          </a:prstGeom>
          <a:noFill/>
          <a:ln/>
        </p:spPr>
        <p:txBody>
          <a:bodyPr wrap="square" lIns="0" tIns="0" rIns="0" bIns="0" rtlCol="0" anchor="ctr"/>
          <a:lstStyle/>
          <a:p>
            <a:pPr marL="0" indent="0" algn="ctr">
              <a:buNone/>
            </a:pPr>
            <a:r>
              <a:rPr lang="en-US" sz="1100" b="1" dirty="0">
                <a:solidFill>
                  <a:srgbClr val="1A1208"/>
                </a:solidFill>
                <a:latin typeface="Trebuchet MS" pitchFamily="34" charset="0"/>
                <a:ea typeface="Trebuchet MS" pitchFamily="34" charset="-122"/>
                <a:cs typeface="Trebuchet MS" pitchFamily="34" charset="-120"/>
              </a:rPr>
              <a:t>Page 6</a:t>
            </a:r>
            <a:endParaRPr lang="en-US" sz="1100" dirty="0"/>
          </a:p>
        </p:txBody>
      </p:sp>
      <p:sp>
        <p:nvSpPr>
          <p:cNvPr id="34" name="Text 32"/>
          <p:cNvSpPr/>
          <p:nvPr/>
        </p:nvSpPr>
        <p:spPr>
          <a:xfrm>
            <a:off x="5696712" y="3886200"/>
            <a:ext cx="3246120" cy="256032"/>
          </a:xfrm>
          <a:prstGeom prst="rect">
            <a:avLst/>
          </a:prstGeom>
          <a:noFill/>
          <a:ln/>
        </p:spPr>
        <p:txBody>
          <a:bodyPr wrap="square" lIns="0" tIns="0" rIns="0" bIns="0" rtlCol="0" anchor="ctr"/>
          <a:lstStyle/>
          <a:p>
            <a:pPr marL="0" indent="0">
              <a:buNone/>
            </a:pPr>
            <a:r>
              <a:rPr lang="en-US" sz="1200" b="1" dirty="0">
                <a:solidFill>
                  <a:srgbClr val="4A7C59"/>
                </a:solidFill>
                <a:latin typeface="Trebuchet MS" pitchFamily="34" charset="0"/>
                <a:ea typeface="Trebuchet MS" pitchFamily="34" charset="-122"/>
                <a:cs typeface="Trebuchet MS" pitchFamily="34" charset="-120"/>
              </a:rPr>
              <a:t>Insights and Recommendations</a:t>
            </a:r>
            <a:endParaRPr lang="en-US" sz="1200" dirty="0"/>
          </a:p>
        </p:txBody>
      </p:sp>
      <p:sp>
        <p:nvSpPr>
          <p:cNvPr id="35" name="Text 33"/>
          <p:cNvSpPr/>
          <p:nvPr/>
        </p:nvSpPr>
        <p:spPr>
          <a:xfrm>
            <a:off x="4892040" y="4224528"/>
            <a:ext cx="4041648" cy="640080"/>
          </a:xfrm>
          <a:prstGeom prst="rect">
            <a:avLst/>
          </a:prstGeom>
          <a:noFill/>
          <a:ln/>
        </p:spPr>
        <p:txBody>
          <a:bodyPr wrap="square" lIns="0" tIns="0" rIns="0" bIns="0" rtlCol="0" anchor="ctr"/>
          <a:lstStyle/>
          <a:p>
            <a:pPr marL="0" indent="0">
              <a:buNone/>
            </a:pPr>
            <a:r>
              <a:rPr lang="en-US" sz="950" dirty="0">
                <a:solidFill>
                  <a:srgbClr val="F5F0E8"/>
                </a:solidFill>
                <a:latin typeface="Calibri" pitchFamily="34" charset="0"/>
                <a:ea typeface="Calibri" pitchFamily="34" charset="-122"/>
                <a:cs typeface="Calibri" pitchFamily="34" charset="-120"/>
              </a:rPr>
              <a:t>Executive summary, 7 key insights, 6 policy recommendations</a:t>
            </a:r>
            <a:endParaRPr lang="en-US" sz="950" dirty="0"/>
          </a:p>
        </p:txBody>
      </p:sp>
      <p:sp>
        <p:nvSpPr>
          <p:cNvPr id="36" name="Text 34"/>
          <p:cNvSpPr/>
          <p:nvPr/>
        </p:nvSpPr>
        <p:spPr>
          <a:xfrm>
            <a:off x="347472" y="4754880"/>
            <a:ext cx="8449056" cy="228600"/>
          </a:xfrm>
          <a:prstGeom prst="rect">
            <a:avLst/>
          </a:prstGeom>
          <a:noFill/>
          <a:ln/>
        </p:spPr>
        <p:txBody>
          <a:bodyPr wrap="square" lIns="0" tIns="0" rIns="0" bIns="0" rtlCol="0" anchor="ctr"/>
          <a:lstStyle/>
          <a:p>
            <a:pPr marL="0" indent="0" algn="ctr">
              <a:buNone/>
            </a:pPr>
            <a:r>
              <a:rPr lang="en-US" sz="900" i="1" dirty="0">
                <a:solidFill>
                  <a:srgbClr val="A0998F"/>
                </a:solidFill>
                <a:latin typeface="Calibri" pitchFamily="34" charset="0"/>
                <a:ea typeface="Calibri" pitchFamily="34" charset="-122"/>
                <a:cs typeface="Calibri" pitchFamily="34" charset="-120"/>
              </a:rPr>
              <a:t>Dashboard includes interactive slicers for Year, Region and Country allowing real-time filtering across all pages</a:t>
            </a:r>
            <a:endParaRPr lang="en-US" sz="900" dirty="0"/>
          </a:p>
        </p:txBody>
      </p:sp>
      <p:sp>
        <p:nvSpPr>
          <p:cNvPr id="37" name="Text 35"/>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D4A017"/>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1A1208"/>
                </a:solidFill>
              </a:rPr>
              <a:t>06  KEY FINDINGS</a:t>
            </a:r>
            <a:endParaRPr lang="en-US" sz="900" dirty="0"/>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D4A017"/>
                </a:solidFill>
                <a:latin typeface="Trebuchet MS" pitchFamily="34" charset="0"/>
                <a:ea typeface="Trebuchet MS" pitchFamily="34" charset="-122"/>
                <a:cs typeface="Trebuchet MS" pitchFamily="34" charset="-120"/>
              </a:rPr>
              <a:t>Key Findings from the Analysis</a:t>
            </a:r>
            <a:endParaRPr lang="en-US" sz="2600" dirty="0"/>
          </a:p>
        </p:txBody>
      </p:sp>
      <p:sp>
        <p:nvSpPr>
          <p:cNvPr id="5" name="Shape 3"/>
          <p:cNvSpPr/>
          <p:nvPr/>
        </p:nvSpPr>
        <p:spPr>
          <a:xfrm>
            <a:off x="347472" y="1353312"/>
            <a:ext cx="4251960" cy="1143000"/>
          </a:xfrm>
          <a:prstGeom prst="rect">
            <a:avLst/>
          </a:prstGeom>
          <a:solidFill>
            <a:srgbClr val="2D2010"/>
          </a:solidFill>
          <a:ln w="15240">
            <a:solidFill>
              <a:srgbClr val="D4A017"/>
            </a:solidFill>
            <a:prstDash val="solid"/>
          </a:ln>
        </p:spPr>
      </p:sp>
      <p:sp>
        <p:nvSpPr>
          <p:cNvPr id="6" name="Shape 4"/>
          <p:cNvSpPr/>
          <p:nvPr/>
        </p:nvSpPr>
        <p:spPr>
          <a:xfrm>
            <a:off x="347472" y="1353312"/>
            <a:ext cx="91440" cy="1143000"/>
          </a:xfrm>
          <a:prstGeom prst="rect">
            <a:avLst/>
          </a:prstGeom>
          <a:solidFill>
            <a:srgbClr val="4A7C59"/>
          </a:solidFill>
          <a:ln w="12700">
            <a:solidFill>
              <a:srgbClr val="4A7C59"/>
            </a:solidFill>
            <a:prstDash val="solid"/>
          </a:ln>
        </p:spPr>
      </p:sp>
      <p:sp>
        <p:nvSpPr>
          <p:cNvPr id="7" name="Text 5"/>
          <p:cNvSpPr/>
          <p:nvPr/>
        </p:nvSpPr>
        <p:spPr>
          <a:xfrm>
            <a:off x="548640" y="1444752"/>
            <a:ext cx="3950208" cy="237744"/>
          </a:xfrm>
          <a:prstGeom prst="rect">
            <a:avLst/>
          </a:prstGeom>
          <a:noFill/>
          <a:ln/>
        </p:spPr>
        <p:txBody>
          <a:bodyPr wrap="square" lIns="0" tIns="0" rIns="0" bIns="0" rtlCol="0" anchor="ctr"/>
          <a:lstStyle/>
          <a:p>
            <a:pPr marL="0" indent="0">
              <a:buNone/>
            </a:pPr>
            <a:r>
              <a:rPr lang="en-US" sz="1100" b="1" dirty="0">
                <a:solidFill>
                  <a:srgbClr val="4A7C59"/>
                </a:solidFill>
                <a:latin typeface="Trebuchet MS" pitchFamily="34" charset="0"/>
                <a:ea typeface="Trebuchet MS" pitchFamily="34" charset="-122"/>
                <a:cs typeface="Trebuchet MS" pitchFamily="34" charset="-120"/>
              </a:rPr>
              <a:t>Partial Decoupling Confirmed</a:t>
            </a:r>
            <a:endParaRPr lang="en-US" sz="1100" dirty="0"/>
          </a:p>
        </p:txBody>
      </p:sp>
      <p:sp>
        <p:nvSpPr>
          <p:cNvPr id="8" name="Text 6"/>
          <p:cNvSpPr/>
          <p:nvPr/>
        </p:nvSpPr>
        <p:spPr>
          <a:xfrm>
            <a:off x="548640" y="1719072"/>
            <a:ext cx="3950208" cy="713232"/>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GDP grew significantly faster than CO2 between 2000 and 2023. Africa is becoming more carbon efficient over time</a:t>
            </a:r>
            <a:endParaRPr lang="en-US" sz="1000" dirty="0"/>
          </a:p>
        </p:txBody>
      </p:sp>
      <p:sp>
        <p:nvSpPr>
          <p:cNvPr id="9" name="Shape 7"/>
          <p:cNvSpPr/>
          <p:nvPr/>
        </p:nvSpPr>
        <p:spPr>
          <a:xfrm>
            <a:off x="4782312" y="1353312"/>
            <a:ext cx="4251960" cy="1143000"/>
          </a:xfrm>
          <a:prstGeom prst="rect">
            <a:avLst/>
          </a:prstGeom>
          <a:solidFill>
            <a:srgbClr val="2D2010"/>
          </a:solidFill>
          <a:ln w="15240">
            <a:solidFill>
              <a:srgbClr val="D4A017"/>
            </a:solidFill>
            <a:prstDash val="solid"/>
          </a:ln>
        </p:spPr>
      </p:sp>
      <p:sp>
        <p:nvSpPr>
          <p:cNvPr id="10" name="Shape 8"/>
          <p:cNvSpPr/>
          <p:nvPr/>
        </p:nvSpPr>
        <p:spPr>
          <a:xfrm>
            <a:off x="4782312" y="1353312"/>
            <a:ext cx="91440" cy="1143000"/>
          </a:xfrm>
          <a:prstGeom prst="rect">
            <a:avLst/>
          </a:prstGeom>
          <a:solidFill>
            <a:srgbClr val="D4A017"/>
          </a:solidFill>
          <a:ln w="12700">
            <a:solidFill>
              <a:srgbClr val="D4A017"/>
            </a:solidFill>
            <a:prstDash val="solid"/>
          </a:ln>
        </p:spPr>
      </p:sp>
      <p:sp>
        <p:nvSpPr>
          <p:cNvPr id="11" name="Text 9"/>
          <p:cNvSpPr/>
          <p:nvPr/>
        </p:nvSpPr>
        <p:spPr>
          <a:xfrm>
            <a:off x="4983480" y="1444752"/>
            <a:ext cx="3950208" cy="237744"/>
          </a:xfrm>
          <a:prstGeom prst="rect">
            <a:avLst/>
          </a:prstGeom>
          <a:noFill/>
          <a:ln/>
        </p:spPr>
        <p:txBody>
          <a:bodyPr wrap="square" lIns="0" tIns="0" rIns="0" bIns="0" rtlCol="0" anchor="ctr"/>
          <a:lstStyle/>
          <a:p>
            <a:pPr marL="0" indent="0">
              <a:buNone/>
            </a:pPr>
            <a:r>
              <a:rPr lang="en-US" sz="1100" b="1" dirty="0">
                <a:solidFill>
                  <a:srgbClr val="D4A017"/>
                </a:solidFill>
                <a:latin typeface="Trebuchet MS" pitchFamily="34" charset="0"/>
                <a:ea typeface="Trebuchet MS" pitchFamily="34" charset="-122"/>
                <a:cs typeface="Trebuchet MS" pitchFamily="34" charset="-120"/>
              </a:rPr>
              <a:t>Africa is a Minimal Global Emitter</a:t>
            </a:r>
            <a:endParaRPr lang="en-US" sz="1100" dirty="0"/>
          </a:p>
        </p:txBody>
      </p:sp>
      <p:sp>
        <p:nvSpPr>
          <p:cNvPr id="12" name="Text 10"/>
          <p:cNvSpPr/>
          <p:nvPr/>
        </p:nvSpPr>
        <p:spPr>
          <a:xfrm>
            <a:off x="4983480" y="1719072"/>
            <a:ext cx="3950208" cy="713232"/>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Top 10 African emitters contribute only 3.27% of global CO2 despite 1.4 billion people</a:t>
            </a:r>
            <a:endParaRPr lang="en-US" sz="1000" dirty="0"/>
          </a:p>
        </p:txBody>
      </p:sp>
      <p:sp>
        <p:nvSpPr>
          <p:cNvPr id="13" name="Shape 11"/>
          <p:cNvSpPr/>
          <p:nvPr/>
        </p:nvSpPr>
        <p:spPr>
          <a:xfrm>
            <a:off x="347472" y="2615184"/>
            <a:ext cx="4251960" cy="1143000"/>
          </a:xfrm>
          <a:prstGeom prst="rect">
            <a:avLst/>
          </a:prstGeom>
          <a:solidFill>
            <a:srgbClr val="2D2010"/>
          </a:solidFill>
          <a:ln w="15240">
            <a:solidFill>
              <a:srgbClr val="D4A017"/>
            </a:solidFill>
            <a:prstDash val="solid"/>
          </a:ln>
        </p:spPr>
      </p:sp>
      <p:sp>
        <p:nvSpPr>
          <p:cNvPr id="14" name="Shape 12"/>
          <p:cNvSpPr/>
          <p:nvPr/>
        </p:nvSpPr>
        <p:spPr>
          <a:xfrm>
            <a:off x="347472" y="2615184"/>
            <a:ext cx="91440" cy="1143000"/>
          </a:xfrm>
          <a:prstGeom prst="rect">
            <a:avLst/>
          </a:prstGeom>
          <a:solidFill>
            <a:srgbClr val="C1440E"/>
          </a:solidFill>
          <a:ln w="12700">
            <a:solidFill>
              <a:srgbClr val="C1440E"/>
            </a:solidFill>
            <a:prstDash val="solid"/>
          </a:ln>
        </p:spPr>
      </p:sp>
      <p:sp>
        <p:nvSpPr>
          <p:cNvPr id="15" name="Text 13"/>
          <p:cNvSpPr/>
          <p:nvPr/>
        </p:nvSpPr>
        <p:spPr>
          <a:xfrm>
            <a:off x="548640" y="2706624"/>
            <a:ext cx="3950208" cy="237744"/>
          </a:xfrm>
          <a:prstGeom prst="rect">
            <a:avLst/>
          </a:prstGeom>
          <a:noFill/>
          <a:ln/>
        </p:spPr>
        <p:txBody>
          <a:bodyPr wrap="square" lIns="0" tIns="0" rIns="0" bIns="0" rtlCol="0" anchor="ctr"/>
          <a:lstStyle/>
          <a:p>
            <a:pPr marL="0" indent="0">
              <a:buNone/>
            </a:pPr>
            <a:r>
              <a:rPr lang="en-US" sz="1100" b="1" dirty="0">
                <a:solidFill>
                  <a:srgbClr val="C1440E"/>
                </a:solidFill>
                <a:latin typeface="Trebuchet MS" pitchFamily="34" charset="0"/>
                <a:ea typeface="Trebuchet MS" pitchFamily="34" charset="-122"/>
                <a:cs typeface="Trebuchet MS" pitchFamily="34" charset="-120"/>
              </a:rPr>
              <a:t>North Africa Leads All Regions</a:t>
            </a:r>
            <a:endParaRPr lang="en-US" sz="1100" dirty="0"/>
          </a:p>
        </p:txBody>
      </p:sp>
      <p:sp>
        <p:nvSpPr>
          <p:cNvPr id="16" name="Text 14"/>
          <p:cNvSpPr/>
          <p:nvPr/>
        </p:nvSpPr>
        <p:spPr>
          <a:xfrm>
            <a:off x="548640" y="2980944"/>
            <a:ext cx="3950208" cy="713232"/>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North Africa is both the highest emitting (82.41 Mt) and wealthiest ($285.4B) region</a:t>
            </a:r>
            <a:endParaRPr lang="en-US" sz="1000" dirty="0"/>
          </a:p>
        </p:txBody>
      </p:sp>
      <p:sp>
        <p:nvSpPr>
          <p:cNvPr id="17" name="Shape 15"/>
          <p:cNvSpPr/>
          <p:nvPr/>
        </p:nvSpPr>
        <p:spPr>
          <a:xfrm>
            <a:off x="4782312" y="2615184"/>
            <a:ext cx="4251960" cy="1143000"/>
          </a:xfrm>
          <a:prstGeom prst="rect">
            <a:avLst/>
          </a:prstGeom>
          <a:solidFill>
            <a:srgbClr val="2D2010"/>
          </a:solidFill>
          <a:ln w="15240">
            <a:solidFill>
              <a:srgbClr val="D4A017"/>
            </a:solidFill>
            <a:prstDash val="solid"/>
          </a:ln>
        </p:spPr>
      </p:sp>
      <p:sp>
        <p:nvSpPr>
          <p:cNvPr id="18" name="Shape 16"/>
          <p:cNvSpPr/>
          <p:nvPr/>
        </p:nvSpPr>
        <p:spPr>
          <a:xfrm>
            <a:off x="4782312" y="2615184"/>
            <a:ext cx="91440" cy="1143000"/>
          </a:xfrm>
          <a:prstGeom prst="rect">
            <a:avLst/>
          </a:prstGeom>
          <a:solidFill>
            <a:srgbClr val="4A7C59"/>
          </a:solidFill>
          <a:ln w="12700">
            <a:solidFill>
              <a:srgbClr val="4A7C59"/>
            </a:solidFill>
            <a:prstDash val="solid"/>
          </a:ln>
        </p:spPr>
      </p:sp>
      <p:sp>
        <p:nvSpPr>
          <p:cNvPr id="19" name="Text 17"/>
          <p:cNvSpPr/>
          <p:nvPr/>
        </p:nvSpPr>
        <p:spPr>
          <a:xfrm>
            <a:off x="4983480" y="2706624"/>
            <a:ext cx="3950208" cy="237744"/>
          </a:xfrm>
          <a:prstGeom prst="rect">
            <a:avLst/>
          </a:prstGeom>
          <a:noFill/>
          <a:ln/>
        </p:spPr>
        <p:txBody>
          <a:bodyPr wrap="square" lIns="0" tIns="0" rIns="0" bIns="0" rtlCol="0" anchor="ctr"/>
          <a:lstStyle/>
          <a:p>
            <a:pPr marL="0" indent="0">
              <a:buNone/>
            </a:pPr>
            <a:r>
              <a:rPr lang="en-US" sz="1100" b="1" dirty="0">
                <a:solidFill>
                  <a:srgbClr val="4A7C59"/>
                </a:solidFill>
                <a:latin typeface="Trebuchet MS" pitchFamily="34" charset="0"/>
                <a:ea typeface="Trebuchet MS" pitchFamily="34" charset="-122"/>
                <a:cs typeface="Trebuchet MS" pitchFamily="34" charset="-120"/>
              </a:rPr>
              <a:t>East Africa Leads in Carbon Efficiency</a:t>
            </a:r>
            <a:endParaRPr lang="en-US" sz="1100" dirty="0"/>
          </a:p>
        </p:txBody>
      </p:sp>
      <p:sp>
        <p:nvSpPr>
          <p:cNvPr id="20" name="Text 18"/>
          <p:cNvSpPr/>
          <p:nvPr/>
        </p:nvSpPr>
        <p:spPr>
          <a:xfrm>
            <a:off x="4983480" y="2980944"/>
            <a:ext cx="3950208" cy="713232"/>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Rwanda has the lowest emission intensity at 0.051 tonnes per dollar of GDP. 20 countries classified as carbon efficient</a:t>
            </a:r>
            <a:endParaRPr lang="en-US" sz="1000" dirty="0"/>
          </a:p>
        </p:txBody>
      </p:sp>
      <p:sp>
        <p:nvSpPr>
          <p:cNvPr id="21" name="Shape 19"/>
          <p:cNvSpPr/>
          <p:nvPr/>
        </p:nvSpPr>
        <p:spPr>
          <a:xfrm>
            <a:off x="347472" y="3877056"/>
            <a:ext cx="4251960" cy="1143000"/>
          </a:xfrm>
          <a:prstGeom prst="rect">
            <a:avLst/>
          </a:prstGeom>
          <a:solidFill>
            <a:srgbClr val="2D2010"/>
          </a:solidFill>
          <a:ln w="15240">
            <a:solidFill>
              <a:srgbClr val="D4A017"/>
            </a:solidFill>
            <a:prstDash val="solid"/>
          </a:ln>
        </p:spPr>
      </p:sp>
      <p:sp>
        <p:nvSpPr>
          <p:cNvPr id="22" name="Shape 20"/>
          <p:cNvSpPr/>
          <p:nvPr/>
        </p:nvSpPr>
        <p:spPr>
          <a:xfrm>
            <a:off x="347472" y="3877056"/>
            <a:ext cx="91440" cy="1143000"/>
          </a:xfrm>
          <a:prstGeom prst="rect">
            <a:avLst/>
          </a:prstGeom>
          <a:solidFill>
            <a:srgbClr val="C1440E"/>
          </a:solidFill>
          <a:ln w="12700">
            <a:solidFill>
              <a:srgbClr val="C1440E"/>
            </a:solidFill>
            <a:prstDash val="solid"/>
          </a:ln>
        </p:spPr>
      </p:sp>
      <p:sp>
        <p:nvSpPr>
          <p:cNvPr id="23" name="Text 21"/>
          <p:cNvSpPr/>
          <p:nvPr/>
        </p:nvSpPr>
        <p:spPr>
          <a:xfrm>
            <a:off x="548640" y="3968496"/>
            <a:ext cx="3950208" cy="237744"/>
          </a:xfrm>
          <a:prstGeom prst="rect">
            <a:avLst/>
          </a:prstGeom>
          <a:noFill/>
          <a:ln/>
        </p:spPr>
        <p:txBody>
          <a:bodyPr wrap="square" lIns="0" tIns="0" rIns="0" bIns="0" rtlCol="0" anchor="ctr"/>
          <a:lstStyle/>
          <a:p>
            <a:pPr marL="0" indent="0">
              <a:buNone/>
            </a:pPr>
            <a:r>
              <a:rPr lang="en-US" sz="1100" b="1" dirty="0">
                <a:solidFill>
                  <a:srgbClr val="C1440E"/>
                </a:solidFill>
                <a:latin typeface="Trebuchet MS" pitchFamily="34" charset="0"/>
                <a:ea typeface="Trebuchet MS" pitchFamily="34" charset="-122"/>
                <a:cs typeface="Trebuchet MS" pitchFamily="34" charset="-120"/>
              </a:rPr>
              <a:t>Nigeria Needs Multi-Sector Intervention</a:t>
            </a:r>
            <a:endParaRPr lang="en-US" sz="1100" dirty="0"/>
          </a:p>
        </p:txBody>
      </p:sp>
      <p:sp>
        <p:nvSpPr>
          <p:cNvPr id="24" name="Text 22"/>
          <p:cNvSpPr/>
          <p:nvPr/>
        </p:nvSpPr>
        <p:spPr>
          <a:xfrm>
            <a:off x="548640" y="4242816"/>
            <a:ext cx="3950208" cy="713232"/>
          </a:xfrm>
          <a:prstGeom prst="rect">
            <a:avLst/>
          </a:prstGeom>
          <a:noFill/>
          <a:ln/>
        </p:spPr>
        <p:txBody>
          <a:bodyPr wrap="square" lIns="0" tIns="0" rIns="0" bIns="0" rtlCol="0" anchor="ctr"/>
          <a:lstStyle/>
          <a:p>
            <a:pPr marL="0" indent="0">
              <a:buNone/>
            </a:pPr>
            <a:r>
              <a:rPr lang="en-US" sz="1000" dirty="0">
                <a:solidFill>
                  <a:srgbClr val="F5F0E8"/>
                </a:solidFill>
                <a:latin typeface="Calibri" pitchFamily="34" charset="0"/>
                <a:ea typeface="Calibri" pitchFamily="34" charset="-122"/>
                <a:cs typeface="Calibri" pitchFamily="34" charset="-120"/>
              </a:rPr>
              <a:t>Nigeria leads Africa in gas flaring (25.5 Mt), methane (258 Mt) and records 13.5% annual CO2 growth</a:t>
            </a:r>
            <a:endParaRPr lang="en-US" sz="1000" dirty="0"/>
          </a:p>
        </p:txBody>
      </p:sp>
      <p:sp>
        <p:nvSpPr>
          <p:cNvPr id="25" name="Shape 23"/>
          <p:cNvSpPr/>
          <p:nvPr/>
        </p:nvSpPr>
        <p:spPr>
          <a:xfrm>
            <a:off x="4782312" y="3877056"/>
            <a:ext cx="4251960" cy="1143000"/>
          </a:xfrm>
          <a:prstGeom prst="rect">
            <a:avLst/>
          </a:prstGeom>
          <a:solidFill>
            <a:srgbClr val="2D2010"/>
          </a:solidFill>
          <a:ln w="15240">
            <a:solidFill>
              <a:srgbClr val="D4A017"/>
            </a:solidFill>
            <a:prstDash val="solid"/>
          </a:ln>
        </p:spPr>
      </p:sp>
      <p:sp>
        <p:nvSpPr>
          <p:cNvPr id="26" name="Shape 24"/>
          <p:cNvSpPr/>
          <p:nvPr/>
        </p:nvSpPr>
        <p:spPr>
          <a:xfrm>
            <a:off x="4782312" y="3877056"/>
            <a:ext cx="91440" cy="1143000"/>
          </a:xfrm>
          <a:prstGeom prst="rect">
            <a:avLst/>
          </a:prstGeom>
          <a:solidFill>
            <a:srgbClr val="2E86AB"/>
          </a:solidFill>
          <a:ln w="12700">
            <a:solidFill>
              <a:srgbClr val="2E86AB"/>
            </a:solidFill>
            <a:prstDash val="solid"/>
          </a:ln>
        </p:spPr>
      </p:sp>
      <p:sp>
        <p:nvSpPr>
          <p:cNvPr id="27" name="Text 25"/>
          <p:cNvSpPr/>
          <p:nvPr/>
        </p:nvSpPr>
        <p:spPr>
          <a:xfrm>
            <a:off x="4983480" y="3968496"/>
            <a:ext cx="3950208" cy="237744"/>
          </a:xfrm>
          <a:prstGeom prst="rect">
            <a:avLst/>
          </a:prstGeom>
          <a:noFill/>
          <a:ln/>
        </p:spPr>
        <p:txBody>
          <a:bodyPr wrap="square" lIns="0" tIns="0" rIns="0" bIns="0" rtlCol="0" anchor="ctr"/>
          <a:lstStyle/>
          <a:p>
            <a:pPr marL="0" indent="0">
              <a:buNone/>
            </a:pPr>
            <a:r>
              <a:rPr lang="en-US" sz="1100" b="1" dirty="0">
                <a:solidFill>
                  <a:srgbClr val="2E86AB"/>
                </a:solidFill>
                <a:latin typeface="Trebuchet MS" pitchFamily="34" charset="0"/>
                <a:ea typeface="Trebuchet MS" pitchFamily="34" charset="-122"/>
                <a:cs typeface="Trebuchet MS" pitchFamily="34" charset="-120"/>
              </a:rPr>
              <a:t>COVID Barely Affected African Emissions</a:t>
            </a:r>
            <a:endParaRPr lang="en-US" sz="1100" dirty="0"/>
          </a:p>
        </p:txBody>
      </p:sp>
      <p:sp>
        <p:nvSpPr>
          <p:cNvPr id="28" name="Text 26"/>
          <p:cNvSpPr/>
          <p:nvPr/>
        </p:nvSpPr>
        <p:spPr>
          <a:xfrm>
            <a:off x="4983480" y="4242816"/>
            <a:ext cx="3950208" cy="713232"/>
          </a:xfrm>
          <a:prstGeom prst="rect">
            <a:avLst/>
          </a:prstGeom>
          <a:noFill/>
          <a:ln/>
        </p:spPr>
        <p:txBody>
          <a:bodyPr wrap="square" lIns="0" tIns="0" rIns="0" bIns="0" rtlCol="0" anchor="ctr"/>
          <a:lstStyle/>
          <a:p>
            <a:r>
              <a:rPr lang="en-US" sz="1000" dirty="0">
                <a:solidFill>
                  <a:schemeClr val="bg1"/>
                </a:solidFill>
              </a:rPr>
              <a:t>African CO2 emissions barely changed during 2020 to 2021, with the growth rate slowing from 5.02% to 3.01% but total emissions remaining stable</a:t>
            </a:r>
          </a:p>
          <a:p>
            <a:pPr marL="0" indent="0">
              <a:buNone/>
            </a:pPr>
            <a:endParaRPr lang="en-US" sz="1000" dirty="0"/>
          </a:p>
        </p:txBody>
      </p:sp>
      <p:sp>
        <p:nvSpPr>
          <p:cNvPr id="29" name="Text 27"/>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365760" y="201168"/>
            <a:ext cx="1371600" cy="256032"/>
          </a:xfrm>
          <a:prstGeom prst="rect">
            <a:avLst/>
          </a:prstGeom>
          <a:solidFill>
            <a:srgbClr val="D4A017"/>
          </a:solidFill>
          <a:ln w="12700">
            <a:solidFill>
              <a:srgbClr val="D4A017"/>
            </a:solidFill>
            <a:prstDash val="solid"/>
          </a:ln>
        </p:spPr>
      </p:sp>
      <p:sp>
        <p:nvSpPr>
          <p:cNvPr id="3" name="Text 1"/>
          <p:cNvSpPr/>
          <p:nvPr/>
        </p:nvSpPr>
        <p:spPr>
          <a:xfrm>
            <a:off x="365760" y="201168"/>
            <a:ext cx="1371600" cy="256032"/>
          </a:xfrm>
          <a:prstGeom prst="rect">
            <a:avLst/>
          </a:prstGeom>
          <a:noFill/>
          <a:ln/>
        </p:spPr>
        <p:txBody>
          <a:bodyPr wrap="square" lIns="0" tIns="0" rIns="0" bIns="0" rtlCol="0" anchor="ctr"/>
          <a:lstStyle/>
          <a:p>
            <a:pPr marL="0" indent="0" algn="ctr">
              <a:buNone/>
            </a:pPr>
            <a:r>
              <a:rPr lang="en-US" sz="900" b="1" dirty="0">
                <a:solidFill>
                  <a:srgbClr val="1A1208"/>
                </a:solidFill>
              </a:rPr>
              <a:t>07  LIMITATIONS</a:t>
            </a:r>
            <a:endParaRPr lang="en-US" sz="900" dirty="0"/>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D4A017"/>
                </a:solidFill>
                <a:latin typeface="Trebuchet MS" pitchFamily="34" charset="0"/>
                <a:ea typeface="Trebuchet MS" pitchFamily="34" charset="-122"/>
                <a:cs typeface="Trebuchet MS" pitchFamily="34" charset="-120"/>
              </a:rPr>
              <a:t>Project Limitations &amp; Future Research</a:t>
            </a:r>
            <a:endParaRPr lang="en-US" sz="2600" dirty="0"/>
          </a:p>
        </p:txBody>
      </p:sp>
      <p:sp>
        <p:nvSpPr>
          <p:cNvPr id="5" name="Shape 3"/>
          <p:cNvSpPr/>
          <p:nvPr/>
        </p:nvSpPr>
        <p:spPr>
          <a:xfrm>
            <a:off x="347472" y="1097280"/>
            <a:ext cx="4178808" cy="3845052"/>
          </a:xfrm>
          <a:prstGeom prst="rect">
            <a:avLst/>
          </a:prstGeom>
          <a:solidFill>
            <a:srgbClr val="2D2010"/>
          </a:solidFill>
          <a:ln w="15240">
            <a:solidFill>
              <a:srgbClr val="D4A017"/>
            </a:solidFill>
            <a:prstDash val="solid"/>
          </a:ln>
          <a:effectLst>
            <a:outerShdw blurRad="101600" dist="38100" dir="8100000" algn="bl" rotWithShape="0">
              <a:srgbClr val="000000">
                <a:alpha val="25000"/>
              </a:srgbClr>
            </a:outerShdw>
          </a:effectLst>
        </p:spPr>
        <p:txBody>
          <a:bodyPr/>
          <a:lstStyle/>
          <a:p>
            <a:endParaRPr lang="en-US"/>
          </a:p>
        </p:txBody>
      </p:sp>
      <p:sp>
        <p:nvSpPr>
          <p:cNvPr id="6" name="Text 4"/>
          <p:cNvSpPr/>
          <p:nvPr/>
        </p:nvSpPr>
        <p:spPr>
          <a:xfrm>
            <a:off x="470916" y="1217772"/>
            <a:ext cx="3931920" cy="256032"/>
          </a:xfrm>
          <a:prstGeom prst="rect">
            <a:avLst/>
          </a:prstGeom>
          <a:noFill/>
          <a:ln/>
        </p:spPr>
        <p:txBody>
          <a:bodyPr wrap="square" lIns="0" tIns="0" rIns="0" bIns="0" rtlCol="0" anchor="ctr"/>
          <a:lstStyle/>
          <a:p>
            <a:pPr marL="0" indent="0">
              <a:buNone/>
            </a:pPr>
            <a:r>
              <a:rPr lang="en-US" sz="1100" b="1" dirty="0">
                <a:solidFill>
                  <a:srgbClr val="C1440E"/>
                </a:solidFill>
                <a:latin typeface="Trebuchet MS" pitchFamily="34" charset="0"/>
                <a:ea typeface="Trebuchet MS" pitchFamily="34" charset="-122"/>
                <a:cs typeface="Trebuchet MS" pitchFamily="34" charset="-120"/>
              </a:rPr>
              <a:t>STUDY LIMITATIONS</a:t>
            </a:r>
            <a:endParaRPr lang="en-US" sz="1100" dirty="0"/>
          </a:p>
        </p:txBody>
      </p:sp>
      <p:sp>
        <p:nvSpPr>
          <p:cNvPr id="7" name="Text 5"/>
          <p:cNvSpPr/>
          <p:nvPr/>
        </p:nvSpPr>
        <p:spPr>
          <a:xfrm>
            <a:off x="502920" y="1783080"/>
            <a:ext cx="3950208" cy="2971800"/>
          </a:xfrm>
          <a:prstGeom prst="rect">
            <a:avLst/>
          </a:prstGeom>
          <a:noFill/>
          <a:ln/>
        </p:spPr>
        <p:txBody>
          <a:bodyPr wrap="square" rtlCol="0" anchor="ctr"/>
          <a:lstStyle/>
          <a:p>
            <a:pPr marL="342900" indent="-342900">
              <a:lnSpc>
                <a:spcPct val="115000"/>
              </a:lnSpc>
              <a:spcAft>
                <a:spcPts val="600"/>
              </a:spcAft>
              <a:buSzPct val="100000"/>
              <a:buChar char="•"/>
            </a:pPr>
            <a:endParaRPr lang="en-US" sz="1050" dirty="0"/>
          </a:p>
        </p:txBody>
      </p:sp>
      <p:sp>
        <p:nvSpPr>
          <p:cNvPr id="8" name="Shape 6"/>
          <p:cNvSpPr/>
          <p:nvPr/>
        </p:nvSpPr>
        <p:spPr>
          <a:xfrm>
            <a:off x="4617720" y="1097280"/>
            <a:ext cx="4178808" cy="3845052"/>
          </a:xfrm>
          <a:prstGeom prst="rect">
            <a:avLst/>
          </a:prstGeom>
          <a:solidFill>
            <a:srgbClr val="2D2010"/>
          </a:solidFill>
          <a:ln w="15240">
            <a:solidFill>
              <a:srgbClr val="D4A017"/>
            </a:solidFill>
            <a:prstDash val="solid"/>
          </a:ln>
          <a:effectLst>
            <a:outerShdw blurRad="101600" dist="38100" dir="8100000" algn="bl" rotWithShape="0">
              <a:srgbClr val="000000">
                <a:alpha val="25000"/>
              </a:srgbClr>
            </a:outerShdw>
          </a:effectLst>
        </p:spPr>
      </p:sp>
      <p:sp>
        <p:nvSpPr>
          <p:cNvPr id="9" name="Text 7"/>
          <p:cNvSpPr/>
          <p:nvPr/>
        </p:nvSpPr>
        <p:spPr>
          <a:xfrm>
            <a:off x="4778208" y="1223424"/>
            <a:ext cx="3749040" cy="256032"/>
          </a:xfrm>
          <a:prstGeom prst="rect">
            <a:avLst/>
          </a:prstGeom>
          <a:noFill/>
          <a:ln/>
        </p:spPr>
        <p:txBody>
          <a:bodyPr wrap="square" lIns="0" tIns="0" rIns="0" bIns="0" rtlCol="0" anchor="ctr"/>
          <a:lstStyle/>
          <a:p>
            <a:pPr marL="0" indent="0">
              <a:buNone/>
            </a:pPr>
            <a:r>
              <a:rPr lang="en-US" sz="1100" b="1" dirty="0">
                <a:solidFill>
                  <a:srgbClr val="4A7C59"/>
                </a:solidFill>
                <a:latin typeface="Trebuchet MS" pitchFamily="34" charset="0"/>
                <a:ea typeface="Trebuchet MS" pitchFamily="34" charset="-122"/>
                <a:cs typeface="Trebuchet MS" pitchFamily="34" charset="-120"/>
              </a:rPr>
              <a:t>FUTURE RESEARCH DIRECTIONS</a:t>
            </a:r>
            <a:endParaRPr lang="en-US" sz="1100" dirty="0"/>
          </a:p>
        </p:txBody>
      </p:sp>
      <p:sp>
        <p:nvSpPr>
          <p:cNvPr id="10" name="Text 8"/>
          <p:cNvSpPr/>
          <p:nvPr/>
        </p:nvSpPr>
        <p:spPr>
          <a:xfrm>
            <a:off x="4864608" y="1670400"/>
            <a:ext cx="3794760" cy="3084480"/>
          </a:xfrm>
          <a:prstGeom prst="rect">
            <a:avLst/>
          </a:prstGeom>
          <a:noFill/>
          <a:ln/>
        </p:spPr>
        <p:txBody>
          <a:bodyPr wrap="square" rtlCol="0" anchor="ctr"/>
          <a:lstStyle/>
          <a:p>
            <a:pPr marL="342900" indent="-342900">
              <a:lnSpc>
                <a:spcPct val="115000"/>
              </a:lnSpc>
              <a:spcAft>
                <a:spcPts val="600"/>
              </a:spcAft>
              <a:buSzPct val="100000"/>
              <a:buChar char="•"/>
            </a:pPr>
            <a:r>
              <a:rPr lang="en-US" sz="1050" dirty="0">
                <a:solidFill>
                  <a:srgbClr val="F5F0E8"/>
                </a:solidFill>
                <a:latin typeface="Calibri" pitchFamily="34" charset="0"/>
                <a:ea typeface="Calibri" pitchFamily="34" charset="-122"/>
                <a:cs typeface="Calibri" pitchFamily="34" charset="-120"/>
              </a:rPr>
              <a:t>Incorporate country-level sectoral CO₂ data for more granular analysis</a:t>
            </a:r>
            <a:endParaRPr lang="en-US" sz="1050" dirty="0"/>
          </a:p>
          <a:p>
            <a:pPr marL="342900" indent="-342900">
              <a:lnSpc>
                <a:spcPct val="115000"/>
              </a:lnSpc>
              <a:spcAft>
                <a:spcPts val="600"/>
              </a:spcAft>
              <a:buSzPct val="100000"/>
              <a:buChar char="•"/>
            </a:pPr>
            <a:r>
              <a:rPr lang="en-US" sz="1050" dirty="0">
                <a:solidFill>
                  <a:srgbClr val="F5F0E8"/>
                </a:solidFill>
                <a:latin typeface="Calibri" pitchFamily="34" charset="0"/>
                <a:ea typeface="Calibri" pitchFamily="34" charset="-122"/>
                <a:cs typeface="Calibri" pitchFamily="34" charset="-120"/>
              </a:rPr>
              <a:t>Include energy mix variables, proportion of renewable vs fossil fuel energy</a:t>
            </a:r>
            <a:endParaRPr lang="en-US" sz="1050" dirty="0"/>
          </a:p>
          <a:p>
            <a:pPr marL="342900" indent="-342900">
              <a:lnSpc>
                <a:spcPct val="115000"/>
              </a:lnSpc>
              <a:spcAft>
                <a:spcPts val="600"/>
              </a:spcAft>
              <a:buSzPct val="100000"/>
              <a:buChar char="•"/>
            </a:pPr>
            <a:r>
              <a:rPr lang="en-US" sz="1050" dirty="0">
                <a:solidFill>
                  <a:srgbClr val="F5F0E8"/>
                </a:solidFill>
                <a:latin typeface="Calibri" pitchFamily="34" charset="0"/>
                <a:ea typeface="Calibri" pitchFamily="34" charset="-122"/>
                <a:cs typeface="Calibri" pitchFamily="34" charset="-120"/>
              </a:rPr>
              <a:t>Longitudinal study tracking same 52 countries at 5-year intervals</a:t>
            </a:r>
            <a:endParaRPr lang="en-US" sz="1050" dirty="0"/>
          </a:p>
          <a:p>
            <a:pPr marL="342900" indent="-342900">
              <a:lnSpc>
                <a:spcPct val="115000"/>
              </a:lnSpc>
              <a:spcAft>
                <a:spcPts val="600"/>
              </a:spcAft>
              <a:buSzPct val="100000"/>
              <a:buChar char="•"/>
            </a:pPr>
            <a:r>
              <a:rPr lang="en-US" sz="1050" dirty="0">
                <a:solidFill>
                  <a:srgbClr val="F5F0E8"/>
                </a:solidFill>
                <a:latin typeface="Calibri" pitchFamily="34" charset="0"/>
                <a:ea typeface="Calibri" pitchFamily="34" charset="-122"/>
                <a:cs typeface="Calibri" pitchFamily="34" charset="-120"/>
              </a:rPr>
              <a:t>Apply machine learning to forecast emission trajectories under different economic scenarios</a:t>
            </a:r>
            <a:endParaRPr lang="en-US" sz="1050" dirty="0"/>
          </a:p>
          <a:p>
            <a:pPr marL="342900" indent="-342900">
              <a:lnSpc>
                <a:spcPct val="115000"/>
              </a:lnSpc>
              <a:spcAft>
                <a:spcPts val="600"/>
              </a:spcAft>
              <a:buSzPct val="100000"/>
              <a:buChar char="•"/>
            </a:pPr>
            <a:r>
              <a:rPr lang="en-US" sz="1050" dirty="0">
                <a:solidFill>
                  <a:srgbClr val="F5F0E8"/>
                </a:solidFill>
                <a:latin typeface="Calibri" pitchFamily="34" charset="0"/>
                <a:ea typeface="Calibri" pitchFamily="34" charset="-122"/>
                <a:cs typeface="Calibri" pitchFamily="34" charset="-120"/>
              </a:rPr>
              <a:t>Include government climate policy variables, carbon taxes, renewable subsidies</a:t>
            </a:r>
            <a:endParaRPr lang="en-US" sz="1050" dirty="0"/>
          </a:p>
          <a:p>
            <a:pPr marL="342900" indent="-342900">
              <a:lnSpc>
                <a:spcPct val="115000"/>
              </a:lnSpc>
              <a:spcAft>
                <a:spcPts val="600"/>
              </a:spcAft>
              <a:buSzPct val="100000"/>
              <a:buChar char="•"/>
            </a:pPr>
            <a:r>
              <a:rPr lang="en-US" sz="1050" dirty="0">
                <a:solidFill>
                  <a:srgbClr val="F5F0E8"/>
                </a:solidFill>
                <a:latin typeface="Calibri" pitchFamily="34" charset="0"/>
                <a:ea typeface="Calibri" pitchFamily="34" charset="-122"/>
                <a:cs typeface="Calibri" pitchFamily="34" charset="-120"/>
              </a:rPr>
              <a:t>Conduct sensitivity analysis on decoupling and high-risk classification thresholds</a:t>
            </a:r>
            <a:endParaRPr lang="en-US" sz="1050" dirty="0"/>
          </a:p>
        </p:txBody>
      </p:sp>
      <p:sp>
        <p:nvSpPr>
          <p:cNvPr id="11" name="Text 9"/>
          <p:cNvSpPr/>
          <p:nvPr/>
        </p:nvSpPr>
        <p:spPr>
          <a:xfrm>
            <a:off x="0" y="4892040"/>
            <a:ext cx="9144000" cy="256032"/>
          </a:xfrm>
          <a:prstGeom prst="rect">
            <a:avLst/>
          </a:prstGeom>
          <a:noFill/>
          <a:ln/>
        </p:spPr>
        <p:txBody>
          <a:bodyPr wrap="square" lIns="0" tIns="0" rIns="0" bIns="0" rtlCol="0" anchor="ctr"/>
          <a:lstStyle/>
          <a:p>
            <a:pPr marL="0" indent="0" algn="ctr">
              <a:buNone/>
            </a:pPr>
            <a:r>
              <a:rPr lang="en-US" sz="800" dirty="0">
                <a:solidFill>
                  <a:srgbClr val="A0998F"/>
                </a:solidFill>
                <a:latin typeface="Calibri" pitchFamily="34" charset="0"/>
                <a:ea typeface="Calibri" pitchFamily="34" charset="-122"/>
                <a:cs typeface="Calibri" pitchFamily="34" charset="-120"/>
              </a:rPr>
              <a:t>Carbon Dioxide Emissions &amp; Economic Growth — Africa (2000–2023)  |  Seeding Africa Data Analysis Track</a:t>
            </a:r>
            <a:endParaRPr lang="en-US" sz="800" dirty="0"/>
          </a:p>
        </p:txBody>
      </p:sp>
      <p:sp>
        <p:nvSpPr>
          <p:cNvPr id="12" name="Text 10"/>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14</a:t>
            </a:r>
            <a:endParaRPr lang="en-US" sz="900" dirty="0"/>
          </a:p>
        </p:txBody>
      </p:sp>
      <p:graphicFrame>
        <p:nvGraphicFramePr>
          <p:cNvPr id="13" name="Table 12">
            <a:extLst>
              <a:ext uri="{FF2B5EF4-FFF2-40B4-BE49-F238E27FC236}">
                <a16:creationId xmlns:a16="http://schemas.microsoft.com/office/drawing/2014/main" id="{39BAD460-7E6E-1961-2E74-51EB9102809B}"/>
              </a:ext>
            </a:extLst>
          </p:cNvPr>
          <p:cNvGraphicFramePr>
            <a:graphicFrameLocks noGrp="1"/>
          </p:cNvGraphicFramePr>
          <p:nvPr>
            <p:extLst>
              <p:ext uri="{D42A27DB-BD31-4B8C-83A1-F6EECF244321}">
                <p14:modId xmlns:p14="http://schemas.microsoft.com/office/powerpoint/2010/main" val="188190463"/>
              </p:ext>
            </p:extLst>
          </p:nvPr>
        </p:nvGraphicFramePr>
        <p:xfrm>
          <a:off x="411480" y="1411200"/>
          <a:ext cx="3991356" cy="4794624"/>
        </p:xfrm>
        <a:graphic>
          <a:graphicData uri="http://schemas.openxmlformats.org/drawingml/2006/table">
            <a:tbl>
              <a:tblPr/>
              <a:tblGrid>
                <a:gridCol w="3991356">
                  <a:extLst>
                    <a:ext uri="{9D8B030D-6E8A-4147-A177-3AD203B41FA5}">
                      <a16:colId xmlns:a16="http://schemas.microsoft.com/office/drawing/2014/main" val="327522272"/>
                    </a:ext>
                  </a:extLst>
                </a:gridCol>
              </a:tblGrid>
              <a:tr h="4794624">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dirty="0">
                          <a:solidFill>
                            <a:srgbClr val="C1440E"/>
                          </a:solidFill>
                          <a:latin typeface="Trebuchet MS" pitchFamily="34" charset="0"/>
                          <a:ea typeface="Trebuchet MS" pitchFamily="34" charset="-122"/>
                          <a:cs typeface="Trebuchet MS" pitchFamily="34" charset="-120"/>
                        </a:rPr>
                        <a:t>Data Coverage and Missing Values</a:t>
                      </a:r>
                      <a:endParaRPr lang="en-US" sz="105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solidFill>
                            <a:srgbClr val="F5F0E8"/>
                          </a:solidFill>
                          <a:latin typeface="Calibri" pitchFamily="34" charset="0"/>
                          <a:ea typeface="Calibri" pitchFamily="34" charset="-122"/>
                          <a:cs typeface="Calibri" pitchFamily="34" charset="-120"/>
                        </a:rPr>
                        <a:t>Western Sahara was absent from the dataset as a disputed territory, leaving 52 of 54 African countries covered. Additionally, 163 GDP values were missing for smaller economies, and the year 2023 showed no GDP figure as the World Bank had not yet published it at the time of data collection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dirty="0">
                        <a:solidFill>
                          <a:srgbClr val="F5F0E8"/>
                        </a:solidFill>
                        <a:latin typeface="Calibri" pitchFamily="34" charset="0"/>
                        <a:ea typeface="Calibri" pitchFamily="34" charset="-122"/>
                        <a:cs typeface="Calibri" pitchFamily="34" charset="-12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dirty="0">
                          <a:solidFill>
                            <a:srgbClr val="D4A017"/>
                          </a:solidFill>
                          <a:latin typeface="Trebuchet MS" pitchFamily="34" charset="0"/>
                          <a:ea typeface="Trebuchet MS" pitchFamily="34" charset="-122"/>
                          <a:cs typeface="Trebuchet MS" pitchFamily="34" charset="-120"/>
                        </a:rPr>
                        <a:t>Sectoral and Fuel Data Gaps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solidFill>
                            <a:srgbClr val="F5F0E8"/>
                          </a:solidFill>
                          <a:latin typeface="Calibri" pitchFamily="34" charset="0"/>
                          <a:ea typeface="Calibri" pitchFamily="34" charset="-122"/>
                          <a:cs typeface="Calibri" pitchFamily="34" charset="-120"/>
                        </a:rPr>
                        <a:t>Sectoral CO2 data from the IEA was only available at the Africa continental level and not by individual country. Coal and gas CO2 columns were dropped due to more than 50% missing values. LULUCF emissions were excluded due to data inconsistency, meaning all CO2 figures represent energy and industrial emissions only.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dirty="0">
                        <a:solidFill>
                          <a:srgbClr val="F5F0E8"/>
                        </a:solidFill>
                        <a:latin typeface="Calibri" pitchFamily="34" charset="0"/>
                        <a:ea typeface="Calibri" pitchFamily="34" charset="-122"/>
                        <a:cs typeface="Calibri" pitchFamily="34" charset="-12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dirty="0">
                          <a:solidFill>
                            <a:srgbClr val="2E86AB"/>
                          </a:solidFill>
                          <a:latin typeface="Trebuchet MS" pitchFamily="34" charset="0"/>
                          <a:ea typeface="Trebuchet MS" pitchFamily="34" charset="-122"/>
                          <a:cs typeface="Trebuchet MS" pitchFamily="34" charset="-120"/>
                        </a:rPr>
                        <a:t>Analytical Boundaries and Thresholds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solidFill>
                            <a:srgbClr val="F5F0E8"/>
                          </a:solidFill>
                          <a:latin typeface="Calibri" pitchFamily="34" charset="0"/>
                          <a:ea typeface="Calibri" pitchFamily="34" charset="-122"/>
                          <a:cs typeface="Calibri" pitchFamily="34" charset="-120"/>
                        </a:rPr>
                        <a:t>GDP was used as the sole economic indicator and does not capture income inequality, energy policy quality or sectoral composition. The decoupling threshold of 0.15 and high-risk threshold of 5% CO2 growth were analytical judgment calls based on continental averages. Different thresholds would yield different country classifications</a:t>
                      </a:r>
                      <a:endParaRPr lang="en-US" sz="105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b="1" dirty="0">
                        <a:solidFill>
                          <a:srgbClr val="2E86AB"/>
                        </a:solidFill>
                        <a:latin typeface="Trebuchet MS" pitchFamily="34" charset="0"/>
                        <a:ea typeface="Trebuchet MS" pitchFamily="34" charset="-122"/>
                        <a:cs typeface="Trebuchet MS" pitchFamily="34" charset="-12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dirty="0">
                        <a:solidFill>
                          <a:srgbClr val="F5F0E8"/>
                        </a:solidFill>
                        <a:latin typeface="Calibri" pitchFamily="34" charset="0"/>
                        <a:ea typeface="Calibri" pitchFamily="34" charset="-122"/>
                        <a:cs typeface="Calibri" pitchFamily="34" charset="-12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dirty="0"/>
                    </a:p>
                    <a:p>
                      <a:endParaRPr lang="en-US" sz="105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35525038"/>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D4A017"/>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1A1208"/>
                </a:solidFill>
              </a:rPr>
              <a:t>08  SUMMARY</a:t>
            </a:r>
            <a:endParaRPr lang="en-US" sz="900" dirty="0"/>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D4A017"/>
                </a:solidFill>
                <a:latin typeface="Trebuchet MS" pitchFamily="34" charset="0"/>
                <a:ea typeface="Trebuchet MS" pitchFamily="34" charset="-122"/>
                <a:cs typeface="Trebuchet MS" pitchFamily="34" charset="-120"/>
              </a:rPr>
              <a:t>Summary</a:t>
            </a:r>
            <a:endParaRPr lang="en-US" sz="2600" dirty="0"/>
          </a:p>
        </p:txBody>
      </p:sp>
      <p:sp>
        <p:nvSpPr>
          <p:cNvPr id="5" name="Shape 3"/>
          <p:cNvSpPr/>
          <p:nvPr/>
        </p:nvSpPr>
        <p:spPr>
          <a:xfrm>
            <a:off x="347472" y="1353312"/>
            <a:ext cx="8449056" cy="1508760"/>
          </a:xfrm>
          <a:prstGeom prst="rect">
            <a:avLst/>
          </a:prstGeom>
          <a:solidFill>
            <a:srgbClr val="2D2010"/>
          </a:solidFill>
          <a:ln w="15240">
            <a:solidFill>
              <a:srgbClr val="D4A017"/>
            </a:solidFill>
            <a:prstDash val="solid"/>
          </a:ln>
        </p:spPr>
      </p:sp>
      <p:sp>
        <p:nvSpPr>
          <p:cNvPr id="6" name="Text 4"/>
          <p:cNvSpPr/>
          <p:nvPr/>
        </p:nvSpPr>
        <p:spPr>
          <a:xfrm>
            <a:off x="502920" y="1463040"/>
            <a:ext cx="8138160" cy="1325880"/>
          </a:xfrm>
          <a:prstGeom prst="rect">
            <a:avLst/>
          </a:prstGeom>
          <a:noFill/>
          <a:ln/>
        </p:spPr>
        <p:txBody>
          <a:bodyPr wrap="square" lIns="0" tIns="0" rIns="0" bIns="0" rtlCol="0" anchor="ctr"/>
          <a:lstStyle/>
          <a:p>
            <a:pPr marL="0" indent="0">
              <a:spcAft>
                <a:spcPts val="400"/>
              </a:spcAft>
              <a:buNone/>
            </a:pPr>
            <a:r>
              <a:rPr lang="en-US" sz="1200" dirty="0">
                <a:solidFill>
                  <a:srgbClr val="F5F0E8"/>
                </a:solidFill>
                <a:latin typeface="Calibri" pitchFamily="34" charset="0"/>
                <a:ea typeface="Calibri" pitchFamily="34" charset="-122"/>
                <a:cs typeface="Calibri" pitchFamily="34" charset="-120"/>
              </a:rPr>
              <a:t>This project set out to answer one question: Are CO2 emissions increasing across Africa, and is economic growth the primary driver? The answer is nuanced. Yes, emissions rose by 52.2% between 2000 and 2023. But GDP grew significantly faster over the same period. Africa is not a continent recklessly polluting its way to development. It is a continent trying to lift its people out of poverty while carrying the consequences of a climate crisis it did not cause.</a:t>
            </a:r>
            <a:endParaRPr lang="en-US" sz="1200" dirty="0"/>
          </a:p>
        </p:txBody>
      </p:sp>
      <p:sp>
        <p:nvSpPr>
          <p:cNvPr id="7" name="Shape 5"/>
          <p:cNvSpPr/>
          <p:nvPr/>
        </p:nvSpPr>
        <p:spPr>
          <a:xfrm>
            <a:off x="347472" y="2971800"/>
            <a:ext cx="8449056" cy="1417320"/>
          </a:xfrm>
          <a:prstGeom prst="rect">
            <a:avLst/>
          </a:prstGeom>
          <a:solidFill>
            <a:srgbClr val="2D2010"/>
          </a:solidFill>
          <a:ln w="15240">
            <a:solidFill>
              <a:srgbClr val="D4A017"/>
            </a:solidFill>
            <a:prstDash val="solid"/>
          </a:ln>
        </p:spPr>
      </p:sp>
      <p:sp>
        <p:nvSpPr>
          <p:cNvPr id="8" name="Text 6"/>
          <p:cNvSpPr/>
          <p:nvPr/>
        </p:nvSpPr>
        <p:spPr>
          <a:xfrm>
            <a:off x="502920" y="3090672"/>
            <a:ext cx="3657600" cy="237744"/>
          </a:xfrm>
          <a:prstGeom prst="rect">
            <a:avLst/>
          </a:prstGeom>
          <a:noFill/>
          <a:ln/>
        </p:spPr>
        <p:txBody>
          <a:bodyPr wrap="square" lIns="0" tIns="0" rIns="0" bIns="0" rtlCol="0" anchor="ctr"/>
          <a:lstStyle/>
          <a:p>
            <a:pPr marL="0" indent="0">
              <a:buNone/>
            </a:pPr>
            <a:r>
              <a:rPr lang="en-US" sz="1100" b="1" dirty="0">
                <a:solidFill>
                  <a:srgbClr val="D4A017"/>
                </a:solidFill>
                <a:latin typeface="Trebuchet MS" pitchFamily="34" charset="0"/>
                <a:ea typeface="Trebuchet MS" pitchFamily="34" charset="-122"/>
                <a:cs typeface="Trebuchet MS" pitchFamily="34" charset="-120"/>
              </a:rPr>
              <a:t>WHAT THE DATA TELLS US</a:t>
            </a:r>
            <a:endParaRPr lang="en-US" sz="1100" dirty="0"/>
          </a:p>
        </p:txBody>
      </p:sp>
      <p:sp>
        <p:nvSpPr>
          <p:cNvPr id="9" name="Text 7"/>
          <p:cNvSpPr/>
          <p:nvPr/>
        </p:nvSpPr>
        <p:spPr>
          <a:xfrm>
            <a:off x="502920" y="3346704"/>
            <a:ext cx="8138160" cy="987552"/>
          </a:xfrm>
          <a:prstGeom prst="rect">
            <a:avLst/>
          </a:prstGeom>
          <a:noFill/>
          <a:ln/>
        </p:spPr>
        <p:txBody>
          <a:bodyPr wrap="square" rtlCol="0" anchor="ctr"/>
          <a:lstStyle/>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South Africa and Nigeria require urgent targeted intervention not broad continental policies</a:t>
            </a:r>
            <a:endParaRPr lang="en-US" sz="1100" dirty="0"/>
          </a:p>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East Africa demonstrates that low-carbon economic growth is achievable across the continent</a:t>
            </a:r>
            <a:endParaRPr lang="en-US" sz="1100" dirty="0"/>
          </a:p>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Africa contributing only 3.27% of global CO2 is the strongest argument for climate financing justice</a:t>
            </a:r>
            <a:endParaRPr lang="en-US" sz="1100" dirty="0"/>
          </a:p>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The integrated data analysis approach used is replicable by any African government or institution</a:t>
            </a:r>
            <a:endParaRPr lang="en-US" sz="1100" dirty="0"/>
          </a:p>
        </p:txBody>
      </p:sp>
      <p:sp>
        <p:nvSpPr>
          <p:cNvPr id="10" name="Text 8"/>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D4A017"/>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1A1208"/>
                </a:solidFill>
              </a:rPr>
              <a:t>09  CONCLUSION</a:t>
            </a:r>
            <a:endParaRPr lang="en-US" sz="900" dirty="0"/>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D4A017"/>
                </a:solidFill>
                <a:latin typeface="Trebuchet MS" pitchFamily="34" charset="0"/>
                <a:ea typeface="Trebuchet MS" pitchFamily="34" charset="-122"/>
                <a:cs typeface="Trebuchet MS" pitchFamily="34" charset="-120"/>
              </a:rPr>
              <a:t>Conclusion</a:t>
            </a:r>
            <a:endParaRPr lang="en-US" sz="2600" dirty="0"/>
          </a:p>
        </p:txBody>
      </p:sp>
      <p:sp>
        <p:nvSpPr>
          <p:cNvPr id="5" name="Shape 3"/>
          <p:cNvSpPr/>
          <p:nvPr/>
        </p:nvSpPr>
        <p:spPr>
          <a:xfrm>
            <a:off x="347472" y="1353312"/>
            <a:ext cx="8449056" cy="3310128"/>
          </a:xfrm>
          <a:prstGeom prst="rect">
            <a:avLst/>
          </a:prstGeom>
          <a:solidFill>
            <a:srgbClr val="2D2010"/>
          </a:solidFill>
          <a:ln w="15240">
            <a:solidFill>
              <a:srgbClr val="D4A017"/>
            </a:solidFill>
            <a:prstDash val="solid"/>
          </a:ln>
        </p:spPr>
      </p:sp>
      <p:sp>
        <p:nvSpPr>
          <p:cNvPr id="6" name="Text 4"/>
          <p:cNvSpPr/>
          <p:nvPr/>
        </p:nvSpPr>
        <p:spPr>
          <a:xfrm>
            <a:off x="502920" y="1481328"/>
            <a:ext cx="8138160" cy="256032"/>
          </a:xfrm>
          <a:prstGeom prst="rect">
            <a:avLst/>
          </a:prstGeom>
          <a:noFill/>
          <a:ln/>
        </p:spPr>
        <p:txBody>
          <a:bodyPr wrap="square" lIns="0" tIns="0" rIns="0" bIns="0" rtlCol="0" anchor="ctr"/>
          <a:lstStyle/>
          <a:p>
            <a:pPr marL="0" indent="0">
              <a:buNone/>
            </a:pPr>
            <a:r>
              <a:rPr lang="en-US" sz="1100" b="1" dirty="0">
                <a:solidFill>
                  <a:srgbClr val="D4A017"/>
                </a:solidFill>
                <a:latin typeface="Trebuchet MS" pitchFamily="34" charset="0"/>
                <a:ea typeface="Trebuchet MS" pitchFamily="34" charset="-122"/>
                <a:cs typeface="Trebuchet MS" pitchFamily="34" charset="-120"/>
              </a:rPr>
              <a:t>WHAT THIS PROJECT CONCLUDES</a:t>
            </a:r>
            <a:endParaRPr lang="en-US" sz="1100" dirty="0"/>
          </a:p>
        </p:txBody>
      </p:sp>
      <p:sp>
        <p:nvSpPr>
          <p:cNvPr id="7" name="Text 5"/>
          <p:cNvSpPr/>
          <p:nvPr/>
        </p:nvSpPr>
        <p:spPr>
          <a:xfrm>
            <a:off x="502920" y="1783080"/>
            <a:ext cx="8138160" cy="1024128"/>
          </a:xfrm>
          <a:prstGeom prst="rect">
            <a:avLst/>
          </a:prstGeom>
          <a:noFill/>
          <a:ln/>
        </p:spPr>
        <p:txBody>
          <a:bodyPr wrap="square" lIns="0" tIns="0" rIns="0" bIns="0" rtlCol="0" anchor="ctr"/>
          <a:lstStyle/>
          <a:p>
            <a:pPr marL="0" indent="0">
              <a:spcAft>
                <a:spcPts val="400"/>
              </a:spcAft>
              <a:buNone/>
            </a:pPr>
            <a:r>
              <a:rPr lang="en-US" sz="1150" dirty="0">
                <a:solidFill>
                  <a:srgbClr val="F5F0E8"/>
                </a:solidFill>
                <a:latin typeface="Calibri" pitchFamily="34" charset="0"/>
                <a:ea typeface="Calibri" pitchFamily="34" charset="-122"/>
                <a:cs typeface="Calibri" pitchFamily="34" charset="-120"/>
              </a:rPr>
              <a:t>The analysis confirms that a strong, statistically significant positive relationship exists between GDP and carbon dioxide emissions across Africa, with a Pearson correlation of 0.7712. However, the finding that GDP is growing significantly faster than emissions reveals that Africa is on a partial decoupling trajectory. Economic development does not automatically mean proportional emission increases on this continent.</a:t>
            </a:r>
            <a:endParaRPr lang="en-US" sz="1150" dirty="0"/>
          </a:p>
        </p:txBody>
      </p:sp>
      <p:sp>
        <p:nvSpPr>
          <p:cNvPr id="8" name="Shape 6"/>
          <p:cNvSpPr/>
          <p:nvPr/>
        </p:nvSpPr>
        <p:spPr>
          <a:xfrm>
            <a:off x="502920" y="2852928"/>
            <a:ext cx="8138160" cy="36576"/>
          </a:xfrm>
          <a:prstGeom prst="rect">
            <a:avLst/>
          </a:prstGeom>
          <a:solidFill>
            <a:srgbClr val="D4A017"/>
          </a:solidFill>
          <a:ln w="12700">
            <a:solidFill>
              <a:srgbClr val="D4A017"/>
            </a:solidFill>
            <a:prstDash val="solid"/>
          </a:ln>
        </p:spPr>
      </p:sp>
      <p:sp>
        <p:nvSpPr>
          <p:cNvPr id="9" name="Text 7"/>
          <p:cNvSpPr/>
          <p:nvPr/>
        </p:nvSpPr>
        <p:spPr>
          <a:xfrm>
            <a:off x="502920" y="2926080"/>
            <a:ext cx="8138160" cy="237744"/>
          </a:xfrm>
          <a:prstGeom prst="rect">
            <a:avLst/>
          </a:prstGeom>
          <a:noFill/>
          <a:ln/>
        </p:spPr>
        <p:txBody>
          <a:bodyPr wrap="square" lIns="0" tIns="0" rIns="0" bIns="0" rtlCol="0" anchor="ctr"/>
          <a:lstStyle/>
          <a:p>
            <a:pPr marL="0" indent="0">
              <a:buNone/>
            </a:pPr>
            <a:r>
              <a:rPr lang="en-US" sz="1100" b="1" dirty="0">
                <a:solidFill>
                  <a:srgbClr val="D4A017"/>
                </a:solidFill>
                <a:latin typeface="Trebuchet MS" pitchFamily="34" charset="0"/>
                <a:ea typeface="Trebuchet MS" pitchFamily="34" charset="-122"/>
                <a:cs typeface="Trebuchet MS" pitchFamily="34" charset="-120"/>
              </a:rPr>
              <a:t>SIGNIFICANCE OF THE FINDINGS</a:t>
            </a:r>
            <a:endParaRPr lang="en-US" sz="1100" dirty="0"/>
          </a:p>
        </p:txBody>
      </p:sp>
      <p:sp>
        <p:nvSpPr>
          <p:cNvPr id="10" name="Text 8"/>
          <p:cNvSpPr/>
          <p:nvPr/>
        </p:nvSpPr>
        <p:spPr>
          <a:xfrm>
            <a:off x="502920" y="3200400"/>
            <a:ext cx="8138160" cy="1389888"/>
          </a:xfrm>
          <a:prstGeom prst="rect">
            <a:avLst/>
          </a:prstGeom>
          <a:noFill/>
          <a:ln/>
        </p:spPr>
        <p:txBody>
          <a:bodyPr wrap="square" rtlCol="0" anchor="ctr"/>
          <a:lstStyle/>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North Africa and Southern Africa are the highest emitting regions and represent the most urgent targets for policy intervention</a:t>
            </a:r>
            <a:endParaRPr lang="en-US" sz="1100" dirty="0"/>
          </a:p>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East Africa and particularly Rwanda demonstrate that low-emission economic development is achievable and replicable</a:t>
            </a:r>
            <a:endParaRPr lang="en-US" sz="1100" dirty="0"/>
          </a:p>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Africa's 3.27% share of global CO2 provides a powerful, data-backed argument for equitable climate financing</a:t>
            </a:r>
            <a:endParaRPr lang="en-US" sz="1100" dirty="0"/>
          </a:p>
          <a:p>
            <a:pPr marL="342900" indent="-342900">
              <a:lnSpc>
                <a:spcPct val="115000"/>
              </a:lnSpc>
              <a:spcAft>
                <a:spcPts val="600"/>
              </a:spcAft>
              <a:buSzPct val="100000"/>
              <a:buChar char="•"/>
            </a:pPr>
            <a:r>
              <a:rPr lang="en-US" sz="1100" dirty="0">
                <a:solidFill>
                  <a:srgbClr val="F5F0E8"/>
                </a:solidFill>
                <a:latin typeface="Calibri" pitchFamily="34" charset="0"/>
                <a:ea typeface="Calibri" pitchFamily="34" charset="-122"/>
                <a:cs typeface="Calibri" pitchFamily="34" charset="-120"/>
              </a:rPr>
              <a:t>The COVID-19 finding reveals that Africa's emissions are structurally different from developed nations, requiring context-specific climate policies</a:t>
            </a:r>
            <a:endParaRPr lang="en-US" sz="1100" dirty="0"/>
          </a:p>
        </p:txBody>
      </p:sp>
      <p:sp>
        <p:nvSpPr>
          <p:cNvPr id="11" name="Text 9"/>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D4A017"/>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1A1208"/>
                </a:solidFill>
              </a:rPr>
              <a:t>10  RECOMMENDATIONS</a:t>
            </a:r>
            <a:endParaRPr lang="en-US" sz="900" dirty="0"/>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D4A017"/>
                </a:solidFill>
                <a:latin typeface="Trebuchet MS" pitchFamily="34" charset="0"/>
                <a:ea typeface="Trebuchet MS" pitchFamily="34" charset="-122"/>
                <a:cs typeface="Trebuchet MS" pitchFamily="34" charset="-120"/>
              </a:rPr>
              <a:t>Policy Recommendations</a:t>
            </a:r>
            <a:endParaRPr lang="en-US" sz="2600" dirty="0"/>
          </a:p>
        </p:txBody>
      </p:sp>
      <p:sp>
        <p:nvSpPr>
          <p:cNvPr id="5" name="Text 3"/>
          <p:cNvSpPr/>
          <p:nvPr/>
        </p:nvSpPr>
        <p:spPr>
          <a:xfrm>
            <a:off x="365760" y="1078992"/>
            <a:ext cx="8412480" cy="274320"/>
          </a:xfrm>
          <a:prstGeom prst="rect">
            <a:avLst/>
          </a:prstGeom>
          <a:noFill/>
          <a:ln/>
        </p:spPr>
        <p:txBody>
          <a:bodyPr wrap="square" lIns="0" tIns="0" rIns="0" bIns="0" rtlCol="0" anchor="ctr"/>
          <a:lstStyle/>
          <a:p>
            <a:pPr marL="0" indent="0">
              <a:buNone/>
            </a:pPr>
            <a:r>
              <a:rPr lang="en-US" sz="1200" i="1" dirty="0">
                <a:solidFill>
                  <a:srgbClr val="A0998F"/>
                </a:solidFill>
                <a:latin typeface="Calibri" pitchFamily="34" charset="0"/>
                <a:ea typeface="Calibri" pitchFamily="34" charset="-122"/>
                <a:cs typeface="Calibri" pitchFamily="34" charset="-120"/>
              </a:rPr>
              <a:t>Evidence-based actions for governments, development agencies, climate financing bodies, educators and researchers</a:t>
            </a:r>
            <a:endParaRPr lang="en-US" sz="1200" dirty="0"/>
          </a:p>
        </p:txBody>
      </p:sp>
      <p:sp>
        <p:nvSpPr>
          <p:cNvPr id="6" name="Shape 4"/>
          <p:cNvSpPr/>
          <p:nvPr/>
        </p:nvSpPr>
        <p:spPr>
          <a:xfrm>
            <a:off x="347472" y="1389888"/>
            <a:ext cx="4251960" cy="1115568"/>
          </a:xfrm>
          <a:prstGeom prst="rect">
            <a:avLst/>
          </a:prstGeom>
          <a:solidFill>
            <a:srgbClr val="2D2010"/>
          </a:solidFill>
          <a:ln w="15240">
            <a:solidFill>
              <a:srgbClr val="D4A017"/>
            </a:solidFill>
            <a:prstDash val="solid"/>
          </a:ln>
        </p:spPr>
      </p:sp>
      <p:sp>
        <p:nvSpPr>
          <p:cNvPr id="7" name="Shape 5"/>
          <p:cNvSpPr/>
          <p:nvPr/>
        </p:nvSpPr>
        <p:spPr>
          <a:xfrm>
            <a:off x="347472" y="1389888"/>
            <a:ext cx="91440" cy="1115568"/>
          </a:xfrm>
          <a:prstGeom prst="rect">
            <a:avLst/>
          </a:prstGeom>
          <a:solidFill>
            <a:srgbClr val="C1440E"/>
          </a:solidFill>
          <a:ln w="12700">
            <a:solidFill>
              <a:srgbClr val="C1440E"/>
            </a:solidFill>
            <a:prstDash val="solid"/>
          </a:ln>
        </p:spPr>
      </p:sp>
      <p:sp>
        <p:nvSpPr>
          <p:cNvPr id="8" name="Text 6"/>
          <p:cNvSpPr/>
          <p:nvPr/>
        </p:nvSpPr>
        <p:spPr>
          <a:xfrm>
            <a:off x="548640" y="1463040"/>
            <a:ext cx="3950208" cy="237744"/>
          </a:xfrm>
          <a:prstGeom prst="rect">
            <a:avLst/>
          </a:prstGeom>
          <a:noFill/>
          <a:ln/>
        </p:spPr>
        <p:txBody>
          <a:bodyPr wrap="square" lIns="0" tIns="0" rIns="0" bIns="0" rtlCol="0" anchor="ctr"/>
          <a:lstStyle/>
          <a:p>
            <a:pPr marL="0" indent="0">
              <a:buNone/>
            </a:pPr>
            <a:r>
              <a:rPr lang="en-US" sz="1050" b="1" dirty="0">
                <a:solidFill>
                  <a:srgbClr val="C1440E"/>
                </a:solidFill>
                <a:latin typeface="Trebuchet MS" pitchFamily="34" charset="0"/>
                <a:ea typeface="Trebuchet MS" pitchFamily="34" charset="-122"/>
                <a:cs typeface="Trebuchet MS" pitchFamily="34" charset="-120"/>
              </a:rPr>
              <a:t>Governments</a:t>
            </a:r>
            <a:endParaRPr lang="en-US" sz="1050" dirty="0"/>
          </a:p>
        </p:txBody>
      </p:sp>
      <p:sp>
        <p:nvSpPr>
          <p:cNvPr id="9" name="Text 7"/>
          <p:cNvSpPr/>
          <p:nvPr/>
        </p:nvSpPr>
        <p:spPr>
          <a:xfrm>
            <a:off x="548640" y="1719072"/>
            <a:ext cx="3950208" cy="731520"/>
          </a:xfrm>
          <a:prstGeom prst="rect">
            <a:avLst/>
          </a:prstGeom>
          <a:noFill/>
          <a:ln/>
        </p:spPr>
        <p:txBody>
          <a:bodyPr wrap="square" lIns="0" tIns="0" rIns="0" bIns="0" rtlCol="0" anchor="ctr"/>
          <a:lstStyle/>
          <a:p>
            <a:pPr marL="0" indent="0">
              <a:buNone/>
            </a:pPr>
            <a:r>
              <a:rPr lang="en-US" sz="950" dirty="0">
                <a:solidFill>
                  <a:srgbClr val="F5F0E8"/>
                </a:solidFill>
                <a:latin typeface="Calibri" pitchFamily="34" charset="0"/>
                <a:ea typeface="Calibri" pitchFamily="34" charset="-122"/>
                <a:cs typeface="Calibri" pitchFamily="34" charset="-120"/>
              </a:rPr>
              <a:t>South Africa must accelerate its coal-to-renewable energy transition. Nigeria must enforce anti-flaring legislation and invest in gas capture infrastructure. These two countries alone account for the majority of Africa's avoidable emissions</a:t>
            </a:r>
            <a:endParaRPr lang="en-US" sz="950" dirty="0"/>
          </a:p>
        </p:txBody>
      </p:sp>
      <p:sp>
        <p:nvSpPr>
          <p:cNvPr id="10" name="Shape 8"/>
          <p:cNvSpPr/>
          <p:nvPr/>
        </p:nvSpPr>
        <p:spPr>
          <a:xfrm>
            <a:off x="4782312" y="1389888"/>
            <a:ext cx="4251960" cy="1115568"/>
          </a:xfrm>
          <a:prstGeom prst="rect">
            <a:avLst/>
          </a:prstGeom>
          <a:solidFill>
            <a:srgbClr val="2D2010"/>
          </a:solidFill>
          <a:ln w="15240">
            <a:solidFill>
              <a:srgbClr val="D4A017"/>
            </a:solidFill>
            <a:prstDash val="solid"/>
          </a:ln>
        </p:spPr>
      </p:sp>
      <p:sp>
        <p:nvSpPr>
          <p:cNvPr id="11" name="Shape 9"/>
          <p:cNvSpPr/>
          <p:nvPr/>
        </p:nvSpPr>
        <p:spPr>
          <a:xfrm>
            <a:off x="4782312" y="1389888"/>
            <a:ext cx="91440" cy="1115568"/>
          </a:xfrm>
          <a:prstGeom prst="rect">
            <a:avLst/>
          </a:prstGeom>
          <a:solidFill>
            <a:srgbClr val="4A7C59"/>
          </a:solidFill>
          <a:ln w="12700">
            <a:solidFill>
              <a:srgbClr val="4A7C59"/>
            </a:solidFill>
            <a:prstDash val="solid"/>
          </a:ln>
        </p:spPr>
      </p:sp>
      <p:sp>
        <p:nvSpPr>
          <p:cNvPr id="12" name="Text 10"/>
          <p:cNvSpPr/>
          <p:nvPr/>
        </p:nvSpPr>
        <p:spPr>
          <a:xfrm>
            <a:off x="4983480" y="1463040"/>
            <a:ext cx="3950208" cy="237744"/>
          </a:xfrm>
          <a:prstGeom prst="rect">
            <a:avLst/>
          </a:prstGeom>
          <a:noFill/>
          <a:ln/>
        </p:spPr>
        <p:txBody>
          <a:bodyPr wrap="square" lIns="0" tIns="0" rIns="0" bIns="0" rtlCol="0" anchor="ctr"/>
          <a:lstStyle/>
          <a:p>
            <a:pPr marL="0" indent="0">
              <a:buNone/>
            </a:pPr>
            <a:r>
              <a:rPr lang="en-US" sz="1050" b="1" dirty="0">
                <a:solidFill>
                  <a:srgbClr val="4A7C59"/>
                </a:solidFill>
                <a:latin typeface="Trebuchet MS" pitchFamily="34" charset="0"/>
                <a:ea typeface="Trebuchet MS" pitchFamily="34" charset="-122"/>
                <a:cs typeface="Trebuchet MS" pitchFamily="34" charset="-120"/>
              </a:rPr>
              <a:t>Development Agencies</a:t>
            </a:r>
            <a:endParaRPr lang="en-US" sz="1050" dirty="0"/>
          </a:p>
        </p:txBody>
      </p:sp>
      <p:sp>
        <p:nvSpPr>
          <p:cNvPr id="13" name="Text 11"/>
          <p:cNvSpPr/>
          <p:nvPr/>
        </p:nvSpPr>
        <p:spPr>
          <a:xfrm>
            <a:off x="4983480" y="1719072"/>
            <a:ext cx="3950208" cy="731520"/>
          </a:xfrm>
          <a:prstGeom prst="rect">
            <a:avLst/>
          </a:prstGeom>
          <a:noFill/>
          <a:ln/>
        </p:spPr>
        <p:txBody>
          <a:bodyPr wrap="square" lIns="0" tIns="0" rIns="0" bIns="0" rtlCol="0" anchor="ctr"/>
          <a:lstStyle/>
          <a:p>
            <a:pPr marL="0" indent="0">
              <a:buNone/>
            </a:pPr>
            <a:r>
              <a:rPr lang="en-US" sz="950" dirty="0">
                <a:solidFill>
                  <a:srgbClr val="F5F0E8"/>
                </a:solidFill>
                <a:latin typeface="Calibri" pitchFamily="34" charset="0"/>
                <a:ea typeface="Calibri" pitchFamily="34" charset="-122"/>
                <a:cs typeface="Calibri" pitchFamily="34" charset="-120"/>
              </a:rPr>
              <a:t>Rwanda's emission intensity of 0.051 shows low-carbon growth is achievable. Agencies should fund the study and replication of Rwanda's clean energy and green infrastructure model across East, Central and West Africa</a:t>
            </a:r>
            <a:endParaRPr lang="en-US" sz="950" dirty="0"/>
          </a:p>
        </p:txBody>
      </p:sp>
      <p:sp>
        <p:nvSpPr>
          <p:cNvPr id="14" name="Shape 12"/>
          <p:cNvSpPr/>
          <p:nvPr/>
        </p:nvSpPr>
        <p:spPr>
          <a:xfrm>
            <a:off x="347472" y="2624328"/>
            <a:ext cx="4251960" cy="1115568"/>
          </a:xfrm>
          <a:prstGeom prst="rect">
            <a:avLst/>
          </a:prstGeom>
          <a:solidFill>
            <a:srgbClr val="2D2010"/>
          </a:solidFill>
          <a:ln w="15240">
            <a:solidFill>
              <a:srgbClr val="D4A017"/>
            </a:solidFill>
            <a:prstDash val="solid"/>
          </a:ln>
        </p:spPr>
      </p:sp>
      <p:sp>
        <p:nvSpPr>
          <p:cNvPr id="15" name="Shape 13"/>
          <p:cNvSpPr/>
          <p:nvPr/>
        </p:nvSpPr>
        <p:spPr>
          <a:xfrm>
            <a:off x="347472" y="2624328"/>
            <a:ext cx="91440" cy="1115568"/>
          </a:xfrm>
          <a:prstGeom prst="rect">
            <a:avLst/>
          </a:prstGeom>
          <a:solidFill>
            <a:srgbClr val="D4A017"/>
          </a:solidFill>
          <a:ln w="12700">
            <a:solidFill>
              <a:srgbClr val="D4A017"/>
            </a:solidFill>
            <a:prstDash val="solid"/>
          </a:ln>
        </p:spPr>
      </p:sp>
      <p:sp>
        <p:nvSpPr>
          <p:cNvPr id="16" name="Text 14"/>
          <p:cNvSpPr/>
          <p:nvPr/>
        </p:nvSpPr>
        <p:spPr>
          <a:xfrm>
            <a:off x="548640" y="2697480"/>
            <a:ext cx="3950208" cy="237744"/>
          </a:xfrm>
          <a:prstGeom prst="rect">
            <a:avLst/>
          </a:prstGeom>
          <a:noFill/>
          <a:ln/>
        </p:spPr>
        <p:txBody>
          <a:bodyPr wrap="square" lIns="0" tIns="0" rIns="0" bIns="0" rtlCol="0" anchor="ctr"/>
          <a:lstStyle/>
          <a:p>
            <a:pPr marL="0" indent="0">
              <a:buNone/>
            </a:pPr>
            <a:r>
              <a:rPr lang="en-US" sz="1050" b="1" dirty="0">
                <a:solidFill>
                  <a:srgbClr val="D4A017"/>
                </a:solidFill>
                <a:latin typeface="Trebuchet MS" pitchFamily="34" charset="0"/>
                <a:ea typeface="Trebuchet MS" pitchFamily="34" charset="-122"/>
                <a:cs typeface="Trebuchet MS" pitchFamily="34" charset="-120"/>
              </a:rPr>
              <a:t>Climate Financing Bodies</a:t>
            </a:r>
            <a:endParaRPr lang="en-US" sz="1050" dirty="0"/>
          </a:p>
        </p:txBody>
      </p:sp>
      <p:sp>
        <p:nvSpPr>
          <p:cNvPr id="17" name="Text 15"/>
          <p:cNvSpPr/>
          <p:nvPr/>
        </p:nvSpPr>
        <p:spPr>
          <a:xfrm>
            <a:off x="548640" y="2953512"/>
            <a:ext cx="3950208" cy="731520"/>
          </a:xfrm>
          <a:prstGeom prst="rect">
            <a:avLst/>
          </a:prstGeom>
          <a:noFill/>
          <a:ln/>
        </p:spPr>
        <p:txBody>
          <a:bodyPr wrap="square" lIns="0" tIns="0" rIns="0" bIns="0" rtlCol="0" anchor="ctr"/>
          <a:lstStyle/>
          <a:p>
            <a:pPr marL="0" indent="0">
              <a:buNone/>
            </a:pPr>
            <a:r>
              <a:rPr lang="en-US" sz="950" dirty="0">
                <a:solidFill>
                  <a:srgbClr val="F5F0E8"/>
                </a:solidFill>
                <a:latin typeface="Calibri" pitchFamily="34" charset="0"/>
                <a:ea typeface="Calibri" pitchFamily="34" charset="-122"/>
                <a:cs typeface="Calibri" pitchFamily="34" charset="-120"/>
              </a:rPr>
              <a:t>43 African countries are classified as high risk with rapidly growing emissions. The Green Climate Fund, World Bank and African Development Bank should establish dedicated financing windows specifically for these nations</a:t>
            </a:r>
            <a:endParaRPr lang="en-US" sz="950" dirty="0"/>
          </a:p>
        </p:txBody>
      </p:sp>
      <p:sp>
        <p:nvSpPr>
          <p:cNvPr id="18" name="Shape 16"/>
          <p:cNvSpPr/>
          <p:nvPr/>
        </p:nvSpPr>
        <p:spPr>
          <a:xfrm>
            <a:off x="4782312" y="2624328"/>
            <a:ext cx="4251960" cy="1115568"/>
          </a:xfrm>
          <a:prstGeom prst="rect">
            <a:avLst/>
          </a:prstGeom>
          <a:solidFill>
            <a:srgbClr val="2D2010"/>
          </a:solidFill>
          <a:ln w="15240">
            <a:solidFill>
              <a:srgbClr val="D4A017"/>
            </a:solidFill>
            <a:prstDash val="solid"/>
          </a:ln>
        </p:spPr>
        <p:txBody>
          <a:bodyPr/>
          <a:lstStyle/>
          <a:p>
            <a:endParaRPr lang="en-US"/>
          </a:p>
        </p:txBody>
      </p:sp>
      <p:sp>
        <p:nvSpPr>
          <p:cNvPr id="19" name="Shape 17"/>
          <p:cNvSpPr/>
          <p:nvPr/>
        </p:nvSpPr>
        <p:spPr>
          <a:xfrm>
            <a:off x="4782312" y="2624328"/>
            <a:ext cx="91440" cy="1115568"/>
          </a:xfrm>
          <a:prstGeom prst="rect">
            <a:avLst/>
          </a:prstGeom>
          <a:solidFill>
            <a:srgbClr val="2E86AB"/>
          </a:solidFill>
          <a:ln w="12700">
            <a:solidFill>
              <a:srgbClr val="2E86AB"/>
            </a:solidFill>
            <a:prstDash val="solid"/>
          </a:ln>
        </p:spPr>
      </p:sp>
      <p:sp>
        <p:nvSpPr>
          <p:cNvPr id="20" name="Text 18"/>
          <p:cNvSpPr/>
          <p:nvPr/>
        </p:nvSpPr>
        <p:spPr>
          <a:xfrm>
            <a:off x="4983480" y="2697480"/>
            <a:ext cx="3950208" cy="237744"/>
          </a:xfrm>
          <a:prstGeom prst="rect">
            <a:avLst/>
          </a:prstGeom>
          <a:noFill/>
          <a:ln/>
        </p:spPr>
        <p:txBody>
          <a:bodyPr wrap="square" lIns="0" tIns="0" rIns="0" bIns="0" rtlCol="0" anchor="ctr"/>
          <a:lstStyle/>
          <a:p>
            <a:pPr marL="0" indent="0">
              <a:buNone/>
            </a:pPr>
            <a:r>
              <a:rPr lang="en-US" sz="1050" b="1" dirty="0">
                <a:solidFill>
                  <a:srgbClr val="2E86AB"/>
                </a:solidFill>
                <a:latin typeface="Trebuchet MS" pitchFamily="34" charset="0"/>
                <a:ea typeface="Trebuchet MS" pitchFamily="34" charset="-122"/>
                <a:cs typeface="Trebuchet MS" pitchFamily="34" charset="-120"/>
              </a:rPr>
              <a:t>Educators and Researchers</a:t>
            </a:r>
            <a:endParaRPr lang="en-US" sz="1050" dirty="0"/>
          </a:p>
        </p:txBody>
      </p:sp>
      <p:sp>
        <p:nvSpPr>
          <p:cNvPr id="21" name="Text 19"/>
          <p:cNvSpPr/>
          <p:nvPr/>
        </p:nvSpPr>
        <p:spPr>
          <a:xfrm>
            <a:off x="4983480" y="2953512"/>
            <a:ext cx="3950208" cy="731520"/>
          </a:xfrm>
          <a:prstGeom prst="rect">
            <a:avLst/>
          </a:prstGeom>
          <a:noFill/>
          <a:ln/>
        </p:spPr>
        <p:txBody>
          <a:bodyPr wrap="square" lIns="0" tIns="0" rIns="0" bIns="0" rtlCol="0" anchor="ctr"/>
          <a:lstStyle/>
          <a:p>
            <a:r>
              <a:rPr lang="en-US" sz="1000" dirty="0">
                <a:solidFill>
                  <a:schemeClr val="bg1">
                    <a:lumMod val="85000"/>
                  </a:schemeClr>
                </a:solidFill>
              </a:rPr>
              <a:t>Future research should incorporate country-level sectoral data, energy mix variables and government climate policy indicators to build a more complete picture of what drives emission differences across African countries</a:t>
            </a:r>
            <a:endParaRPr lang="en-US" sz="950" dirty="0">
              <a:solidFill>
                <a:schemeClr val="bg1">
                  <a:lumMod val="85000"/>
                </a:schemeClr>
              </a:solidFill>
            </a:endParaRPr>
          </a:p>
        </p:txBody>
      </p:sp>
      <p:sp>
        <p:nvSpPr>
          <p:cNvPr id="22" name="Shape 20"/>
          <p:cNvSpPr/>
          <p:nvPr/>
        </p:nvSpPr>
        <p:spPr>
          <a:xfrm>
            <a:off x="347472" y="3858768"/>
            <a:ext cx="4251960" cy="1115568"/>
          </a:xfrm>
          <a:prstGeom prst="rect">
            <a:avLst/>
          </a:prstGeom>
          <a:solidFill>
            <a:srgbClr val="2D2010"/>
          </a:solidFill>
          <a:ln w="15240">
            <a:solidFill>
              <a:srgbClr val="D4A017"/>
            </a:solidFill>
            <a:prstDash val="solid"/>
          </a:ln>
        </p:spPr>
      </p:sp>
      <p:sp>
        <p:nvSpPr>
          <p:cNvPr id="23" name="Shape 21"/>
          <p:cNvSpPr/>
          <p:nvPr/>
        </p:nvSpPr>
        <p:spPr>
          <a:xfrm>
            <a:off x="347472" y="3858768"/>
            <a:ext cx="91440" cy="1115568"/>
          </a:xfrm>
          <a:prstGeom prst="rect">
            <a:avLst/>
          </a:prstGeom>
          <a:solidFill>
            <a:srgbClr val="4A7C59"/>
          </a:solidFill>
          <a:ln w="12700">
            <a:solidFill>
              <a:srgbClr val="4A7C59"/>
            </a:solidFill>
            <a:prstDash val="solid"/>
          </a:ln>
        </p:spPr>
      </p:sp>
      <p:sp>
        <p:nvSpPr>
          <p:cNvPr id="24" name="Text 22"/>
          <p:cNvSpPr/>
          <p:nvPr/>
        </p:nvSpPr>
        <p:spPr>
          <a:xfrm>
            <a:off x="548640" y="3931920"/>
            <a:ext cx="3950208" cy="237744"/>
          </a:xfrm>
          <a:prstGeom prst="rect">
            <a:avLst/>
          </a:prstGeom>
          <a:noFill/>
          <a:ln/>
        </p:spPr>
        <p:txBody>
          <a:bodyPr wrap="square" lIns="0" tIns="0" rIns="0" bIns="0" rtlCol="0" anchor="ctr"/>
          <a:lstStyle/>
          <a:p>
            <a:pPr marL="0" indent="0">
              <a:buNone/>
            </a:pPr>
            <a:r>
              <a:rPr lang="en-US" sz="1050" b="1" dirty="0">
                <a:solidFill>
                  <a:srgbClr val="4A7C59"/>
                </a:solidFill>
                <a:latin typeface="Trebuchet MS" pitchFamily="34" charset="0"/>
                <a:ea typeface="Trebuchet MS" pitchFamily="34" charset="-122"/>
                <a:cs typeface="Trebuchet MS" pitchFamily="34" charset="-120"/>
              </a:rPr>
              <a:t>Farmers, Pastoralists and Coastal Communities</a:t>
            </a:r>
            <a:endParaRPr lang="en-US" sz="1050" dirty="0"/>
          </a:p>
        </p:txBody>
      </p:sp>
      <p:sp>
        <p:nvSpPr>
          <p:cNvPr id="25" name="Text 23"/>
          <p:cNvSpPr/>
          <p:nvPr/>
        </p:nvSpPr>
        <p:spPr>
          <a:xfrm>
            <a:off x="548640" y="4187952"/>
            <a:ext cx="3950208" cy="731520"/>
          </a:xfrm>
          <a:prstGeom prst="rect">
            <a:avLst/>
          </a:prstGeom>
          <a:noFill/>
          <a:ln/>
        </p:spPr>
        <p:txBody>
          <a:bodyPr wrap="square" lIns="0" tIns="0" rIns="0" bIns="0" rtlCol="0" anchor="ctr"/>
          <a:lstStyle/>
          <a:p>
            <a:r>
              <a:rPr lang="en-US" sz="1000" dirty="0">
                <a:solidFill>
                  <a:schemeClr val="bg1">
                    <a:lumMod val="85000"/>
                  </a:schemeClr>
                </a:solidFill>
              </a:rPr>
              <a:t>These groups bear the highest cost of climate change despite contributing the least. Our data confirms Africa's top 10 emitters contribute only 3.27% of global CO2. Their vulnerability must be central to all climate policy decisions</a:t>
            </a:r>
            <a:endParaRPr lang="en-US" sz="950" dirty="0">
              <a:solidFill>
                <a:schemeClr val="bg1">
                  <a:lumMod val="85000"/>
                </a:schemeClr>
              </a:solidFill>
            </a:endParaRPr>
          </a:p>
        </p:txBody>
      </p:sp>
      <p:sp>
        <p:nvSpPr>
          <p:cNvPr id="26" name="Shape 24"/>
          <p:cNvSpPr/>
          <p:nvPr/>
        </p:nvSpPr>
        <p:spPr>
          <a:xfrm>
            <a:off x="4782312" y="3858768"/>
            <a:ext cx="4251960" cy="1115568"/>
          </a:xfrm>
          <a:prstGeom prst="rect">
            <a:avLst/>
          </a:prstGeom>
          <a:solidFill>
            <a:srgbClr val="2D2010"/>
          </a:solidFill>
          <a:ln w="15240">
            <a:solidFill>
              <a:srgbClr val="D4A017"/>
            </a:solidFill>
            <a:prstDash val="solid"/>
          </a:ln>
        </p:spPr>
      </p:sp>
      <p:sp>
        <p:nvSpPr>
          <p:cNvPr id="27" name="Shape 25"/>
          <p:cNvSpPr/>
          <p:nvPr/>
        </p:nvSpPr>
        <p:spPr>
          <a:xfrm>
            <a:off x="4782312" y="3858768"/>
            <a:ext cx="91440" cy="1115568"/>
          </a:xfrm>
          <a:prstGeom prst="rect">
            <a:avLst/>
          </a:prstGeom>
          <a:solidFill>
            <a:srgbClr val="D4A017"/>
          </a:solidFill>
          <a:ln w="12700">
            <a:solidFill>
              <a:srgbClr val="D4A017"/>
            </a:solidFill>
            <a:prstDash val="solid"/>
          </a:ln>
        </p:spPr>
      </p:sp>
      <p:sp>
        <p:nvSpPr>
          <p:cNvPr id="28" name="Text 26"/>
          <p:cNvSpPr/>
          <p:nvPr/>
        </p:nvSpPr>
        <p:spPr>
          <a:xfrm>
            <a:off x="4983480" y="3931920"/>
            <a:ext cx="3950208" cy="237744"/>
          </a:xfrm>
          <a:prstGeom prst="rect">
            <a:avLst/>
          </a:prstGeom>
          <a:noFill/>
          <a:ln/>
        </p:spPr>
        <p:txBody>
          <a:bodyPr wrap="square" lIns="0" tIns="0" rIns="0" bIns="0" rtlCol="0" anchor="ctr"/>
          <a:lstStyle/>
          <a:p>
            <a:pPr marL="0" indent="0">
              <a:buNone/>
            </a:pPr>
            <a:r>
              <a:rPr lang="en-US" sz="1050" b="1" dirty="0">
                <a:solidFill>
                  <a:srgbClr val="D4A017"/>
                </a:solidFill>
                <a:latin typeface="Trebuchet MS" pitchFamily="34" charset="0"/>
                <a:ea typeface="Trebuchet MS" pitchFamily="34" charset="-122"/>
                <a:cs typeface="Trebuchet MS" pitchFamily="34" charset="-120"/>
              </a:rPr>
              <a:t>All Stakeholders</a:t>
            </a:r>
            <a:endParaRPr lang="en-US" sz="1050" dirty="0"/>
          </a:p>
        </p:txBody>
      </p:sp>
      <p:sp>
        <p:nvSpPr>
          <p:cNvPr id="29" name="Text 27"/>
          <p:cNvSpPr/>
          <p:nvPr/>
        </p:nvSpPr>
        <p:spPr>
          <a:xfrm>
            <a:off x="4983480" y="4187952"/>
            <a:ext cx="3950208" cy="731520"/>
          </a:xfrm>
          <a:prstGeom prst="rect">
            <a:avLst/>
          </a:prstGeom>
          <a:noFill/>
          <a:ln/>
        </p:spPr>
        <p:txBody>
          <a:bodyPr wrap="square" lIns="0" tIns="0" rIns="0" bIns="0" rtlCol="0" anchor="ctr"/>
          <a:lstStyle/>
          <a:p>
            <a:pPr marL="0" indent="0">
              <a:buNone/>
            </a:pPr>
            <a:r>
              <a:rPr lang="en-US" sz="950" dirty="0">
                <a:solidFill>
                  <a:srgbClr val="F5F0E8"/>
                </a:solidFill>
                <a:latin typeface="Calibri" pitchFamily="34" charset="0"/>
                <a:ea typeface="Calibri" pitchFamily="34" charset="-122"/>
                <a:cs typeface="Calibri" pitchFamily="34" charset="-120"/>
              </a:rPr>
              <a:t>Build national carbon monitoring systems across all 52 African countries. Without reliable measurement, reporting and verification, climate financing cannot be effectively targeted or evaluated</a:t>
            </a:r>
            <a:endParaRPr lang="en-US" sz="950" dirty="0"/>
          </a:p>
        </p:txBody>
      </p:sp>
      <p:sp>
        <p:nvSpPr>
          <p:cNvPr id="30" name="Text 28"/>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20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4A017"/>
          </a:solidFill>
          <a:ln w="12700">
            <a:solidFill>
              <a:srgbClr val="D4A017"/>
            </a:solidFill>
            <a:prstDash val="solid"/>
          </a:ln>
        </p:spPr>
      </p:sp>
      <p:sp>
        <p:nvSpPr>
          <p:cNvPr id="3" name="Shape 1"/>
          <p:cNvSpPr/>
          <p:nvPr/>
        </p:nvSpPr>
        <p:spPr>
          <a:xfrm>
            <a:off x="8979408" y="0"/>
            <a:ext cx="164592" cy="5143500"/>
          </a:xfrm>
          <a:prstGeom prst="rect">
            <a:avLst/>
          </a:prstGeom>
          <a:solidFill>
            <a:srgbClr val="D4A017"/>
          </a:solidFill>
          <a:ln w="12700">
            <a:solidFill>
              <a:srgbClr val="D4A017"/>
            </a:solidFill>
            <a:prstDash val="solid"/>
          </a:ln>
        </p:spPr>
      </p:sp>
      <p:sp>
        <p:nvSpPr>
          <p:cNvPr id="4" name="Text 2"/>
          <p:cNvSpPr/>
          <p:nvPr/>
        </p:nvSpPr>
        <p:spPr>
          <a:xfrm>
            <a:off x="457200" y="594360"/>
            <a:ext cx="8229600" cy="822960"/>
          </a:xfrm>
          <a:prstGeom prst="rect">
            <a:avLst/>
          </a:prstGeom>
          <a:noFill/>
          <a:ln/>
        </p:spPr>
        <p:txBody>
          <a:bodyPr wrap="square" lIns="0" tIns="0" rIns="0" bIns="0" rtlCol="0" anchor="ctr"/>
          <a:lstStyle/>
          <a:p>
            <a:pPr marL="0" indent="0" algn="ctr">
              <a:buNone/>
            </a:pPr>
            <a:r>
              <a:rPr lang="en-US" sz="5800" b="1" kern="0" spc="800" dirty="0">
                <a:solidFill>
                  <a:srgbClr val="D4A017"/>
                </a:solidFill>
                <a:latin typeface="Trebuchet MS" pitchFamily="34" charset="0"/>
                <a:ea typeface="Trebuchet MS" pitchFamily="34" charset="-122"/>
                <a:cs typeface="Trebuchet MS" pitchFamily="34" charset="-120"/>
              </a:rPr>
              <a:t>THANK YOU</a:t>
            </a:r>
            <a:endParaRPr lang="en-US" sz="5800" dirty="0"/>
          </a:p>
        </p:txBody>
      </p:sp>
      <p:sp>
        <p:nvSpPr>
          <p:cNvPr id="5" name="Text 3"/>
          <p:cNvSpPr/>
          <p:nvPr/>
        </p:nvSpPr>
        <p:spPr>
          <a:xfrm>
            <a:off x="457200" y="1481328"/>
            <a:ext cx="8229600" cy="365760"/>
          </a:xfrm>
          <a:prstGeom prst="rect">
            <a:avLst/>
          </a:prstGeom>
          <a:noFill/>
          <a:ln/>
        </p:spPr>
        <p:txBody>
          <a:bodyPr wrap="square" lIns="0" tIns="0" rIns="0" bIns="0" rtlCol="0" anchor="ctr"/>
          <a:lstStyle/>
          <a:p>
            <a:pPr marL="0" indent="0" algn="ctr">
              <a:buNone/>
            </a:pPr>
            <a:r>
              <a:rPr lang="en-US" sz="1300" i="1" dirty="0">
                <a:solidFill>
                  <a:srgbClr val="F5F0E8"/>
                </a:solidFill>
                <a:latin typeface="Calibri" pitchFamily="34" charset="0"/>
                <a:ea typeface="Calibri" pitchFamily="34" charset="-122"/>
                <a:cs typeface="Calibri" pitchFamily="34" charset="-120"/>
              </a:rPr>
              <a:t>Carbon Dioxide Emissions and Economic Growth Across African Nations (2000 to 2023)</a:t>
            </a:r>
            <a:endParaRPr lang="en-US" sz="1300" dirty="0"/>
          </a:p>
        </p:txBody>
      </p:sp>
      <p:sp>
        <p:nvSpPr>
          <p:cNvPr id="6" name="Shape 4"/>
          <p:cNvSpPr/>
          <p:nvPr/>
        </p:nvSpPr>
        <p:spPr>
          <a:xfrm>
            <a:off x="1371600" y="1920240"/>
            <a:ext cx="6400800" cy="41148"/>
          </a:xfrm>
          <a:prstGeom prst="rect">
            <a:avLst/>
          </a:prstGeom>
          <a:solidFill>
            <a:srgbClr val="D4A017"/>
          </a:solidFill>
          <a:ln w="12700">
            <a:solidFill>
              <a:srgbClr val="D4A017"/>
            </a:solidFill>
            <a:prstDash val="solid"/>
          </a:ln>
        </p:spPr>
      </p:sp>
      <p:sp>
        <p:nvSpPr>
          <p:cNvPr id="7" name="Shape 5"/>
          <p:cNvSpPr/>
          <p:nvPr/>
        </p:nvSpPr>
        <p:spPr>
          <a:xfrm>
            <a:off x="731520" y="2029968"/>
            <a:ext cx="7680960" cy="749808"/>
          </a:xfrm>
          <a:prstGeom prst="rect">
            <a:avLst/>
          </a:prstGeom>
          <a:solidFill>
            <a:srgbClr val="2D2010"/>
          </a:solidFill>
          <a:ln w="15240">
            <a:solidFill>
              <a:srgbClr val="D4A017"/>
            </a:solidFill>
            <a:prstDash val="solid"/>
          </a:ln>
        </p:spPr>
      </p:sp>
      <p:sp>
        <p:nvSpPr>
          <p:cNvPr id="8" name="Text 6"/>
          <p:cNvSpPr/>
          <p:nvPr/>
        </p:nvSpPr>
        <p:spPr>
          <a:xfrm>
            <a:off x="896112" y="2103120"/>
            <a:ext cx="7351776" cy="603504"/>
          </a:xfrm>
          <a:prstGeom prst="rect">
            <a:avLst/>
          </a:prstGeom>
          <a:noFill/>
          <a:ln/>
        </p:spPr>
        <p:txBody>
          <a:bodyPr wrap="square" lIns="0" tIns="0" rIns="0" bIns="0" rtlCol="0" anchor="ctr"/>
          <a:lstStyle/>
          <a:p>
            <a:pPr marL="0" indent="0" algn="ctr">
              <a:buNone/>
            </a:pPr>
            <a:r>
              <a:rPr lang="en-US" sz="1400" b="1" i="1" dirty="0">
                <a:solidFill>
                  <a:srgbClr val="D4A017"/>
                </a:solidFill>
                <a:latin typeface="Trebuchet MS" pitchFamily="34" charset="0"/>
                <a:ea typeface="Trebuchet MS" pitchFamily="34" charset="-122"/>
                <a:cs typeface="Trebuchet MS" pitchFamily="34" charset="-120"/>
              </a:rPr>
              <a:t>The data is clear. Africa deserves both the freedom to develop economically and the financial support to do so cleanly.</a:t>
            </a:r>
            <a:endParaRPr lang="en-US" sz="1400" dirty="0"/>
          </a:p>
        </p:txBody>
      </p:sp>
      <p:sp>
        <p:nvSpPr>
          <p:cNvPr id="9" name="Text 7"/>
          <p:cNvSpPr/>
          <p:nvPr/>
        </p:nvSpPr>
        <p:spPr>
          <a:xfrm>
            <a:off x="457200" y="2907792"/>
            <a:ext cx="8229600" cy="384048"/>
          </a:xfrm>
          <a:prstGeom prst="rect">
            <a:avLst/>
          </a:prstGeom>
          <a:noFill/>
          <a:ln/>
        </p:spPr>
        <p:txBody>
          <a:bodyPr wrap="square" lIns="0" tIns="0" rIns="0" bIns="0" rtlCol="0" anchor="ctr"/>
          <a:lstStyle/>
          <a:p>
            <a:pPr marL="0" indent="0" algn="ctr">
              <a:buNone/>
            </a:pPr>
            <a:r>
              <a:rPr lang="en-US" sz="2000" b="1" dirty="0">
                <a:solidFill>
                  <a:srgbClr val="F5F0E8"/>
                </a:solidFill>
                <a:latin typeface="Trebuchet MS" pitchFamily="34" charset="0"/>
                <a:ea typeface="Trebuchet MS" pitchFamily="34" charset="-122"/>
                <a:cs typeface="Trebuchet MS" pitchFamily="34" charset="-120"/>
              </a:rPr>
              <a:t>Questions and Answers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111</TotalTime>
  <Words>2118</Words>
  <Application>Microsoft Office PowerPoint</Application>
  <PresentationFormat>On-screen Show (16:9)</PresentationFormat>
  <Paragraphs>312</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Carbon Dioxide Emissions and Economic Growth Across African Nations</dc:title>
  <dc:subject>PptxGenJS Presentation</dc:subject>
  <dc:creator>PptxGenJS</dc:creator>
  <cp:lastModifiedBy>Mariam Gbadegesin</cp:lastModifiedBy>
  <cp:revision>5</cp:revision>
  <dcterms:created xsi:type="dcterms:W3CDTF">2026-06-09T10:31:44Z</dcterms:created>
  <dcterms:modified xsi:type="dcterms:W3CDTF">2026-06-09T13:03:07Z</dcterms:modified>
</cp:coreProperties>
</file>